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4d81707-862b-126d-e9c7-f6783de64c0a}">
          <p14:sldIdLst>
            <p14:sldId id="256"/>
            <p14:sldId id="257"/>
            <p14:sldId id="258"/>
          </p14:sldIdLst>
        </p14:section>
        <p14:section name="Evidence" id="{cef6550d-f6b9-adcb-d1d5-0268788250c3}">
          <p14:sldIdLst>
            <p14:sldId id="259"/>
            <p14:sldId id="260"/>
          </p14:sldIdLst>
        </p14:section>
        <p14:section name="Value" id="{a4da9e89-2ef9-8cff-a232-505eb71b89e1}">
          <p14:sldIdLst>
            <p14:sldId id="261"/>
            <p14:sldId id="262"/>
          </p14:sldIdLst>
        </p14:section>
        <p14:section name="Close" id="{3429c88f-02b5-10ec-d6d9-02a8443e999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Framed value isn't committed value. Today's work stops at Frame on purpose: the numbers are illustrative and the improvement assumption belongs to the opportunity owner. Commit means signing off KPI definitions and values together; Realize means tracking the KPI against the baseline on a fixed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These are associations, not proven causes: they don't control for deal size, discount, region or rep.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view first, then one deep-dive. Full-gap values are illustrative and gross; the overlap counts are real and show why the total can't simply be added. Owners are proposed, not committed. Committed stays TBD until the owner and Finance sign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 The chain multiplies to the displayed value using unrounded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run a controlled pilot only after the causes are confirmed, then measure against a frozen baseline with Finance sign-off.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/dashboard.html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Simulated value case with a working Salesforce extraction pipeline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Illustrative annual upside: $1.4M at 50% capture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Gross scenario across three overlapping opportunities, before deduplication. Full gap: $2.8M.</a:t>
            </a:r>
            <a:endParaRPr lang="en-US" sz="1600" dirty="0"/>
          </a:p>
        </p:txBody>
      </p:sp>
      <p:sp>
        <p:nvSpPr>
          <p:cNvPr id="5" name="Data note"/>
          <p:cNvSpPr/>
          <p:nvPr/>
        </p:nvSpPr>
        <p:spPr>
          <a:xfrm>
            <a:off x="548640" y="3657600"/>
            <a:ext cx="5120640" cy="1143000"/>
          </a:xfrm>
          <a:prstGeom prst="roundRect">
            <a:avLst>
              <a:gd name="adj" fmla="val 9600"/>
            </a:avLst>
          </a:prstGeom>
          <a:solidFill>
            <a:schemeClr val="accent3"/>
          </a:solidFill>
          <a:ln/>
        </p:spPr>
      </p:sp>
      <p:sp>
        <p:nvSpPr>
          <p:cNvPr id="6" name="Headline basis"/>
          <p:cNvSpPr txBox="1"/>
          <p:nvPr/>
        </p:nvSpPr>
        <p:spPr>
          <a:xfrm>
            <a:off x="731520" y="373075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Illustrative: 800 simulated opportunities in Salesforce's object shape (10.4 months). The same pipeline runs live on 40 seeded opportunities in a Salesforce trial org.</a:t>
            </a:r>
            <a:endParaRPr lang="en-US" sz="1300" dirty="0"/>
          </a:p>
        </p:txBody>
      </p:sp>
      <p:sp>
        <p:nvSpPr>
          <p:cNvPr id="7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8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10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1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2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4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5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8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9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0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1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2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3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4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5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6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7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8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9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30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1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2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3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match the winning trace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Approach: from finding value to realising it</a:t>
            </a:r>
            <a:endParaRPr lang="en-US" sz="3000" dirty="0"/>
          </a:p>
        </p:txBody>
      </p:sp>
      <p:sp>
        <p:nvSpPr>
          <p:cNvPr id="3" name="Stage 1 card"/>
          <p:cNvSpPr/>
          <p:nvPr/>
        </p:nvSpPr>
        <p:spPr>
          <a:xfrm>
            <a:off x="54864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Stage 1 marker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age 1 number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age 1 title"/>
          <p:cNvSpPr txBox="1"/>
          <p:nvPr/>
        </p:nvSpPr>
        <p:spPr>
          <a:xfrm>
            <a:off x="77724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Identify</a:t>
            </a:r>
            <a:endParaRPr lang="en-US" sz="2200" dirty="0"/>
          </a:p>
        </p:txBody>
      </p:sp>
      <p:sp>
        <p:nvSpPr>
          <p:cNvPr id="7" name="Stage 1 body"/>
          <p:cNvSpPr txBox="1"/>
          <p:nvPr/>
        </p:nvSpPr>
        <p:spPr>
          <a:xfrm>
            <a:off x="77724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Mine the CRM event log: process map, variants and bottlenecks.</a:t>
            </a:r>
            <a:endParaRPr lang="en-US" sz="1400" dirty="0"/>
          </a:p>
        </p:txBody>
      </p:sp>
      <p:sp>
        <p:nvSpPr>
          <p:cNvPr id="8" name="Stage 1 output"/>
          <p:cNvSpPr txBox="1"/>
          <p:nvPr/>
        </p:nvSpPr>
        <p:spPr>
          <a:xfrm>
            <a:off x="77724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 opportunities found</a:t>
            </a:r>
            <a:endParaRPr lang="en-US" sz="1300" dirty="0"/>
          </a:p>
        </p:txBody>
      </p:sp>
      <p:sp>
        <p:nvSpPr>
          <p:cNvPr id="9" name="Stage 1 arrow"/>
          <p:cNvSpPr/>
          <p:nvPr/>
        </p:nvSpPr>
        <p:spPr>
          <a:xfrm>
            <a:off x="318211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age 2 card"/>
          <p:cNvSpPr/>
          <p:nvPr/>
        </p:nvSpPr>
        <p:spPr>
          <a:xfrm>
            <a:off x="338328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1" name="Stage 2 marker"/>
          <p:cNvSpPr/>
          <p:nvPr/>
        </p:nvSpPr>
        <p:spPr>
          <a:xfrm>
            <a:off x="361188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age 2 number"/>
          <p:cNvSpPr txBox="1"/>
          <p:nvPr/>
        </p:nvSpPr>
        <p:spPr>
          <a:xfrm>
            <a:off x="36118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Stage 2 title"/>
          <p:cNvSpPr txBox="1"/>
          <p:nvPr/>
        </p:nvSpPr>
        <p:spPr>
          <a:xfrm>
            <a:off x="361188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Frame</a:t>
            </a:r>
            <a:endParaRPr lang="en-US" sz="2200" dirty="0"/>
          </a:p>
        </p:txBody>
      </p:sp>
      <p:sp>
        <p:nvSpPr>
          <p:cNvPr id="14" name="Stage 2 body"/>
          <p:cNvSpPr txBox="1"/>
          <p:nvPr/>
        </p:nvSpPr>
        <p:spPr>
          <a:xfrm>
            <a:off x="361188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Size each opportunity from its KPI baseline and illustrative assumptions to validate with process owners.</a:t>
            </a:r>
            <a:endParaRPr lang="en-US" sz="1400" dirty="0"/>
          </a:p>
        </p:txBody>
      </p:sp>
      <p:sp>
        <p:nvSpPr>
          <p:cNvPr id="15" name="Stage 2 output"/>
          <p:cNvSpPr txBox="1"/>
          <p:nvPr/>
        </p:nvSpPr>
        <p:spPr>
          <a:xfrm>
            <a:off x="361188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$2.8M gross scenario</a:t>
            </a:r>
            <a:endParaRPr lang="en-US" sz="1300" dirty="0"/>
          </a:p>
        </p:txBody>
      </p:sp>
      <p:sp>
        <p:nvSpPr>
          <p:cNvPr id="16" name="Stage 2 arrow"/>
          <p:cNvSpPr/>
          <p:nvPr/>
        </p:nvSpPr>
        <p:spPr>
          <a:xfrm>
            <a:off x="601675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age 3 card"/>
          <p:cNvSpPr/>
          <p:nvPr/>
        </p:nvSpPr>
        <p:spPr>
          <a:xfrm>
            <a:off x="621792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8" name="Stage 3 marker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Stage 3 number"/>
          <p:cNvSpPr txBox="1"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Stage 3 title"/>
          <p:cNvSpPr txBox="1"/>
          <p:nvPr/>
        </p:nvSpPr>
        <p:spPr>
          <a:xfrm>
            <a:off x="644652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Commit</a:t>
            </a:r>
            <a:endParaRPr lang="en-US" sz="2200" dirty="0"/>
          </a:p>
        </p:txBody>
      </p:sp>
      <p:sp>
        <p:nvSpPr>
          <p:cNvPr id="21" name="Stage 3 body"/>
          <p:cNvSpPr txBox="1"/>
          <p:nvPr/>
        </p:nvSpPr>
        <p:spPr>
          <a:xfrm>
            <a:off x="644652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Validate KPI definitions and values with each opportunity owner.</a:t>
            </a:r>
            <a:endParaRPr lang="en-US" sz="1400" dirty="0"/>
          </a:p>
        </p:txBody>
      </p:sp>
      <p:sp>
        <p:nvSpPr>
          <p:cNvPr id="22" name="Stage 3 output"/>
          <p:cNvSpPr txBox="1"/>
          <p:nvPr/>
        </p:nvSpPr>
        <p:spPr>
          <a:xfrm>
            <a:off x="644652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Signed-off committed value</a:t>
            </a:r>
            <a:endParaRPr lang="en-US" sz="1300" dirty="0"/>
          </a:p>
        </p:txBody>
      </p:sp>
      <p:sp>
        <p:nvSpPr>
          <p:cNvPr id="23" name="Stage 3 arrow"/>
          <p:cNvSpPr/>
          <p:nvPr/>
        </p:nvSpPr>
        <p:spPr>
          <a:xfrm>
            <a:off x="8851392" y="3154680"/>
            <a:ext cx="173736" cy="310896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age 4 card"/>
          <p:cNvSpPr/>
          <p:nvPr/>
        </p:nvSpPr>
        <p:spPr>
          <a:xfrm>
            <a:off x="9052560" y="1691640"/>
            <a:ext cx="2606040" cy="32461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5" name="Stage 4 marker"/>
          <p:cNvSpPr/>
          <p:nvPr/>
        </p:nvSpPr>
        <p:spPr>
          <a:xfrm>
            <a:off x="9281160" y="19202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Stage 4 number"/>
          <p:cNvSpPr txBox="1"/>
          <p:nvPr/>
        </p:nvSpPr>
        <p:spPr>
          <a:xfrm>
            <a:off x="92811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Stage 4 title"/>
          <p:cNvSpPr txBox="1"/>
          <p:nvPr/>
        </p:nvSpPr>
        <p:spPr>
          <a:xfrm>
            <a:off x="9281160" y="25603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Realize</a:t>
            </a:r>
            <a:endParaRPr lang="en-US" sz="2200" dirty="0"/>
          </a:p>
        </p:txBody>
      </p:sp>
      <p:sp>
        <p:nvSpPr>
          <p:cNvPr id="28" name="Stage 4 body"/>
          <p:cNvSpPr txBox="1"/>
          <p:nvPr/>
        </p:nvSpPr>
        <p:spPr>
          <a:xfrm>
            <a:off x="9281160" y="306324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Act on the root cause, then track the KPI against its baseline.</a:t>
            </a:r>
            <a:endParaRPr lang="en-US" sz="1400" dirty="0"/>
          </a:p>
        </p:txBody>
      </p:sp>
      <p:sp>
        <p:nvSpPr>
          <p:cNvPr id="29" name="Stage 4 output"/>
          <p:cNvSpPr txBox="1"/>
          <p:nvPr/>
        </p:nvSpPr>
        <p:spPr>
          <a:xfrm>
            <a:off x="9281160" y="42519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Output: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Value realised, reported quarterly</a:t>
            </a:r>
            <a:endParaRPr lang="en-US" sz="1300" dirty="0"/>
          </a:p>
        </p:txBody>
      </p:sp>
      <p:sp>
        <p:nvSpPr>
          <p:cNvPr id="30" name="Today pill"/>
          <p:cNvSpPr/>
          <p:nvPr/>
        </p:nvSpPr>
        <p:spPr>
          <a:xfrm>
            <a:off x="4160520" y="1261872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Today label"/>
          <p:cNvSpPr txBox="1"/>
          <p:nvPr/>
        </p:nvSpPr>
        <p:spPr>
          <a:xfrm>
            <a:off x="4160520" y="1261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Today</a:t>
            </a:r>
            <a:endParaRPr lang="en-US" sz="1300" dirty="0"/>
          </a:p>
        </p:txBody>
      </p:sp>
      <p:sp>
        <p:nvSpPr>
          <p:cNvPr id="32" name="Approach note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This demo covers Identify and Frame on Salesforce data. Commit and Realize run with the customer's process owners.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paths in the simulated event log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371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match the selected winning trace (38% of won deals)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560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3749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3749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489204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winning trace.</a:t>
            </a:r>
            <a:endParaRPr lang="en-US" sz="1400" dirty="0"/>
          </a:p>
        </p:txBody>
      </p:sp>
      <p:sp>
        <p:nvSpPr>
          <p:cNvPr id="10" name="Dashboard link"/>
          <p:cNvSpPr/>
          <p:nvPr/>
        </p:nvSpPr>
        <p:spPr>
          <a:xfrm>
            <a:off x="548640" y="5486400"/>
            <a:ext cx="6309360" cy="54864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9050">
            <a:solidFill>
              <a:schemeClr val="accent1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00000"/>
                </a:solidFill>
                <a:hlinkClick r:id="rId1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process map  →</a:t>
            </a:r>
            <a:endParaRPr lang="en-US" sz="1400" dirty="0"/>
          </a:p>
        </p:txBody>
      </p:sp>
      <p:sp>
        <p:nvSpPr>
          <p:cNvPr id="11" name="Map frame"/>
          <p:cNvSpPr/>
          <p:nvPr/>
        </p:nvSpPr>
        <p:spPr>
          <a:xfrm>
            <a:off x="7223760" y="1280160"/>
            <a:ext cx="4434840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Process map" descr="Approval and re-quote section of the process 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34340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patterns associated with lower win rates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approvals take 5.8 days longer than the fastest region (103 EMEA approvals).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Re-quoted deals win 18 points less often (n = 124 re-quoted vs 521 clean).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Deals that skip Qualification win 21 points less often (n = 99 vs 701).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case overview: three opportunities, one deep-dive</a:t>
            </a:r>
            <a:endParaRPr lang="en-US" sz="3000" dirty="0"/>
          </a:p>
        </p:txBody>
      </p:sp>
      <p:graphicFrame>
        <p:nvGraphicFramePr>
          <p:cNvPr id="7" name="Business ca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697480"/>
                <a:gridCol w="1737360"/>
                <a:gridCol w="1188720"/>
                <a:gridCol w="1097280"/>
                <a:gridCol w="1325880"/>
                <a:gridCol w="1143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Opportunity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Proposed owner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Time to value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Full gap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Committed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Realized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Accelerate revenue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 EMEA discount approvals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Deal desk lead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$213k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Improve win rate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  Re-quotes (deep-dive)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VP Revenue Ops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$1.33M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productivity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 Skipped qualification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Sales operations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$1.29M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 (gross)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$2.84M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TBD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3730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Full gap = illustrative scenario from simulated Salesforce data. Committed is agreed with each owner after validation; realized is tracked against a frozen baseline.</a:t>
            </a:r>
            <a:endParaRPr lang="en-US" sz="1200" dirty="0"/>
          </a:p>
        </p:txBody>
      </p:sp>
      <p:sp>
        <p:nvSpPr>
          <p:cNvPr id="5" name="Overlap card"/>
          <p:cNvSpPr/>
          <p:nvPr/>
        </p:nvSpPr>
        <p:spPr>
          <a:xfrm>
            <a:off x="548640" y="4206240"/>
            <a:ext cx="548640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6" name="Overlap text"/>
          <p:cNvSpPr txBox="1"/>
          <p:nvPr/>
        </p:nvSpPr>
        <p:spPr>
          <a:xfrm>
            <a:off x="777240" y="4315968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Opportunities overlap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 deals are both re-quoted and unqualified, 7 re-quoted with slow approvals, 5 unqualified with slow approvals.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So the total is gross: incremental wins must be counted once per opportunity before anything is committed.</a:t>
            </a:r>
            <a:endParaRPr lang="en-US" sz="1400" dirty="0"/>
          </a:p>
        </p:txBody>
      </p:sp>
      <p:sp>
        <p:nvSpPr>
          <p:cNvPr id="7" name="Checklist heading"/>
          <p:cNvSpPr txBox="1"/>
          <p:nvPr/>
        </p:nvSpPr>
        <p:spPr>
          <a:xfrm>
            <a:off x="6355080" y="4206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Before value is committed</a:t>
            </a:r>
            <a:endParaRPr lang="en-US" sz="1400" dirty="0"/>
          </a:p>
        </p:txBody>
      </p:sp>
      <p:sp>
        <p:nvSpPr>
          <p:cNvPr id="8" name="Check 1 box"/>
          <p:cNvSpPr/>
          <p:nvPr/>
        </p:nvSpPr>
        <p:spPr>
          <a:xfrm>
            <a:off x="6355080" y="464515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Check 1 text"/>
          <p:cNvSpPr txBox="1"/>
          <p:nvPr/>
        </p:nvSpPr>
        <p:spPr>
          <a:xfrm>
            <a:off x="6693408" y="459028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Deduplicate overlapping deals across opportunities</a:t>
            </a:r>
            <a:endParaRPr lang="en-US" sz="1400" dirty="0"/>
          </a:p>
        </p:txBody>
      </p:sp>
      <p:sp>
        <p:nvSpPr>
          <p:cNvPr id="10" name="Check 2 box"/>
          <p:cNvSpPr/>
          <p:nvPr/>
        </p:nvSpPr>
        <p:spPr>
          <a:xfrm>
            <a:off x="6355080" y="5038344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Check 2 text"/>
          <p:cNvSpPr txBox="1"/>
          <p:nvPr/>
        </p:nvSpPr>
        <p:spPr>
          <a:xfrm>
            <a:off x="6693408" y="4983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Agree cohort, period and Amount basis</a:t>
            </a:r>
            <a:endParaRPr lang="en-US" sz="1400" dirty="0"/>
          </a:p>
        </p:txBody>
      </p:sp>
      <p:sp>
        <p:nvSpPr>
          <p:cNvPr id="12" name="Check 3 box"/>
          <p:cNvSpPr/>
          <p:nvPr/>
        </p:nvSpPr>
        <p:spPr>
          <a:xfrm>
            <a:off x="6355080" y="5431536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Check 3 text"/>
          <p:cNvSpPr txBox="1"/>
          <p:nvPr/>
        </p:nvSpPr>
        <p:spPr>
          <a:xfrm>
            <a:off x="6693408" y="537667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 signs off KPI definition and improvement assumption</a:t>
            </a:r>
            <a:endParaRPr lang="en-US" sz="1400" dirty="0"/>
          </a:p>
        </p:txBody>
      </p:sp>
      <p:sp>
        <p:nvSpPr>
          <p:cNvPr id="14" name="Check 4 box"/>
          <p:cNvSpPr/>
          <p:nvPr/>
        </p:nvSpPr>
        <p:spPr>
          <a:xfrm>
            <a:off x="6355080" y="5824728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Check 4 text"/>
          <p:cNvSpPr txBox="1"/>
          <p:nvPr/>
        </p:nvSpPr>
        <p:spPr>
          <a:xfrm>
            <a:off x="6693408" y="5769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Finance signs off the value formula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Deals that reached Negotiate   ·   Proposed owner: VP Revenue Operations   ·   Simulated data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747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 whether approval delay causes expiry and re-quotes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process intelligence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pilot before any policy change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747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Share re-quoted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19.2%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$53.1k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Scenario capture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$667k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modelled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simulated data, annualised over the 10.4-month event window (illustrative run rate); Amount = opportunity bookings; win-rate gap is an association among deals that reached Negotiate; 50% capture is a scenario. Tracking: share re-quoted vs a frozen baseline of 19.2%, win rate vs a comparison group; Finance validates realized revenue.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423160"/>
          </a:xfrm>
          <a:prstGeom prst="roundRect">
            <a:avLst>
              <a:gd name="adj" fmla="val 4528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extract on the production org; confirm cohorts, causes and overlap.</a:t>
            </a:r>
            <a:endParaRPr lang="en-US" sz="1600" dirty="0"/>
          </a:p>
        </p:txBody>
      </p:sp>
      <p:sp>
        <p:nvSpPr>
          <p:cNvPr id="7" name="Next 1 owner"/>
          <p:cNvSpPr txBox="1"/>
          <p:nvPr/>
        </p:nvSpPr>
        <p:spPr>
          <a:xfrm>
            <a:off x="1005840" y="36576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RevOps + SE · weeks 1–2</a:t>
            </a:r>
            <a:endParaRPr lang="en-US" sz="1200" dirty="0"/>
          </a:p>
        </p:txBody>
      </p:sp>
      <p:sp>
        <p:nvSpPr>
          <p:cNvPr id="8" name="Next 2 card"/>
          <p:cNvSpPr/>
          <p:nvPr/>
        </p:nvSpPr>
        <p:spPr>
          <a:xfrm>
            <a:off x="4343400" y="1828800"/>
            <a:ext cx="3337560" cy="2423160"/>
          </a:xfrm>
          <a:prstGeom prst="roundRect">
            <a:avLst>
              <a:gd name="adj" fmla="val 4528"/>
            </a:avLst>
          </a:prstGeom>
          <a:solidFill>
            <a:schemeClr val="accent6"/>
          </a:solidFill>
          <a:ln/>
        </p:spPr>
      </p:sp>
      <p:sp>
        <p:nvSpPr>
          <p:cNvPr id="9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Pilot</a:t>
            </a:r>
            <a:endParaRPr lang="en-US" sz="2200" dirty="0"/>
          </a:p>
        </p:txBody>
      </p:sp>
      <p:sp>
        <p:nvSpPr>
          <p:cNvPr id="10" name="Next 2 body"/>
          <p:cNvSpPr txBox="1"/>
          <p:nvPr/>
        </p:nvSpPr>
        <p:spPr>
          <a:xfrm>
            <a:off x="4617720" y="26974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Agree a controlled pilot with RevOps and Finance once re-quote causes are validated.</a:t>
            </a:r>
            <a:endParaRPr lang="en-US" sz="1600" dirty="0"/>
          </a:p>
        </p:txBody>
      </p:sp>
      <p:sp>
        <p:nvSpPr>
          <p:cNvPr id="11" name="Next 2 owner"/>
          <p:cNvSpPr txBox="1"/>
          <p:nvPr/>
        </p:nvSpPr>
        <p:spPr>
          <a:xfrm>
            <a:off x="4617720" y="36576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RevOps + Finance · weeks 3–8</a:t>
            </a:r>
            <a:endParaRPr lang="en-US" sz="1200" dirty="0"/>
          </a:p>
        </p:txBody>
      </p:sp>
      <p:sp>
        <p:nvSpPr>
          <p:cNvPr id="12" name="Next 3 card"/>
          <p:cNvSpPr/>
          <p:nvPr/>
        </p:nvSpPr>
        <p:spPr>
          <a:xfrm>
            <a:off x="7955280" y="1828800"/>
            <a:ext cx="3337560" cy="2423160"/>
          </a:xfrm>
          <a:prstGeom prst="roundRect">
            <a:avLst>
              <a:gd name="adj" fmla="val 4528"/>
            </a:avLst>
          </a:prstGeom>
          <a:solidFill>
            <a:schemeClr val="accent6"/>
          </a:solidFill>
          <a:ln/>
        </p:spPr>
      </p:sp>
      <p:sp>
        <p:nvSpPr>
          <p:cNvPr id="13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Measure</a:t>
            </a:r>
            <a:endParaRPr lang="en-US" sz="2200" dirty="0"/>
          </a:p>
        </p:txBody>
      </p:sp>
      <p:sp>
        <p:nvSpPr>
          <p:cNvPr id="14" name="Next 3 body"/>
          <p:cNvSpPr txBox="1"/>
          <p:nvPr/>
        </p:nvSpPr>
        <p:spPr>
          <a:xfrm>
            <a:off x="8229600" y="26974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Track share re-quoted and win rate against a frozen baseline and a comparison group.</a:t>
            </a:r>
            <a:endParaRPr lang="en-US" sz="1600" dirty="0"/>
          </a:p>
        </p:txBody>
      </p:sp>
      <p:sp>
        <p:nvSpPr>
          <p:cNvPr id="15" name="Next 3 owner"/>
          <p:cNvSpPr txBox="1"/>
          <p:nvPr/>
        </p:nvSpPr>
        <p:spPr>
          <a:xfrm>
            <a:off x="8229600" y="36576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Finance · monthly, signed off quarterly</a:t>
            </a:r>
            <a:endParaRPr lang="en-US" sz="1200" dirty="0"/>
          </a:p>
        </p:txBody>
      </p:sp>
      <p:sp>
        <p:nvSpPr>
          <p:cNvPr id="16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2026-10-14T19:52:17Z</dcterms:created>
  <dcterms:modified xsi:type="dcterms:W3CDTF">2026-10-14T19:52:17Z</dcterms:modified>
</cp:coreProperties>
</file>