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805174c-0229-0f1b-e826-91d80d34e528}">
          <p14:sldIdLst>
            <p14:sldId id="256"/>
            <p14:sldId id="257"/>
          </p14:sldIdLst>
        </p14:section>
        <p14:section name="Evidence" id="{9ef25b4b-9ee7-d7b3-ef9a-49cf16364c4c}">
          <p14:sldIdLst>
            <p14:sldId id="258"/>
            <p14:sldId id="259"/>
          </p14:sldIdLst>
        </p14:section>
        <p14:section name="Value" id="{c6365106-2ab8-5c23-76b4-2b329aa871da}">
          <p14:sldIdLst>
            <p14:sldId id="260"/>
          </p14:sldIdLst>
        </p14:section>
        <p14:section name="Tech setup" id="{e50cd908-5653-644e-7159-4db781577120}">
          <p14:sldIdLst>
            <p14:sldId id="261"/>
            <p14:sldId id="262"/>
            <p14:sldId id="263"/>
            <p14:sldId id="264"/>
            <p14:sldId id="265"/>
          </p14:sldIdLst>
        </p14:section>
        <p14:section name="Close" id="{98250bfe-6674-2e8d-5467-4f149f44f630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technical audience: the pipeline, the data model, and what it took to run it against a brand-new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Opportunity is the case. Trial orgs can't backdate history, so the 10-month dataset is simulated in the exact Salesforce shape; the extractor runs unchanged against the live org, as the band at the bottom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Opportunity is the case notion. Leads join through the converted opportunity, tasks through WhatId. History tables write a row on any field change, so the transform keeps only real stage transitions.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things that would trip up a customer's first technical session; each one is solved in the repo and written up in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value-case.html" TargetMode="External"/><Relationship Id="rId3" Type="http://schemas.openxmlformats.org/officeDocument/2006/relationships/hyperlink" Target="https://salesforce-process-intelligence.vercel.app/live.html" TargetMode="External"/><Relationship Id="rId4" Type="http://schemas.openxmlformats.org/officeDocument/2006/relationships/hyperlink" Target="https://github.com/ch-lukas/salesforce-process-intelligence" TargetMode="External"/><Relationship Id="rId5" Type="http://schemas.openxmlformats.org/officeDocument/2006/relationships/image" Target="../media/image-10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508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4343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5715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rocess map" descr="Process map from the hosted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How the data gets from a Salesforce org into an Apromore-ready event log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From Salesforce to an event log in four steps</a:t>
            </a:r>
            <a:endParaRPr lang="en-US" sz="3000" dirty="0"/>
          </a:p>
        </p:txBody>
      </p:sp>
      <p:sp>
        <p:nvSpPr>
          <p:cNvPr id="3" name="Step 1 card"/>
          <p:cNvSpPr/>
          <p:nvPr/>
        </p:nvSpPr>
        <p:spPr>
          <a:xfrm>
            <a:off x="548640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Step 1 marker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ep 1 number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tep 1 label"/>
          <p:cNvSpPr txBox="1"/>
          <p:nvPr/>
        </p:nvSpPr>
        <p:spPr>
          <a:xfrm>
            <a:off x="777240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Extract</a:t>
            </a:r>
            <a:endParaRPr lang="en-US" sz="1200" dirty="0"/>
          </a:p>
        </p:txBody>
      </p:sp>
      <p:sp>
        <p:nvSpPr>
          <p:cNvPr id="7" name="Step 1 title"/>
          <p:cNvSpPr txBox="1"/>
          <p:nvPr/>
        </p:nvSpPr>
        <p:spPr>
          <a:xfrm>
            <a:off x="77724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SOQL over REST</a:t>
            </a:r>
            <a:endParaRPr lang="en-US" sz="1800" dirty="0"/>
          </a:p>
        </p:txBody>
      </p:sp>
      <p:sp>
        <p:nvSpPr>
          <p:cNvPr id="8" name="Step 1 body"/>
          <p:cNvSpPr txBox="1"/>
          <p:nvPr/>
        </p:nvSpPr>
        <p:spPr>
          <a:xfrm>
            <a:off x="777240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Lead, Opportunity, OpportunityHistory and Task, signed by the Salesforce CLI session. No stored credentials.</a:t>
            </a:r>
            <a:endParaRPr lang="en-US" sz="1400" dirty="0"/>
          </a:p>
        </p:txBody>
      </p:sp>
      <p:sp>
        <p:nvSpPr>
          <p:cNvPr id="9" name="Step 1 arrow"/>
          <p:cNvSpPr/>
          <p:nvPr/>
        </p:nvSpPr>
        <p:spPr>
          <a:xfrm>
            <a:off x="3127248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tep 2 card"/>
          <p:cNvSpPr/>
          <p:nvPr/>
        </p:nvSpPr>
        <p:spPr>
          <a:xfrm>
            <a:off x="3401568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1" name="Step 2 marker"/>
          <p:cNvSpPr/>
          <p:nvPr/>
        </p:nvSpPr>
        <p:spPr>
          <a:xfrm>
            <a:off x="3630168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 2 number"/>
          <p:cNvSpPr txBox="1"/>
          <p:nvPr/>
        </p:nvSpPr>
        <p:spPr>
          <a:xfrm>
            <a:off x="3630168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tep 2 label"/>
          <p:cNvSpPr txBox="1"/>
          <p:nvPr/>
        </p:nvSpPr>
        <p:spPr>
          <a:xfrm>
            <a:off x="3630168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Correlate</a:t>
            </a:r>
            <a:endParaRPr lang="en-US" sz="1200" dirty="0"/>
          </a:p>
        </p:txBody>
      </p:sp>
      <p:sp>
        <p:nvSpPr>
          <p:cNvPr id="14" name="Step 2 title"/>
          <p:cNvSpPr txBox="1"/>
          <p:nvPr/>
        </p:nvSpPr>
        <p:spPr>
          <a:xfrm>
            <a:off x="3630168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One case per deal</a:t>
            </a:r>
            <a:endParaRPr lang="en-US" sz="1800" dirty="0"/>
          </a:p>
        </p:txBody>
      </p:sp>
      <p:sp>
        <p:nvSpPr>
          <p:cNvPr id="15" name="Step 2 body"/>
          <p:cNvSpPr txBox="1"/>
          <p:nvPr/>
        </p:nvSpPr>
        <p:spPr>
          <a:xfrm>
            <a:off x="3630168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 ID = Opportunity Id. Tasks join on WhatId, Leads on ConvertedOpportunityId.</a:t>
            </a:r>
            <a:endParaRPr lang="en-US" sz="1400" dirty="0"/>
          </a:p>
        </p:txBody>
      </p:sp>
      <p:sp>
        <p:nvSpPr>
          <p:cNvPr id="16" name="Step 2 arrow"/>
          <p:cNvSpPr/>
          <p:nvPr/>
        </p:nvSpPr>
        <p:spPr>
          <a:xfrm>
            <a:off x="5980176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7" name="Step 3 card"/>
          <p:cNvSpPr/>
          <p:nvPr/>
        </p:nvSpPr>
        <p:spPr>
          <a:xfrm>
            <a:off x="6254496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8" name="Step 3 marker"/>
          <p:cNvSpPr/>
          <p:nvPr/>
        </p:nvSpPr>
        <p:spPr>
          <a:xfrm>
            <a:off x="6483096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3 number"/>
          <p:cNvSpPr txBox="1"/>
          <p:nvPr/>
        </p:nvSpPr>
        <p:spPr>
          <a:xfrm>
            <a:off x="64830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Step 3 label"/>
          <p:cNvSpPr txBox="1"/>
          <p:nvPr/>
        </p:nvSpPr>
        <p:spPr>
          <a:xfrm>
            <a:off x="6483096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Load</a:t>
            </a:r>
            <a:endParaRPr lang="en-US" sz="1200" dirty="0"/>
          </a:p>
        </p:txBody>
      </p:sp>
      <p:sp>
        <p:nvSpPr>
          <p:cNvPr id="21" name="Step 3 title"/>
          <p:cNvSpPr txBox="1"/>
          <p:nvPr/>
        </p:nvSpPr>
        <p:spPr>
          <a:xfrm>
            <a:off x="6483096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Event log</a:t>
            </a:r>
            <a:endParaRPr lang="en-US" sz="1800" dirty="0"/>
          </a:p>
        </p:txBody>
      </p:sp>
      <p:sp>
        <p:nvSpPr>
          <p:cNvPr id="22" name="Step 3 body"/>
          <p:cNvSpPr txBox="1"/>
          <p:nvPr/>
        </p:nvSpPr>
        <p:spPr>
          <a:xfrm>
            <a:off x="6483096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CSV and IEEE XES with activity, timestamps, resource and case attributes, ready for Apromore.</a:t>
            </a:r>
            <a:endParaRPr lang="en-US" sz="1400" dirty="0"/>
          </a:p>
        </p:txBody>
      </p:sp>
      <p:sp>
        <p:nvSpPr>
          <p:cNvPr id="23" name="Step 3 arrow"/>
          <p:cNvSpPr/>
          <p:nvPr/>
        </p:nvSpPr>
        <p:spPr>
          <a:xfrm>
            <a:off x="8833104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4" name="Step 4 card"/>
          <p:cNvSpPr/>
          <p:nvPr/>
        </p:nvSpPr>
        <p:spPr>
          <a:xfrm>
            <a:off x="9107424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25" name="Step 4 marker"/>
          <p:cNvSpPr/>
          <p:nvPr/>
        </p:nvSpPr>
        <p:spPr>
          <a:xfrm>
            <a:off x="9336024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Step 4 number"/>
          <p:cNvSpPr txBox="1"/>
          <p:nvPr/>
        </p:nvSpPr>
        <p:spPr>
          <a:xfrm>
            <a:off x="9336024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7" name="Step 4 label"/>
          <p:cNvSpPr txBox="1"/>
          <p:nvPr/>
        </p:nvSpPr>
        <p:spPr>
          <a:xfrm>
            <a:off x="9336024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Mine and size</a:t>
            </a:r>
            <a:endParaRPr lang="en-US" sz="1200" dirty="0"/>
          </a:p>
        </p:txBody>
      </p:sp>
      <p:sp>
        <p:nvSpPr>
          <p:cNvPr id="28" name="Step 4 title"/>
          <p:cNvSpPr txBox="1"/>
          <p:nvPr/>
        </p:nvSpPr>
        <p:spPr>
          <a:xfrm>
            <a:off x="9336024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and value</a:t>
            </a:r>
            <a:endParaRPr lang="en-US" sz="1800" dirty="0"/>
          </a:p>
        </p:txBody>
      </p:sp>
      <p:sp>
        <p:nvSpPr>
          <p:cNvPr id="29" name="Step 4 body"/>
          <p:cNvSpPr txBox="1"/>
          <p:nvPr/>
        </p:nvSpPr>
        <p:spPr>
          <a:xfrm>
            <a:off x="9336024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Directly-follows graph, variant analysis, cohort win rates and a driver-based value model.</a:t>
            </a:r>
            <a:endParaRPr lang="en-US" sz="1400" dirty="0"/>
          </a:p>
        </p:txBody>
      </p:sp>
      <p:sp>
        <p:nvSpPr>
          <p:cNvPr id="30" name="Live run band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31" name="Live run text"/>
          <p:cNvSpPr txBox="1"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Live run on a Salesforce trial org: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40 opportunities  ·  351 events  ·  2 objects joined  ·  CSV + XES for Apromore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Data model: Salesforce objects to an event log</a:t>
            </a:r>
            <a:endParaRPr lang="en-US" sz="3000" dirty="0"/>
          </a:p>
        </p:txBody>
      </p:sp>
      <p:graphicFrame>
        <p:nvGraphicFramePr>
          <p:cNvPr id="9" name="Data mode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Event log field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Salesforce source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Case 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Opportunity.Id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Lead Created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Lead.CreatedDate, joined on Lead.ConvertedOpportunityId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Stage activities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OpportunityHistory.StageName and CreatedDate; repeated rows collapse to real stage changes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Task activities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Task.Subject, CreatedDate → CompletedDateTime, joined on Task.WhatId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Resource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CreatedBy.Name (stage changes), Owner.Name (tasks)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Case attributes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Opportunity.Amount, LeadSource, IsWon; Account.Industry, BillingCountry → region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Output card"/>
          <p:cNvSpPr/>
          <p:nvPr/>
        </p:nvSpPr>
        <p:spPr>
          <a:xfrm>
            <a:off x="7863840" y="1371600"/>
            <a:ext cx="374904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5" name="Output heading"/>
          <p:cNvSpPr txBox="1"/>
          <p:nvPr/>
        </p:nvSpPr>
        <p:spPr>
          <a:xfrm>
            <a:off x="8092440" y="1554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Output: one row per event</a:t>
            </a:r>
            <a:endParaRPr lang="en-US" sz="1600" dirty="0"/>
          </a:p>
        </p:txBody>
      </p:sp>
      <p:sp>
        <p:nvSpPr>
          <p:cNvPr id="6" name="Output columns"/>
          <p:cNvSpPr txBox="1"/>
          <p:nvPr/>
        </p:nvSpPr>
        <p:spPr>
          <a:xfrm>
            <a:off x="8092440" y="1965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case_id, activity, start_time, end_time, resource, source_object, region, industry, lead_source, amount, outcome</a:t>
            </a:r>
            <a:endParaRPr lang="en-US" sz="1200" dirty="0"/>
          </a:p>
        </p:txBody>
      </p:sp>
      <p:sp>
        <p:nvSpPr>
          <p:cNvPr id="7" name="Output sample"/>
          <p:cNvSpPr txBox="1"/>
          <p:nvPr/>
        </p:nvSpPr>
        <p:spPr>
          <a:xfrm>
            <a:off x="8092440" y="2788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Qualify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Discovery Call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Closed Lost</a:t>
            </a:r>
            <a:endParaRPr lang="en-US" sz="1200" dirty="0"/>
          </a:p>
        </p:txBody>
      </p:sp>
      <p:sp>
        <p:nvSpPr>
          <p:cNvPr id="8" name="Output formats"/>
          <p:cNvSpPr txBox="1"/>
          <p:nvPr/>
        </p:nvSpPr>
        <p:spPr>
          <a:xfrm>
            <a:off x="809244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Written as CSV for Apromore's import and as IEEE XES with start/complete lifecycle events.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Running it against a brand-new trial org</a:t>
            </a:r>
            <a:endParaRPr lang="en-US" sz="3000" dirty="0"/>
          </a:p>
        </p:txBody>
      </p:sp>
      <p:sp>
        <p:nvSpPr>
          <p:cNvPr id="3" name="Steps heading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Steps</a:t>
            </a:r>
            <a:endParaRPr lang="en-US" sz="1600" dirty="0"/>
          </a:p>
        </p:txBody>
      </p:sp>
      <p:sp>
        <p:nvSpPr>
          <p:cNvPr id="4" name="Run step 1 marker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Run step 1 number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Run step 1 title"/>
          <p:cNvSpPr txBox="1"/>
          <p:nvPr/>
        </p:nvSpPr>
        <p:spPr>
          <a:xfrm>
            <a:off x="1188720" y="1783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Authenticate</a:t>
            </a:r>
            <a:endParaRPr lang="en-US" sz="1600" dirty="0"/>
          </a:p>
        </p:txBody>
      </p:sp>
      <p:sp>
        <p:nvSpPr>
          <p:cNvPr id="7" name="Run step 1 body"/>
          <p:cNvSpPr txBox="1"/>
          <p:nvPr/>
        </p:nvSpPr>
        <p:spPr>
          <a:xfrm>
            <a:off x="1188720" y="213055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sf org login web: the CLI session signs every API call; no stored passwords.</a:t>
            </a:r>
            <a:endParaRPr lang="en-US" sz="1400" dirty="0"/>
          </a:p>
        </p:txBody>
      </p:sp>
      <p:sp>
        <p:nvSpPr>
          <p:cNvPr id="8" name="Run step 2 marker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Run step 2 number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Run step 2 title"/>
          <p:cNvSpPr txBox="1"/>
          <p:nvPr/>
        </p:nvSpPr>
        <p:spPr>
          <a:xfrm>
            <a:off x="1188720" y="2834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Seed</a:t>
            </a:r>
            <a:endParaRPr lang="en-US" sz="1600" dirty="0"/>
          </a:p>
        </p:txBody>
      </p:sp>
      <p:sp>
        <p:nvSpPr>
          <p:cNvPr id="11" name="Run step 2 body"/>
          <p:cNvSpPr txBox="1"/>
          <p:nvPr/>
        </p:nvSpPr>
        <p:spPr>
          <a:xfrm>
            <a:off x="1188720" y="318211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seed.py loads 40 [Demo] deals and walks them through stages via the Composite API.</a:t>
            </a:r>
            <a:endParaRPr lang="en-US" sz="1400" dirty="0"/>
          </a:p>
        </p:txBody>
      </p:sp>
      <p:sp>
        <p:nvSpPr>
          <p:cNvPr id="12" name="Run step 3 marker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Run step 3 number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Run step 3 title"/>
          <p:cNvSpPr txBox="1"/>
          <p:nvPr/>
        </p:nvSpPr>
        <p:spPr>
          <a:xfrm>
            <a:off x="1188720" y="3886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Extract and mine</a:t>
            </a:r>
            <a:endParaRPr lang="en-US" sz="1600" dirty="0"/>
          </a:p>
        </p:txBody>
      </p:sp>
      <p:sp>
        <p:nvSpPr>
          <p:cNvPr id="15" name="Run step 3 body"/>
          <p:cNvSpPr txBox="1"/>
          <p:nvPr/>
        </p:nvSpPr>
        <p:spPr>
          <a:xfrm>
            <a:off x="1188720" y="423367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extract.py → transform.py → mine.py write the event log and insights.</a:t>
            </a:r>
            <a:endParaRPr lang="en-US" sz="1400" dirty="0"/>
          </a:p>
        </p:txBody>
      </p:sp>
      <p:sp>
        <p:nvSpPr>
          <p:cNvPr id="16" name="Run step 4 marker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Run step 4 number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Run step 4 title"/>
          <p:cNvSpPr txBox="1"/>
          <p:nvPr/>
        </p:nvSpPr>
        <p:spPr>
          <a:xfrm>
            <a:off x="1188720" y="4937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</a:t>
            </a:r>
            <a:endParaRPr lang="en-US" sz="1600" dirty="0"/>
          </a:p>
        </p:txBody>
      </p:sp>
      <p:sp>
        <p:nvSpPr>
          <p:cNvPr id="19" name="Run step 4 body"/>
          <p:cNvSpPr txBox="1"/>
          <p:nvPr/>
        </p:nvSpPr>
        <p:spPr>
          <a:xfrm>
            <a:off x="1188720" y="528523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build_site.py renders the dashboard and value case; deployed to Vercel.</a:t>
            </a:r>
            <a:endParaRPr lang="en-US" sz="1400" dirty="0"/>
          </a:p>
        </p:txBody>
      </p:sp>
      <p:sp>
        <p:nvSpPr>
          <p:cNvPr id="20" name="Gotchas heading"/>
          <p:cNvSpPr txBox="1"/>
          <p:nvPr/>
        </p:nvSpPr>
        <p:spPr>
          <a:xfrm>
            <a:off x="630936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Problems solved along the way</a:t>
            </a:r>
            <a:endParaRPr lang="en-US" sz="1600" dirty="0"/>
          </a:p>
        </p:txBody>
      </p:sp>
      <p:sp>
        <p:nvSpPr>
          <p:cNvPr id="21" name="Gotcha 1"/>
          <p:cNvSpPr/>
          <p:nvPr/>
        </p:nvSpPr>
        <p:spPr>
          <a:xfrm>
            <a:off x="6309360" y="178308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2" name="Gotcha 1 title"/>
          <p:cNvSpPr txBox="1"/>
          <p:nvPr/>
        </p:nvSpPr>
        <p:spPr>
          <a:xfrm>
            <a:off x="6537960" y="18745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New orgs block uninstalled connected apps</a:t>
            </a:r>
            <a:endParaRPr lang="en-US" sz="1400" dirty="0"/>
          </a:p>
        </p:txBody>
      </p:sp>
      <p:sp>
        <p:nvSpPr>
          <p:cNvPr id="23" name="Gotcha 1 fix"/>
          <p:cNvSpPr txBox="1"/>
          <p:nvPr/>
        </p:nvSpPr>
        <p:spPr>
          <a:xfrm>
            <a:off x="6537960" y="22402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Installed Salesforce CLI under Connected Apps OAuth Usage.</a:t>
            </a:r>
            <a:endParaRPr lang="en-US" sz="1400" dirty="0"/>
          </a:p>
        </p:txBody>
      </p:sp>
      <p:sp>
        <p:nvSpPr>
          <p:cNvPr id="24" name="Gotcha 2"/>
          <p:cNvSpPr/>
          <p:nvPr/>
        </p:nvSpPr>
        <p:spPr>
          <a:xfrm>
            <a:off x="6309360" y="283464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5" name="Gotcha 2 title"/>
          <p:cNvSpPr txBox="1"/>
          <p:nvPr/>
        </p:nvSpPr>
        <p:spPr>
          <a:xfrm>
            <a:off x="6537960" y="2926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Starter orgs use a shorter sales process</a:t>
            </a:r>
            <a:endParaRPr lang="en-US" sz="1400" dirty="0"/>
          </a:p>
        </p:txBody>
      </p:sp>
      <p:sp>
        <p:nvSpPr>
          <p:cNvPr id="26" name="Gotcha 2 fix"/>
          <p:cNvSpPr txBox="1"/>
          <p:nvPr/>
        </p:nvSpPr>
        <p:spPr>
          <a:xfrm>
            <a:off x="6537960" y="32918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Stages auto-map to Qualify → Propose → Negotiate.</a:t>
            </a:r>
            <a:endParaRPr lang="en-US" sz="1400" dirty="0"/>
          </a:p>
        </p:txBody>
      </p:sp>
      <p:sp>
        <p:nvSpPr>
          <p:cNvPr id="27" name="Gotcha 3"/>
          <p:cNvSpPr/>
          <p:nvPr/>
        </p:nvSpPr>
        <p:spPr>
          <a:xfrm>
            <a:off x="6309360" y="388620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8" name="Gotcha 3 title"/>
          <p:cNvSpPr txBox="1"/>
          <p:nvPr/>
        </p:nvSpPr>
        <p:spPr>
          <a:xfrm>
            <a:off x="6537960" y="397764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 CLI redacts access tokens</a:t>
            </a:r>
            <a:endParaRPr lang="en-US" sz="1400" dirty="0"/>
          </a:p>
        </p:txBody>
      </p:sp>
      <p:sp>
        <p:nvSpPr>
          <p:cNvPr id="29" name="Gotcha 3 fix"/>
          <p:cNvSpPr txBox="1"/>
          <p:nvPr/>
        </p:nvSpPr>
        <p:spPr>
          <a:xfrm>
            <a:off x="6537960" y="43434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Calls go through sf api request rest instead.</a:t>
            </a:r>
            <a:endParaRPr lang="en-US" sz="1400" dirty="0"/>
          </a:p>
        </p:txBody>
      </p:sp>
      <p:sp>
        <p:nvSpPr>
          <p:cNvPr id="30" name="Gotcha 4"/>
          <p:cNvSpPr/>
          <p:nvPr/>
        </p:nvSpPr>
        <p:spPr>
          <a:xfrm>
            <a:off x="6309360" y="493776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31" name="Gotcha 4 title"/>
          <p:cNvSpPr txBox="1"/>
          <p:nvPr/>
        </p:nvSpPr>
        <p:spPr>
          <a:xfrm>
            <a:off x="6537960" y="502920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History can't be backdated</a:t>
            </a:r>
            <a:endParaRPr lang="en-US" sz="1400" dirty="0"/>
          </a:p>
        </p:txBody>
      </p:sp>
      <p:sp>
        <p:nvSpPr>
          <p:cNvPr id="32" name="Gotcha 4 fix"/>
          <p:cNvSpPr txBox="1"/>
          <p:nvPr/>
        </p:nvSpPr>
        <p:spPr>
          <a:xfrm>
            <a:off x="6537960" y="5394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10-month dataset is simulated in the same object shape.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Everything is live and open to inspect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41732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6916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54533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9110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532888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80720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6609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648456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92277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922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7764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41422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764024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503834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5038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8920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52578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3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Value case screenshot" descr="Value case one-pager on the hosted s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2026-10-14T18:29:23Z</dcterms:created>
  <dcterms:modified xsi:type="dcterms:W3CDTF">2026-10-14T18:29:23Z</dcterms:modified>
</cp:coreProperties>
</file>