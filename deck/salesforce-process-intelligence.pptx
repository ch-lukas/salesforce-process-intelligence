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ea02240-3fcf-10ae-6263-30fbd8c30f57}">
          <p14:sldIdLst>
            <p14:sldId id="256"/>
            <p14:sldId id="257"/>
          </p14:sldIdLst>
        </p14:section>
        <p14:section name="Evidence" id="{4006877a-e396-3548-454c-fcd91d84a0df}">
          <p14:sldIdLst>
            <p14:sldId id="258"/>
            <p14:sldId id="259"/>
          </p14:sldIdLst>
        </p14:section>
        <p14:section name="Value" id="{2a5f094b-0090-a4f9-b8cc-53fb2d756d58}">
          <p14:sldIdLst>
            <p14:sldId id="260"/>
          </p14:sldIdLst>
        </p14:section>
        <p14:section name="Tech setup" id="{82d0bfbe-626b-3fa9-d2b6-98154d9de801}">
          <p14:sldIdLst>
            <p14:sldId id="261"/>
            <p14:sldId id="262"/>
          </p14:sldIdLst>
        </p14:section>
        <p14:section name="Close" id="{b9043b03-107a-2b7d-1f74-464bac0320d0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Median approval wait (days)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approval wait (days)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AMER</c:v>
                  </c:pt>
                  <c:pt idx="1">
                    <c:v>APAC</c:v>
                  </c:pt>
                  <c:pt idx="2">
                    <c:v>EMEA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</c:v>
                </c:pt>
                <c:pt idx="1">
                  <c:v>1.5</c:v>
                </c:pt>
                <c:pt idx="2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of negotiated deals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of negotiated deals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Clean path</c:v>
                  </c:pt>
                  <c:pt idx="1">
                    <c:v>Re-quoted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0.49</c:v>
                </c:pt>
                <c:pt idx="1">
                  <c:v>0.31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by qualification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by qualification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Qualified</c:v>
                  </c:pt>
                  <c:pt idx="1">
                    <c:v>Skipped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0.39</c:v>
                </c:pt>
                <c:pt idx="1">
                  <c:v>0.18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wanted to show how I'd open with a Salesforce-heavy prospect: start from their own CRM data, find where the process leaks, and turn it into a number the CRO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number, then the three findings. Everything after this slide is how I got there and how you would check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directly-follows map from the hosted dashboard. Fourteen percent conformance is the hook: the CRM shows the stage, process mining shows the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Orange marks the problem cohort in each chart. Win-rate gaps compare like with like, for example only deals that reached Negotiation for re-quotes.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follows my value framing format: challenge, root cause, solution, then a multiplicative value chain. The customer owns the improvement assumption; we own the evidence. Root cause is labelled 'to capture' because it needs reason codes the CRM doesn't hold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trial org standing in for a client's CRM, seeded by seed.py so there's real OpportunityHistory to read. Right: the exact SOQL the extractor runs. Opportunity is the case; leads join via ConvertedOpportunityId and tasks via WhatId. Trial orgs can't backdate history, so the 10-month dataset is simulated in the same object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hosted. The repo has the pipeline, the seeding script and the README with the setup gotchas I hit on a 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decision: validate on production data, pilot one policy change, then monitor value realised in Apromore.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" TargetMode="External"/><Relationship Id="rId2" Type="http://schemas.openxmlformats.org/officeDocument/2006/relationships/hyperlink" Target="https://salesforce-process-intelligence.vercel.app/value-case.html" TargetMode="External"/><Relationship Id="rId3" Type="http://schemas.openxmlformats.org/officeDocument/2006/relationships/hyperlink" Target="https://salesforce-process-intelligence.vercel.app/live.html" TargetMode="External"/><Relationship Id="rId4" Type="http://schemas.openxmlformats.org/officeDocument/2006/relationships/hyperlink" Target="https://github.com/ch-lukas/salesforce-process-intelligence" TargetMode="External"/><Relationship Id="rId5" Type="http://schemas.openxmlformats.org/officeDocument/2006/relationships/image" Target="../media/image-7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From Salesforce data to a framed value case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Lead-to-close process intelligence: a working demo build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answer first: three process fixes worth $1.4M a year</a:t>
            </a:r>
            <a:endParaRPr lang="en-US" sz="3000" dirty="0"/>
          </a:p>
        </p:txBody>
      </p:sp>
      <p:sp>
        <p:nvSpPr>
          <p:cNvPr id="3" name="Headline value"/>
          <p:cNvSpPr txBox="1"/>
          <p:nvPr/>
        </p:nvSpPr>
        <p:spPr>
          <a:xfrm>
            <a:off x="548640" y="14173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$1.4M</a:t>
            </a:r>
            <a:endParaRPr lang="en-US" sz="7200" dirty="0"/>
          </a:p>
        </p:txBody>
      </p:sp>
      <p:sp>
        <p:nvSpPr>
          <p:cNvPr id="4" name="Headline caption"/>
          <p:cNvSpPr txBox="1"/>
          <p:nvPr/>
        </p:nvSpPr>
        <p:spPr>
          <a:xfrm>
            <a:off x="548640" y="2697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Annual revenue upside if half of the gap is closed on three issues found in the CRM data. Full gap: $2.8M.</a:t>
            </a:r>
            <a:endParaRPr lang="en-US" sz="1600" dirty="0"/>
          </a:p>
        </p:txBody>
      </p:sp>
      <p:sp>
        <p:nvSpPr>
          <p:cNvPr id="5" name="Headline basis"/>
          <p:cNvSpPr txBox="1"/>
          <p:nvPr/>
        </p:nvSpPr>
        <p:spPr>
          <a:xfrm>
            <a:off x="5486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Sized from 800 opportunities over 10.4 months.</a:t>
            </a:r>
            <a:endParaRPr lang="en-US" sz="1400" dirty="0"/>
          </a:p>
        </p:txBody>
      </p:sp>
      <p:sp>
        <p:nvSpPr>
          <p:cNvPr id="6" name="Finding 1"/>
          <p:cNvSpPr/>
          <p:nvPr/>
        </p:nvSpPr>
        <p:spPr>
          <a:xfrm>
            <a:off x="6035040" y="137160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Finding 1 chip"/>
          <p:cNvSpPr/>
          <p:nvPr/>
        </p:nvSpPr>
        <p:spPr>
          <a:xfrm>
            <a:off x="6263640" y="150876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Finding 1 label"/>
          <p:cNvSpPr txBox="1"/>
          <p:nvPr/>
        </p:nvSpPr>
        <p:spPr>
          <a:xfrm>
            <a:off x="6263640" y="1508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Accelerate revenue</a:t>
            </a:r>
            <a:endParaRPr lang="en-US" sz="1200" dirty="0"/>
          </a:p>
        </p:txBody>
      </p:sp>
      <p:sp>
        <p:nvSpPr>
          <p:cNvPr id="9" name="Finding 1 text"/>
          <p:cNvSpPr txBox="1"/>
          <p:nvPr/>
        </p:nvSpPr>
        <p:spPr>
          <a:xfrm>
            <a:off x="6263640" y="188366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 discount approvals take 7.0 days vs 1.2 in the fastest region.</a:t>
            </a:r>
            <a:endParaRPr lang="en-US" sz="1400" dirty="0"/>
          </a:p>
        </p:txBody>
      </p:sp>
      <p:sp>
        <p:nvSpPr>
          <p:cNvPr id="10" name="Finding 2"/>
          <p:cNvSpPr/>
          <p:nvPr/>
        </p:nvSpPr>
        <p:spPr>
          <a:xfrm>
            <a:off x="6035040" y="256032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1" name="Finding 2 chip"/>
          <p:cNvSpPr/>
          <p:nvPr/>
        </p:nvSpPr>
        <p:spPr>
          <a:xfrm>
            <a:off x="6263640" y="269748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Finding 2 label"/>
          <p:cNvSpPr txBox="1"/>
          <p:nvPr/>
        </p:nvSpPr>
        <p:spPr>
          <a:xfrm>
            <a:off x="6263640" y="2697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Improve win rate</a:t>
            </a:r>
            <a:endParaRPr lang="en-US" sz="1200" dirty="0"/>
          </a:p>
        </p:txBody>
      </p:sp>
      <p:sp>
        <p:nvSpPr>
          <p:cNvPr id="13" name="Finding 2 text"/>
          <p:cNvSpPr txBox="1"/>
          <p:nvPr/>
        </p:nvSpPr>
        <p:spPr>
          <a:xfrm>
            <a:off x="6263640" y="30723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loop back for a re-quote; they win 31% vs 49%.</a:t>
            </a:r>
            <a:endParaRPr lang="en-US" sz="1400" dirty="0"/>
          </a:p>
        </p:txBody>
      </p:sp>
      <p:sp>
        <p:nvSpPr>
          <p:cNvPr id="14" name="Finding 3"/>
          <p:cNvSpPr/>
          <p:nvPr/>
        </p:nvSpPr>
        <p:spPr>
          <a:xfrm>
            <a:off x="6035040" y="374904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5" name="Finding 3 chip"/>
          <p:cNvSpPr/>
          <p:nvPr/>
        </p:nvSpPr>
        <p:spPr>
          <a:xfrm>
            <a:off x="6263640" y="388620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Finding 3 label"/>
          <p:cNvSpPr txBox="1"/>
          <p:nvPr/>
        </p:nvSpPr>
        <p:spPr>
          <a:xfrm>
            <a:off x="6263640" y="3886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Sales productivity</a:t>
            </a:r>
            <a:endParaRPr lang="en-US" sz="1200" dirty="0"/>
          </a:p>
        </p:txBody>
      </p:sp>
      <p:sp>
        <p:nvSpPr>
          <p:cNvPr id="17" name="Finding 3 text"/>
          <p:cNvSpPr txBox="1"/>
          <p:nvPr/>
        </p:nvSpPr>
        <p:spPr>
          <a:xfrm>
            <a:off x="6263640" y="426110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18% vs 39%.</a:t>
            </a:r>
            <a:endParaRPr lang="en-US" sz="1400" dirty="0"/>
          </a:p>
        </p:txBody>
      </p:sp>
      <p:sp>
        <p:nvSpPr>
          <p:cNvPr id="18" name="KPI 1"/>
          <p:cNvSpPr/>
          <p:nvPr/>
        </p:nvSpPr>
        <p:spPr>
          <a:xfrm>
            <a:off x="54864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9" name="KPI 1 value"/>
          <p:cNvSpPr txBox="1"/>
          <p:nvPr/>
        </p:nvSpPr>
        <p:spPr>
          <a:xfrm>
            <a:off x="73152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800</a:t>
            </a:r>
            <a:endParaRPr lang="en-US" sz="2800" dirty="0"/>
          </a:p>
        </p:txBody>
      </p:sp>
      <p:sp>
        <p:nvSpPr>
          <p:cNvPr id="20" name="KPI 1 label"/>
          <p:cNvSpPr txBox="1"/>
          <p:nvPr/>
        </p:nvSpPr>
        <p:spPr>
          <a:xfrm>
            <a:off x="73152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deals analysed</a:t>
            </a:r>
            <a:endParaRPr lang="en-US" sz="1200" dirty="0"/>
          </a:p>
        </p:txBody>
      </p:sp>
      <p:sp>
        <p:nvSpPr>
          <p:cNvPr id="21" name="KPI 2"/>
          <p:cNvSpPr/>
          <p:nvPr/>
        </p:nvSpPr>
        <p:spPr>
          <a:xfrm>
            <a:off x="278892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2" name="KPI 2 value"/>
          <p:cNvSpPr txBox="1"/>
          <p:nvPr/>
        </p:nvSpPr>
        <p:spPr>
          <a:xfrm>
            <a:off x="297180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37%</a:t>
            </a:r>
            <a:endParaRPr lang="en-US" sz="2800" dirty="0"/>
          </a:p>
        </p:txBody>
      </p:sp>
      <p:sp>
        <p:nvSpPr>
          <p:cNvPr id="23" name="KPI 2 label"/>
          <p:cNvSpPr txBox="1"/>
          <p:nvPr/>
        </p:nvSpPr>
        <p:spPr>
          <a:xfrm>
            <a:off x="297180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win rate</a:t>
            </a:r>
            <a:endParaRPr lang="en-US" sz="1200" dirty="0"/>
          </a:p>
        </p:txBody>
      </p:sp>
      <p:sp>
        <p:nvSpPr>
          <p:cNvPr id="24" name="KPI 3"/>
          <p:cNvSpPr/>
          <p:nvPr/>
        </p:nvSpPr>
        <p:spPr>
          <a:xfrm>
            <a:off x="502920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5" name="KPI 3 value"/>
          <p:cNvSpPr txBox="1"/>
          <p:nvPr/>
        </p:nvSpPr>
        <p:spPr>
          <a:xfrm>
            <a:off x="521208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33.9d</a:t>
            </a:r>
            <a:endParaRPr lang="en-US" sz="2800" dirty="0"/>
          </a:p>
        </p:txBody>
      </p:sp>
      <p:sp>
        <p:nvSpPr>
          <p:cNvPr id="26" name="KPI 3 label"/>
          <p:cNvSpPr txBox="1"/>
          <p:nvPr/>
        </p:nvSpPr>
        <p:spPr>
          <a:xfrm>
            <a:off x="521208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median cycle time</a:t>
            </a:r>
            <a:endParaRPr lang="en-US" sz="1200" dirty="0"/>
          </a:p>
        </p:txBody>
      </p:sp>
      <p:sp>
        <p:nvSpPr>
          <p:cNvPr id="27" name="KPI 4"/>
          <p:cNvSpPr/>
          <p:nvPr/>
        </p:nvSpPr>
        <p:spPr>
          <a:xfrm>
            <a:off x="726948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8" name="KPI 4 value"/>
          <p:cNvSpPr txBox="1"/>
          <p:nvPr/>
        </p:nvSpPr>
        <p:spPr>
          <a:xfrm>
            <a:off x="745236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67</a:t>
            </a:r>
            <a:endParaRPr lang="en-US" sz="2800" dirty="0"/>
          </a:p>
        </p:txBody>
      </p:sp>
      <p:sp>
        <p:nvSpPr>
          <p:cNvPr id="29" name="KPI 4 label"/>
          <p:cNvSpPr txBox="1"/>
          <p:nvPr/>
        </p:nvSpPr>
        <p:spPr>
          <a:xfrm>
            <a:off x="745236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distinct paths</a:t>
            </a:r>
            <a:endParaRPr lang="en-US" sz="1200" dirty="0"/>
          </a:p>
        </p:txBody>
      </p:sp>
      <p:sp>
        <p:nvSpPr>
          <p:cNvPr id="30" name="KPI 5"/>
          <p:cNvSpPr/>
          <p:nvPr/>
        </p:nvSpPr>
        <p:spPr>
          <a:xfrm>
            <a:off x="950976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31" name="KPI 5 value"/>
          <p:cNvSpPr txBox="1"/>
          <p:nvPr/>
        </p:nvSpPr>
        <p:spPr>
          <a:xfrm>
            <a:off x="969264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14%</a:t>
            </a:r>
            <a:endParaRPr lang="en-US" sz="2800" dirty="0"/>
          </a:p>
        </p:txBody>
      </p:sp>
      <p:sp>
        <p:nvSpPr>
          <p:cNvPr id="32" name="KPI 5 label"/>
          <p:cNvSpPr txBox="1"/>
          <p:nvPr/>
        </p:nvSpPr>
        <p:spPr>
          <a:xfrm>
            <a:off x="969264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follow the happy path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Discover: the process as it actually runs</a:t>
            </a:r>
            <a:endParaRPr lang="en-US" sz="3000" dirty="0"/>
          </a:p>
        </p:txBody>
      </p:sp>
      <p:sp>
        <p:nvSpPr>
          <p:cNvPr id="3" name="Discover stat 1"/>
          <p:cNvSpPr txBox="1"/>
          <p:nvPr/>
        </p:nvSpPr>
        <p:spPr>
          <a:xfrm>
            <a:off x="548640" y="15087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14%</a:t>
            </a:r>
            <a:endParaRPr lang="en-US" sz="4400" dirty="0"/>
          </a:p>
        </p:txBody>
      </p:sp>
      <p:sp>
        <p:nvSpPr>
          <p:cNvPr id="4" name="Discover label 1"/>
          <p:cNvSpPr txBox="1"/>
          <p:nvPr/>
        </p:nvSpPr>
        <p:spPr>
          <a:xfrm>
            <a:off x="3291840" y="1508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of deals follow the designed happy path</a:t>
            </a:r>
            <a:endParaRPr lang="en-US" sz="1800" dirty="0"/>
          </a:p>
        </p:txBody>
      </p:sp>
      <p:sp>
        <p:nvSpPr>
          <p:cNvPr id="5" name="Discover stat 2"/>
          <p:cNvSpPr txBox="1"/>
          <p:nvPr/>
        </p:nvSpPr>
        <p:spPr>
          <a:xfrm>
            <a:off x="54864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67</a:t>
            </a:r>
            <a:endParaRPr lang="en-US" sz="4400" dirty="0"/>
          </a:p>
        </p:txBody>
      </p:sp>
      <p:sp>
        <p:nvSpPr>
          <p:cNvPr id="6" name="Discover label 2"/>
          <p:cNvSpPr txBox="1"/>
          <p:nvPr/>
        </p:nvSpPr>
        <p:spPr>
          <a:xfrm>
            <a:off x="329184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distinct paths across 800 deals</a:t>
            </a:r>
            <a:endParaRPr lang="en-US" sz="1800" dirty="0"/>
          </a:p>
        </p:txBody>
      </p:sp>
      <p:sp>
        <p:nvSpPr>
          <p:cNvPr id="7" name="Discover stat 3"/>
          <p:cNvSpPr txBox="1"/>
          <p:nvPr/>
        </p:nvSpPr>
        <p:spPr>
          <a:xfrm>
            <a:off x="548640" y="4343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7.0 days</a:t>
            </a:r>
            <a:endParaRPr lang="en-US" sz="4400" dirty="0"/>
          </a:p>
        </p:txBody>
      </p:sp>
      <p:sp>
        <p:nvSpPr>
          <p:cNvPr id="8" name="Discover label 3"/>
          <p:cNvSpPr txBox="1"/>
          <p:nvPr/>
        </p:nvSpPr>
        <p:spPr>
          <a:xfrm>
            <a:off x="3291840" y="4343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median EMEA approval wait, the slowest hand-off</a:t>
            </a:r>
            <a:endParaRPr lang="en-US" sz="1800" dirty="0"/>
          </a:p>
        </p:txBody>
      </p:sp>
      <p:sp>
        <p:nvSpPr>
          <p:cNvPr id="9" name="Discover note"/>
          <p:cNvSpPr txBox="1"/>
          <p:nvPr/>
        </p:nvSpPr>
        <p:spPr>
          <a:xfrm>
            <a:off x="548640" y="57150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Approval steps and re-quote loops show up as detours from the designed path.</a:t>
            </a:r>
            <a:endParaRPr lang="en-US" sz="1400" dirty="0"/>
          </a:p>
        </p:txBody>
      </p:sp>
      <p:sp>
        <p:nvSpPr>
          <p:cNvPr id="10" name="Map frame"/>
          <p:cNvSpPr/>
          <p:nvPr/>
        </p:nvSpPr>
        <p:spPr>
          <a:xfrm>
            <a:off x="7419442" y="1280160"/>
            <a:ext cx="4239158" cy="4892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Process map" descr="Process map from the hosted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5162" y="1325880"/>
            <a:ext cx="4147718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Diagnose: three deviations explain most of the lost value</a:t>
            </a:r>
            <a:endParaRPr lang="en-US" sz="3000" dirty="0"/>
          </a:p>
        </p:txBody>
      </p:sp>
      <p:graphicFrame>
        <p:nvGraphicFramePr>
          <p:cNvPr id="3" name="Chart 1" descr=""/>
          <p:cNvGraphicFramePr/>
          <p:nvPr/>
        </p:nvGraphicFramePr>
        <p:xfrm>
          <a:off x="548640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 1"/>
          <p:cNvSpPr/>
          <p:nvPr/>
        </p:nvSpPr>
        <p:spPr>
          <a:xfrm>
            <a:off x="548640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akeaway 1 text"/>
          <p:cNvSpPr txBox="1"/>
          <p:nvPr/>
        </p:nvSpPr>
        <p:spPr>
          <a:xfrm>
            <a:off x="731520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EMEA's single approver adds about 6 days per discounted deal.</a:t>
            </a:r>
            <a:endParaRPr lang="en-US" sz="1400" dirty="0"/>
          </a:p>
        </p:txBody>
      </p:sp>
      <p:graphicFrame>
        <p:nvGraphicFramePr>
          <p:cNvPr id="6" name="Chart 2" descr=""/>
          <p:cNvGraphicFramePr/>
          <p:nvPr/>
        </p:nvGraphicFramePr>
        <p:xfrm>
          <a:off x="4315968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 2"/>
          <p:cNvSpPr/>
          <p:nvPr/>
        </p:nvSpPr>
        <p:spPr>
          <a:xfrm>
            <a:off x="4315968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akeaway 2 text"/>
          <p:cNvSpPr txBox="1"/>
          <p:nvPr/>
        </p:nvSpPr>
        <p:spPr>
          <a:xfrm>
            <a:off x="4498848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are re-quoted, and they win 18 points less often.</a:t>
            </a:r>
            <a:endParaRPr lang="en-US" sz="1400" dirty="0"/>
          </a:p>
        </p:txBody>
      </p:sp>
      <p:graphicFrame>
        <p:nvGraphicFramePr>
          <p:cNvPr id="9" name="Chart 3" descr=""/>
          <p:cNvGraphicFramePr/>
          <p:nvPr/>
        </p:nvGraphicFramePr>
        <p:xfrm>
          <a:off x="8083296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akeaway 3"/>
          <p:cNvSpPr/>
          <p:nvPr/>
        </p:nvSpPr>
        <p:spPr>
          <a:xfrm>
            <a:off x="8083296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akeaway 3 text"/>
          <p:cNvSpPr txBox="1"/>
          <p:nvPr/>
        </p:nvSpPr>
        <p:spPr>
          <a:xfrm>
            <a:off x="8266176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less than half as often.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Value case: reduce re-quotes in quote-to-close</a:t>
            </a:r>
            <a:endParaRPr lang="en-US" sz="3000" dirty="0"/>
          </a:p>
        </p:txBody>
      </p:sp>
      <p:sp>
        <p:nvSpPr>
          <p:cNvPr id="3" name="Filter bar"/>
          <p:cNvSpPr/>
          <p:nvPr/>
        </p:nvSpPr>
        <p:spPr>
          <a:xfrm>
            <a:off x="548640" y="1234440"/>
            <a:ext cx="1106424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sp>
        <p:nvSpPr>
          <p:cNvPr id="4" name="Filter text"/>
          <p:cNvSpPr txBox="1"/>
          <p:nvPr/>
        </p:nvSpPr>
        <p:spPr>
          <a:xfrm>
            <a:off x="777240" y="1234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Time frame: 2025-10 to 2026-09   ·   New business   ·   Deals that reached Negotiation   ·   Owner: VP Revenue Operations</a:t>
            </a:r>
            <a:endParaRPr lang="en-US" sz="1200" dirty="0"/>
          </a:p>
        </p:txBody>
      </p:sp>
      <p:sp>
        <p:nvSpPr>
          <p:cNvPr id="5" name="Value column 1 heading"/>
          <p:cNvSpPr txBox="1"/>
          <p:nvPr/>
        </p:nvSpPr>
        <p:spPr>
          <a:xfrm>
            <a:off x="548640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Challenge</a:t>
            </a:r>
            <a:endParaRPr lang="en-US" sz="1600" dirty="0"/>
          </a:p>
        </p:txBody>
      </p:sp>
      <p:sp>
        <p:nvSpPr>
          <p:cNvPr id="6" name="Value column 1 body"/>
          <p:cNvSpPr txBox="1"/>
          <p:nvPr/>
        </p:nvSpPr>
        <p:spPr>
          <a:xfrm>
            <a:off x="548640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750 negotiated deals a year; 19% loop back for a re-quote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Re-quoted deals win 31% vs 49%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EMEA approvals take 7.0 days vs 1.2</a:t>
            </a:r>
            <a:endParaRPr lang="en-US" sz="1400" dirty="0"/>
          </a:p>
        </p:txBody>
      </p:sp>
      <p:sp>
        <p:nvSpPr>
          <p:cNvPr id="7" name="Value column 2 heading"/>
          <p:cNvSpPr txBox="1"/>
          <p:nvPr/>
        </p:nvSpPr>
        <p:spPr>
          <a:xfrm>
            <a:off x="4315968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Root cause (to capture)</a:t>
            </a:r>
            <a:endParaRPr lang="en-US" sz="1600" dirty="0"/>
          </a:p>
        </p:txBody>
      </p:sp>
      <p:sp>
        <p:nvSpPr>
          <p:cNvPr id="8" name="Value column 2 body"/>
          <p:cNvSpPr txBox="1"/>
          <p:nvPr/>
        </p:nvSpPr>
        <p:spPr>
          <a:xfrm>
            <a:off x="4315968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Reason codes: quote expired, discount, scope, pricing error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Hotspots by approver queue, region and rep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Confirm: slow approval → expired quote → re-quote</a:t>
            </a:r>
            <a:endParaRPr lang="en-US" sz="1400" dirty="0"/>
          </a:p>
        </p:txBody>
      </p:sp>
      <p:sp>
        <p:nvSpPr>
          <p:cNvPr id="9" name="Value column 3 heading"/>
          <p:cNvSpPr txBox="1"/>
          <p:nvPr/>
        </p:nvSpPr>
        <p:spPr>
          <a:xfrm>
            <a:off x="8083296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Solution with Apromore</a:t>
            </a:r>
            <a:endParaRPr lang="en-US" sz="1600" dirty="0"/>
          </a:p>
        </p:txBody>
      </p:sp>
      <p:sp>
        <p:nvSpPr>
          <p:cNvPr id="10" name="Value column 3 body"/>
          <p:cNvSpPr txBox="1"/>
          <p:nvPr/>
        </p:nvSpPr>
        <p:spPr>
          <a:xfrm>
            <a:off x="8083296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Performance views show where quotes wait and loop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Conformance checking flags skipped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Simulate a delegated EMEA approval threshold first</a:t>
            </a:r>
            <a:endParaRPr lang="en-US" sz="1400" dirty="0"/>
          </a:p>
        </p:txBody>
      </p:sp>
      <p:sp>
        <p:nvSpPr>
          <p:cNvPr id="11" name="Chain 1 label"/>
          <p:cNvSpPr txBox="1"/>
          <p:nvPr/>
        </p:nvSpPr>
        <p:spPr>
          <a:xfrm>
            <a:off x="54864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Negotiated deals / yr</a:t>
            </a:r>
            <a:endParaRPr lang="en-US" sz="1200" dirty="0"/>
          </a:p>
        </p:txBody>
      </p:sp>
      <p:sp>
        <p:nvSpPr>
          <p:cNvPr id="12" name="Chain 1 box"/>
          <p:cNvSpPr/>
          <p:nvPr/>
        </p:nvSpPr>
        <p:spPr>
          <a:xfrm>
            <a:off x="54864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3" name="Chain 1 value"/>
          <p:cNvSpPr txBox="1"/>
          <p:nvPr/>
        </p:nvSpPr>
        <p:spPr>
          <a:xfrm>
            <a:off x="54864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750</a:t>
            </a:r>
            <a:endParaRPr lang="en-US" sz="2200" dirty="0"/>
          </a:p>
        </p:txBody>
      </p:sp>
      <p:sp>
        <p:nvSpPr>
          <p:cNvPr id="14" name="Chain 1 operator"/>
          <p:cNvSpPr txBox="1"/>
          <p:nvPr/>
        </p:nvSpPr>
        <p:spPr>
          <a:xfrm>
            <a:off x="205740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5" name="Chain 2 label"/>
          <p:cNvSpPr txBox="1"/>
          <p:nvPr/>
        </p:nvSpPr>
        <p:spPr>
          <a:xfrm>
            <a:off x="233172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Re-quotes per deal</a:t>
            </a:r>
            <a:endParaRPr lang="en-US" sz="1200" dirty="0"/>
          </a:p>
        </p:txBody>
      </p:sp>
      <p:sp>
        <p:nvSpPr>
          <p:cNvPr id="16" name="Chain 2 box"/>
          <p:cNvSpPr/>
          <p:nvPr/>
        </p:nvSpPr>
        <p:spPr>
          <a:xfrm>
            <a:off x="233172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7" name="Chain 2 value"/>
          <p:cNvSpPr txBox="1"/>
          <p:nvPr/>
        </p:nvSpPr>
        <p:spPr>
          <a:xfrm>
            <a:off x="233172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0.19</a:t>
            </a:r>
            <a:endParaRPr lang="en-US" sz="2200" dirty="0"/>
          </a:p>
        </p:txBody>
      </p:sp>
      <p:sp>
        <p:nvSpPr>
          <p:cNvPr id="18" name="Chain 2 operator"/>
          <p:cNvSpPr txBox="1"/>
          <p:nvPr/>
        </p:nvSpPr>
        <p:spPr>
          <a:xfrm>
            <a:off x="384048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9" name="Chain 3 label"/>
          <p:cNvSpPr txBox="1"/>
          <p:nvPr/>
        </p:nvSpPr>
        <p:spPr>
          <a:xfrm>
            <a:off x="411480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Win-rate gap</a:t>
            </a:r>
            <a:endParaRPr lang="en-US" sz="1200" dirty="0"/>
          </a:p>
        </p:txBody>
      </p:sp>
      <p:sp>
        <p:nvSpPr>
          <p:cNvPr id="20" name="Chain 3 box"/>
          <p:cNvSpPr/>
          <p:nvPr/>
        </p:nvSpPr>
        <p:spPr>
          <a:xfrm>
            <a:off x="411480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Chain 3 value"/>
          <p:cNvSpPr txBox="1"/>
          <p:nvPr/>
        </p:nvSpPr>
        <p:spPr>
          <a:xfrm>
            <a:off x="411480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17.5 pts</a:t>
            </a:r>
            <a:endParaRPr lang="en-US" sz="2200" dirty="0"/>
          </a:p>
        </p:txBody>
      </p:sp>
      <p:sp>
        <p:nvSpPr>
          <p:cNvPr id="22" name="Chain 3 operator"/>
          <p:cNvSpPr txBox="1"/>
          <p:nvPr/>
        </p:nvSpPr>
        <p:spPr>
          <a:xfrm>
            <a:off x="562356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3" name="Chain 4 label"/>
          <p:cNvSpPr txBox="1"/>
          <p:nvPr/>
        </p:nvSpPr>
        <p:spPr>
          <a:xfrm>
            <a:off x="589788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Average won deal</a:t>
            </a:r>
            <a:endParaRPr lang="en-US" sz="1200" dirty="0"/>
          </a:p>
        </p:txBody>
      </p:sp>
      <p:sp>
        <p:nvSpPr>
          <p:cNvPr id="24" name="Chain 4 box"/>
          <p:cNvSpPr/>
          <p:nvPr/>
        </p:nvSpPr>
        <p:spPr>
          <a:xfrm>
            <a:off x="589788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5" name="Chain 4 value"/>
          <p:cNvSpPr txBox="1"/>
          <p:nvPr/>
        </p:nvSpPr>
        <p:spPr>
          <a:xfrm>
            <a:off x="589788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$53k</a:t>
            </a:r>
            <a:endParaRPr lang="en-US" sz="2200" dirty="0"/>
          </a:p>
        </p:txBody>
      </p:sp>
      <p:sp>
        <p:nvSpPr>
          <p:cNvPr id="26" name="Chain 4 operator"/>
          <p:cNvSpPr txBox="1"/>
          <p:nvPr/>
        </p:nvSpPr>
        <p:spPr>
          <a:xfrm>
            <a:off x="740664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7" name="Chain 5 label"/>
          <p:cNvSpPr txBox="1"/>
          <p:nvPr/>
        </p:nvSpPr>
        <p:spPr>
          <a:xfrm>
            <a:off x="768096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Improvement</a:t>
            </a:r>
            <a:endParaRPr lang="en-US" sz="1200" dirty="0"/>
          </a:p>
        </p:txBody>
      </p:sp>
      <p:sp>
        <p:nvSpPr>
          <p:cNvPr id="28" name="Chain 5 box"/>
          <p:cNvSpPr/>
          <p:nvPr/>
        </p:nvSpPr>
        <p:spPr>
          <a:xfrm>
            <a:off x="768096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9" name="Chain 5 value"/>
          <p:cNvSpPr txBox="1"/>
          <p:nvPr/>
        </p:nvSpPr>
        <p:spPr>
          <a:xfrm>
            <a:off x="768096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50%</a:t>
            </a:r>
            <a:endParaRPr lang="en-US" sz="2200" dirty="0"/>
          </a:p>
        </p:txBody>
      </p:sp>
      <p:sp>
        <p:nvSpPr>
          <p:cNvPr id="30" name="Chain 5 operator"/>
          <p:cNvSpPr txBox="1"/>
          <p:nvPr/>
        </p:nvSpPr>
        <p:spPr>
          <a:xfrm>
            <a:off x="918972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=</a:t>
            </a:r>
            <a:endParaRPr lang="en-US" sz="2000" dirty="0"/>
          </a:p>
        </p:txBody>
      </p:sp>
      <p:sp>
        <p:nvSpPr>
          <p:cNvPr id="31" name="Framed value pill"/>
          <p:cNvSpPr/>
          <p:nvPr/>
        </p:nvSpPr>
        <p:spPr>
          <a:xfrm>
            <a:off x="9509760" y="4251960"/>
            <a:ext cx="210312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32" name="Framed value"/>
          <p:cNvSpPr txBox="1"/>
          <p:nvPr/>
        </p:nvSpPr>
        <p:spPr>
          <a:xfrm>
            <a:off x="9509760" y="425196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≈ $669k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revenue upside p.a.</a:t>
            </a:r>
            <a:endParaRPr lang="en-US" sz="1400" dirty="0"/>
          </a:p>
        </p:txBody>
      </p:sp>
      <p:sp>
        <p:nvSpPr>
          <p:cNvPr id="33" name="Assumptions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Assumptions: annualised from 10 months of history; win-rate gap compares only deals that reached Negotiation; cycle-time gains not counted; half of the gap closed.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 setup: from a Salesforce org to an event log</a:t>
            </a:r>
            <a:endParaRPr lang="en-US" sz="3000" dirty="0"/>
          </a:p>
        </p:txBody>
      </p:sp>
      <p:sp>
        <p:nvSpPr>
          <p:cNvPr id="3" name="Org screenshot frame"/>
          <p:cNvSpPr/>
          <p:nvPr/>
        </p:nvSpPr>
        <p:spPr>
          <a:xfrm>
            <a:off x="512064" y="1243584"/>
            <a:ext cx="5148072" cy="391058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Org screenshot" descr="Salesforce trial org with seeded demo rec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074920" cy="3837430"/>
          </a:xfrm>
          <a:prstGeom prst="rect">
            <a:avLst/>
          </a:prstGeom>
        </p:spPr>
      </p:pic>
      <p:sp>
        <p:nvSpPr>
          <p:cNvPr id="5" name="Org caption"/>
          <p:cNvSpPr txBox="1"/>
          <p:nvPr/>
        </p:nvSpPr>
        <p:spPr>
          <a:xfrm>
            <a:off x="548640" y="56692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Salesforce trial org: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seed.py loaded 40 [Demo] deals through real stage changes to simulate a client's CRM.</a:t>
            </a:r>
            <a:endParaRPr lang="en-US" sz="1400" dirty="0"/>
          </a:p>
        </p:txBody>
      </p:sp>
      <p:sp>
        <p:nvSpPr>
          <p:cNvPr id="6" name="Code panel"/>
          <p:cNvSpPr/>
          <p:nvPr/>
        </p:nvSpPr>
        <p:spPr>
          <a:xfrm>
            <a:off x="5897880" y="1280160"/>
            <a:ext cx="5715000" cy="42976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/>
        </p:spPr>
      </p:sp>
      <p:sp>
        <p:nvSpPr>
          <p:cNvPr id="7" name="Code panel dot 1"/>
          <p:cNvSpPr/>
          <p:nvPr/>
        </p:nvSpPr>
        <p:spPr>
          <a:xfrm>
            <a:off x="6080760" y="1417320"/>
            <a:ext cx="109728" cy="109728"/>
          </a:xfrm>
          <a:prstGeom prst="ellipse">
            <a:avLst/>
          </a:prstGeom>
          <a:solidFill>
            <a:srgbClr val="FE9339"/>
          </a:solidFill>
          <a:ln/>
        </p:spPr>
      </p:sp>
      <p:sp>
        <p:nvSpPr>
          <p:cNvPr id="8" name="Code panel dot 2"/>
          <p:cNvSpPr/>
          <p:nvPr/>
        </p:nvSpPr>
        <p:spPr>
          <a:xfrm>
            <a:off x="6263640" y="1417320"/>
            <a:ext cx="109728" cy="109728"/>
          </a:xfrm>
          <a:prstGeom prst="ellipse">
            <a:avLst/>
          </a:prstGeom>
          <a:solidFill>
            <a:srgbClr val="F6C344"/>
          </a:solidFill>
          <a:ln/>
        </p:spPr>
      </p:sp>
      <p:sp>
        <p:nvSpPr>
          <p:cNvPr id="9" name="Code panel dot 3"/>
          <p:cNvSpPr/>
          <p:nvPr/>
        </p:nvSpPr>
        <p:spPr>
          <a:xfrm>
            <a:off x="6446520" y="1417320"/>
            <a:ext cx="109728" cy="109728"/>
          </a:xfrm>
          <a:prstGeom prst="ellipse">
            <a:avLst/>
          </a:prstGeom>
          <a:solidFill>
            <a:srgbClr val="2E844A"/>
          </a:solidFill>
          <a:ln/>
        </p:spPr>
      </p:sp>
      <p:sp>
        <p:nvSpPr>
          <p:cNvPr id="10" name="Code panel filename"/>
          <p:cNvSpPr txBox="1"/>
          <p:nvPr/>
        </p:nvSpPr>
        <p:spPr>
          <a:xfrm>
            <a:off x="6675120" y="13533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pipeline/extract.py</a:t>
            </a:r>
            <a:endParaRPr lang="en-US" sz="1100" dirty="0"/>
          </a:p>
        </p:txBody>
      </p:sp>
      <p:sp>
        <p:nvSpPr>
          <p:cNvPr id="11" name="SOQL code"/>
          <p:cNvSpPr txBox="1"/>
          <p:nvPr/>
        </p:nvSpPr>
        <p:spPr>
          <a:xfrm>
            <a:off x="6080760" y="1664208"/>
            <a:ext cx="5440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QUERIES =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"opportunities"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Id, Name, Amount, StageName, IsWon, IsClosed,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LeadSource, CreatedDate, CloseDate, OwnerId, Owner.Name,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Account.Industry, Account.BillingCountry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Opportunity""",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"stage_history"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OpportunityId, StageName, CreatedDate,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CreatedById, CreatedBy.Name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OpportunityHistory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OpportunityId, CreatedDate""",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"tasks"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WhatId, Subject, CreatedDate, CompletedDateTime,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OwnerId, Owner.Name, Status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Task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What.Type =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'Opportunity'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""",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"leads"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Id, CreatedDate, ConvertedDate, ConvertedOpportunityId,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OwnerId, Owner.Name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Lead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IsConverted = true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ConvertedOpportunityId != null""",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Code caption"/>
          <p:cNvSpPr txBox="1"/>
          <p:nvPr/>
        </p:nvSpPr>
        <p:spPr>
          <a:xfrm>
            <a:off x="5897880" y="5669280"/>
            <a:ext cx="571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extract.py: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four SOQL queries over the REST API, signed by the Salesforce CLI session. Opportunity Id becomes the case ID.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Everything is live and open to inspect</a:t>
            </a:r>
            <a:endParaRPr lang="en-US" sz="3000" dirty="0"/>
          </a:p>
        </p:txBody>
      </p:sp>
      <p:sp>
        <p:nvSpPr>
          <p:cNvPr id="3" name="Proof 1"/>
          <p:cNvSpPr/>
          <p:nvPr/>
        </p:nvSpPr>
        <p:spPr>
          <a:xfrm>
            <a:off x="548640" y="1417320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4" name="Proof 1 marker"/>
          <p:cNvSpPr/>
          <p:nvPr/>
        </p:nvSpPr>
        <p:spPr>
          <a:xfrm>
            <a:off x="749808" y="169164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Proof 1 glyph"/>
          <p:cNvSpPr txBox="1"/>
          <p:nvPr/>
        </p:nvSpPr>
        <p:spPr>
          <a:xfrm>
            <a:off x="749808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6" name="Proof 1 label"/>
          <p:cNvSpPr txBox="1"/>
          <p:nvPr/>
        </p:nvSpPr>
        <p:spPr>
          <a:xfrm>
            <a:off x="1325880" y="154533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Process dashboard</a:t>
            </a:r>
            <a:endParaRPr lang="en-US" sz="1600" dirty="0"/>
          </a:p>
        </p:txBody>
      </p:sp>
      <p:sp>
        <p:nvSpPr>
          <p:cNvPr id="7" name="Proof 1 link"/>
          <p:cNvSpPr txBox="1"/>
          <p:nvPr/>
        </p:nvSpPr>
        <p:spPr>
          <a:xfrm>
            <a:off x="1325880" y="19110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</a:t>
            </a:r>
            <a:endParaRPr lang="en-US" sz="1400" dirty="0"/>
          </a:p>
        </p:txBody>
      </p:sp>
      <p:sp>
        <p:nvSpPr>
          <p:cNvPr id="8" name="Proof 2"/>
          <p:cNvSpPr/>
          <p:nvPr/>
        </p:nvSpPr>
        <p:spPr>
          <a:xfrm>
            <a:off x="548640" y="2532888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9" name="Proof 2 marker"/>
          <p:cNvSpPr/>
          <p:nvPr/>
        </p:nvSpPr>
        <p:spPr>
          <a:xfrm>
            <a:off x="749808" y="280720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roof 2 glyph"/>
          <p:cNvSpPr txBox="1"/>
          <p:nvPr/>
        </p:nvSpPr>
        <p:spPr>
          <a:xfrm>
            <a:off x="749808" y="2807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Proof 2 label"/>
          <p:cNvSpPr txBox="1"/>
          <p:nvPr/>
        </p:nvSpPr>
        <p:spPr>
          <a:xfrm>
            <a:off x="1325880" y="266090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Value case one-pager</a:t>
            </a:r>
            <a:endParaRPr lang="en-US" sz="1600" dirty="0"/>
          </a:p>
        </p:txBody>
      </p:sp>
      <p:sp>
        <p:nvSpPr>
          <p:cNvPr id="12" name="Proof 2 link"/>
          <p:cNvSpPr txBox="1"/>
          <p:nvPr/>
        </p:nvSpPr>
        <p:spPr>
          <a:xfrm>
            <a:off x="1325880" y="30266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salesforce-process-intelligence.vercel.app/value-case.html</a:t>
            </a:r>
            <a:endParaRPr lang="en-US" sz="1400" dirty="0"/>
          </a:p>
        </p:txBody>
      </p:sp>
      <p:sp>
        <p:nvSpPr>
          <p:cNvPr id="13" name="Proof 3"/>
          <p:cNvSpPr/>
          <p:nvPr/>
        </p:nvSpPr>
        <p:spPr>
          <a:xfrm>
            <a:off x="548640" y="3648456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4" name="Proof 3 marker"/>
          <p:cNvSpPr/>
          <p:nvPr/>
        </p:nvSpPr>
        <p:spPr>
          <a:xfrm>
            <a:off x="749808" y="3922776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roof 3 glyph"/>
          <p:cNvSpPr txBox="1"/>
          <p:nvPr/>
        </p:nvSpPr>
        <p:spPr>
          <a:xfrm>
            <a:off x="749808" y="39227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Proof 3 label"/>
          <p:cNvSpPr txBox="1"/>
          <p:nvPr/>
        </p:nvSpPr>
        <p:spPr>
          <a:xfrm>
            <a:off x="1325880" y="377647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Live Salesforce extract</a:t>
            </a:r>
            <a:endParaRPr lang="en-US" sz="1600" dirty="0"/>
          </a:p>
        </p:txBody>
      </p:sp>
      <p:sp>
        <p:nvSpPr>
          <p:cNvPr id="17" name="Proof 3 link"/>
          <p:cNvSpPr txBox="1"/>
          <p:nvPr/>
        </p:nvSpPr>
        <p:spPr>
          <a:xfrm>
            <a:off x="1325880" y="414223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salesforce-process-intelligence.vercel.app/live.html</a:t>
            </a:r>
            <a:endParaRPr lang="en-US" sz="1400" dirty="0"/>
          </a:p>
        </p:txBody>
      </p:sp>
      <p:sp>
        <p:nvSpPr>
          <p:cNvPr id="18" name="Proof 4"/>
          <p:cNvSpPr/>
          <p:nvPr/>
        </p:nvSpPr>
        <p:spPr>
          <a:xfrm>
            <a:off x="548640" y="4764024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9" name="Proof 4 marker"/>
          <p:cNvSpPr/>
          <p:nvPr/>
        </p:nvSpPr>
        <p:spPr>
          <a:xfrm>
            <a:off x="749808" y="5038344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roof 4 glyph"/>
          <p:cNvSpPr txBox="1"/>
          <p:nvPr/>
        </p:nvSpPr>
        <p:spPr>
          <a:xfrm>
            <a:off x="749808" y="5038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Proof 4 label"/>
          <p:cNvSpPr txBox="1"/>
          <p:nvPr/>
        </p:nvSpPr>
        <p:spPr>
          <a:xfrm>
            <a:off x="1325880" y="48920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Source code and event logs</a:t>
            </a:r>
            <a:endParaRPr lang="en-US" sz="1600" dirty="0"/>
          </a:p>
        </p:txBody>
      </p:sp>
      <p:sp>
        <p:nvSpPr>
          <p:cNvPr id="22" name="Proof 4 link"/>
          <p:cNvSpPr txBox="1"/>
          <p:nvPr/>
        </p:nvSpPr>
        <p:spPr>
          <a:xfrm>
            <a:off x="1325880" y="525780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github.com/ch-lukas/salesforce-process-intelligence</a:t>
            </a:r>
            <a:endParaRPr lang="en-US" sz="1400" dirty="0"/>
          </a:p>
        </p:txBody>
      </p:sp>
      <p:sp>
        <p:nvSpPr>
          <p:cNvPr id="23" name="Screenshot frame"/>
          <p:cNvSpPr/>
          <p:nvPr/>
        </p:nvSpPr>
        <p:spPr>
          <a:xfrm>
            <a:off x="6903720" y="1371600"/>
            <a:ext cx="4802925" cy="4434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4" name="Value case screenshot" descr="Value case one-pager on the hosted si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417320"/>
            <a:ext cx="4711485" cy="4343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9326880" y="4023360"/>
            <a:ext cx="4937760" cy="493776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Turning the finding into a decision</a:t>
            </a:r>
            <a:endParaRPr lang="en-US" sz="3600" dirty="0"/>
          </a:p>
        </p:txBody>
      </p:sp>
      <p:sp>
        <p:nvSpPr>
          <p:cNvPr id="4" name="Next 1 card"/>
          <p:cNvSpPr/>
          <p:nvPr/>
        </p:nvSpPr>
        <p:spPr>
          <a:xfrm>
            <a:off x="73152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5" name="Next 1 heading"/>
          <p:cNvSpPr txBox="1"/>
          <p:nvPr/>
        </p:nvSpPr>
        <p:spPr>
          <a:xfrm>
            <a:off x="100584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Validate</a:t>
            </a:r>
            <a:endParaRPr lang="en-US" sz="2200" dirty="0"/>
          </a:p>
        </p:txBody>
      </p:sp>
      <p:sp>
        <p:nvSpPr>
          <p:cNvPr id="6" name="Next 1 body"/>
          <p:cNvSpPr txBox="1"/>
          <p:nvPr/>
        </p:nvSpPr>
        <p:spPr>
          <a:xfrm>
            <a:off x="100584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Run the same extract on the production org and confirm approval waits and re-quote rates with RevOps.</a:t>
            </a:r>
            <a:endParaRPr lang="en-US" sz="1600" dirty="0"/>
          </a:p>
        </p:txBody>
      </p:sp>
      <p:sp>
        <p:nvSpPr>
          <p:cNvPr id="7" name="Next 2 card"/>
          <p:cNvSpPr/>
          <p:nvPr/>
        </p:nvSpPr>
        <p:spPr>
          <a:xfrm>
            <a:off x="434340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8" name="Next 2 heading"/>
          <p:cNvSpPr txBox="1"/>
          <p:nvPr/>
        </p:nvSpPr>
        <p:spPr>
          <a:xfrm>
            <a:off x="461772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Act</a:t>
            </a:r>
            <a:endParaRPr lang="en-US" sz="2200" dirty="0"/>
          </a:p>
        </p:txBody>
      </p:sp>
      <p:sp>
        <p:nvSpPr>
          <p:cNvPr id="9" name="Next 2 body"/>
          <p:cNvSpPr txBox="1"/>
          <p:nvPr/>
        </p:nvSpPr>
        <p:spPr>
          <a:xfrm>
            <a:off x="461772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Pilot a delegated approval threshold for EMEA discounts up to 30% and make Qualification a required gate.</a:t>
            </a:r>
            <a:endParaRPr lang="en-US" sz="1600" dirty="0"/>
          </a:p>
        </p:txBody>
      </p:sp>
      <p:sp>
        <p:nvSpPr>
          <p:cNvPr id="10" name="Next 3 card"/>
          <p:cNvSpPr/>
          <p:nvPr/>
        </p:nvSpPr>
        <p:spPr>
          <a:xfrm>
            <a:off x="795528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1" name="Next 3 heading"/>
          <p:cNvSpPr txBox="1"/>
          <p:nvPr/>
        </p:nvSpPr>
        <p:spPr>
          <a:xfrm>
            <a:off x="822960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Monitor</a:t>
            </a:r>
            <a:endParaRPr lang="en-US" sz="2200" dirty="0"/>
          </a:p>
        </p:txBody>
      </p:sp>
      <p:sp>
        <p:nvSpPr>
          <p:cNvPr id="12" name="Next 3 body"/>
          <p:cNvSpPr txBox="1"/>
          <p:nvPr/>
        </p:nvSpPr>
        <p:spPr>
          <a:xfrm>
            <a:off x="822960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Schedule the extract into Apromore, track the KPIs against target and report value realised quarterly.</a:t>
            </a:r>
            <a:endParaRPr lang="en-US" sz="1600" dirty="0"/>
          </a:p>
        </p:txBody>
      </p:sp>
      <p:sp>
        <p:nvSpPr>
          <p:cNvPr id="13" name="Closing contact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salesforce-process-intelligence.vercel.app  ·  Luke Audie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Salesforce data to a framed value case</dc:title>
  <dc:subject>PptxGenJS Presentation</dc:subject>
  <dc:creator>Luke Audie</dc:creator>
  <cp:lastModifiedBy>Luke Audie</cp:lastModifiedBy>
  <cp:revision>1</cp:revision>
  <dcterms:created xsi:type="dcterms:W3CDTF">2026-10-14T18:51:34Z</dcterms:created>
  <dcterms:modified xsi:type="dcterms:W3CDTF">2026-10-14T18:51:34Z</dcterms:modified>
</cp:coreProperties>
</file>