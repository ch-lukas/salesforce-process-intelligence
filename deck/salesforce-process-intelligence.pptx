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af4691f-0fb7-5226-cb0f-abc31c1d42be}">
          <p14:sldIdLst>
            <p14:sldId id="256"/>
            <p14:sldId id="257"/>
            <p14:sldId id="258"/>
          </p14:sldIdLst>
        </p14:section>
        <p14:section name="Evidence" id="{6a977af7-a138-5416-9f5c-76d5c5006097}">
          <p14:sldIdLst>
            <p14:sldId id="259"/>
            <p14:sldId id="260"/>
          </p14:sldIdLst>
        </p14:section>
        <p14:section name="Value" id="{c6c7a964-23e0-d62a-86f8-93ff3444f8b3}">
          <p14:sldIdLst>
            <p14:sldId id="261"/>
            <p14:sldId id="262"/>
          </p14:sldIdLst>
        </p14:section>
        <p14:section name="Close" id="{2a813b7d-90a6-c94b-08ac-296adb9b232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Framed value isn't committed value. Today's work stops at Frame on purpose: the numbers are evidence-backed but the improvement assumption belongs to the opportunity owner. Commit means signing off KPI definitions and values together; Realize means tracking the KPI against the baseline on a fixed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view first, then one deep-dive. Framed values come straight from the data; Committed stays TBD until the owner signs off the KPI definition and the improvement assumption. Numbers on the grid match the table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/dashboard.html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Approach: from finding value to realising it</a:t>
            </a:r>
            <a:endParaRPr lang="en-US" sz="3000" dirty="0"/>
          </a:p>
        </p:txBody>
      </p:sp>
      <p:sp>
        <p:nvSpPr>
          <p:cNvPr id="3" name="Stage 1 card"/>
          <p:cNvSpPr/>
          <p:nvPr/>
        </p:nvSpPr>
        <p:spPr>
          <a:xfrm>
            <a:off x="54864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Stage 1 marker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age 1 number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age 1 title"/>
          <p:cNvSpPr txBox="1"/>
          <p:nvPr/>
        </p:nvSpPr>
        <p:spPr>
          <a:xfrm>
            <a:off x="77724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Identify</a:t>
            </a:r>
            <a:endParaRPr lang="en-US" sz="2200" dirty="0"/>
          </a:p>
        </p:txBody>
      </p:sp>
      <p:sp>
        <p:nvSpPr>
          <p:cNvPr id="7" name="Stage 1 body"/>
          <p:cNvSpPr txBox="1"/>
          <p:nvPr/>
        </p:nvSpPr>
        <p:spPr>
          <a:xfrm>
            <a:off x="77724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Mine the CRM event log: process map, variants and bottlenecks.</a:t>
            </a:r>
            <a:endParaRPr lang="en-US" sz="1400" dirty="0"/>
          </a:p>
        </p:txBody>
      </p:sp>
      <p:sp>
        <p:nvSpPr>
          <p:cNvPr id="8" name="Stage 1 output"/>
          <p:cNvSpPr txBox="1"/>
          <p:nvPr/>
        </p:nvSpPr>
        <p:spPr>
          <a:xfrm>
            <a:off x="77724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 opportunities found</a:t>
            </a:r>
            <a:endParaRPr lang="en-US" sz="1300" dirty="0"/>
          </a:p>
        </p:txBody>
      </p:sp>
      <p:sp>
        <p:nvSpPr>
          <p:cNvPr id="9" name="Stage 1 arrow"/>
          <p:cNvSpPr/>
          <p:nvPr/>
        </p:nvSpPr>
        <p:spPr>
          <a:xfrm>
            <a:off x="318211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age 2 card"/>
          <p:cNvSpPr/>
          <p:nvPr/>
        </p:nvSpPr>
        <p:spPr>
          <a:xfrm>
            <a:off x="338328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1" name="Stage 2 marker"/>
          <p:cNvSpPr/>
          <p:nvPr/>
        </p:nvSpPr>
        <p:spPr>
          <a:xfrm>
            <a:off x="361188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age 2 number"/>
          <p:cNvSpPr txBox="1"/>
          <p:nvPr/>
        </p:nvSpPr>
        <p:spPr>
          <a:xfrm>
            <a:off x="36118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age 2 title"/>
          <p:cNvSpPr txBox="1"/>
          <p:nvPr/>
        </p:nvSpPr>
        <p:spPr>
          <a:xfrm>
            <a:off x="361188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Frame</a:t>
            </a:r>
            <a:endParaRPr lang="en-US" sz="2200" dirty="0"/>
          </a:p>
        </p:txBody>
      </p:sp>
      <p:sp>
        <p:nvSpPr>
          <p:cNvPr id="14" name="Stage 2 body"/>
          <p:cNvSpPr txBox="1"/>
          <p:nvPr/>
        </p:nvSpPr>
        <p:spPr>
          <a:xfrm>
            <a:off x="361188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Size each opportunity from its KPI baseline and customer-owned assumptions.</a:t>
            </a:r>
            <a:endParaRPr lang="en-US" sz="1400" dirty="0"/>
          </a:p>
        </p:txBody>
      </p:sp>
      <p:sp>
        <p:nvSpPr>
          <p:cNvPr id="15" name="Stage 2 output"/>
          <p:cNvSpPr txBox="1"/>
          <p:nvPr/>
        </p:nvSpPr>
        <p:spPr>
          <a:xfrm>
            <a:off x="361188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$2.8M framed</a:t>
            </a:r>
            <a:endParaRPr lang="en-US" sz="1300" dirty="0"/>
          </a:p>
        </p:txBody>
      </p:sp>
      <p:sp>
        <p:nvSpPr>
          <p:cNvPr id="16" name="Stage 2 arrow"/>
          <p:cNvSpPr/>
          <p:nvPr/>
        </p:nvSpPr>
        <p:spPr>
          <a:xfrm>
            <a:off x="601675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age 3 card"/>
          <p:cNvSpPr/>
          <p:nvPr/>
        </p:nvSpPr>
        <p:spPr>
          <a:xfrm>
            <a:off x="621792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8" name="Stage 3 marker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Stage 3 number"/>
          <p:cNvSpPr txBox="1"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Stage 3 title"/>
          <p:cNvSpPr txBox="1"/>
          <p:nvPr/>
        </p:nvSpPr>
        <p:spPr>
          <a:xfrm>
            <a:off x="644652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Commit</a:t>
            </a:r>
            <a:endParaRPr lang="en-US" sz="2200" dirty="0"/>
          </a:p>
        </p:txBody>
      </p:sp>
      <p:sp>
        <p:nvSpPr>
          <p:cNvPr id="21" name="Stage 3 body"/>
          <p:cNvSpPr txBox="1"/>
          <p:nvPr/>
        </p:nvSpPr>
        <p:spPr>
          <a:xfrm>
            <a:off x="644652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Validate KPI definitions and values with each opportunity owner.</a:t>
            </a:r>
            <a:endParaRPr lang="en-US" sz="1400" dirty="0"/>
          </a:p>
        </p:txBody>
      </p:sp>
      <p:sp>
        <p:nvSpPr>
          <p:cNvPr id="22" name="Stage 3 output"/>
          <p:cNvSpPr txBox="1"/>
          <p:nvPr/>
        </p:nvSpPr>
        <p:spPr>
          <a:xfrm>
            <a:off x="644652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Signed-off committed value</a:t>
            </a:r>
            <a:endParaRPr lang="en-US" sz="1300" dirty="0"/>
          </a:p>
        </p:txBody>
      </p:sp>
      <p:sp>
        <p:nvSpPr>
          <p:cNvPr id="23" name="Stage 3 arrow"/>
          <p:cNvSpPr/>
          <p:nvPr/>
        </p:nvSpPr>
        <p:spPr>
          <a:xfrm>
            <a:off x="885139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age 4 card"/>
          <p:cNvSpPr/>
          <p:nvPr/>
        </p:nvSpPr>
        <p:spPr>
          <a:xfrm>
            <a:off x="905256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5" name="Stage 4 marker"/>
          <p:cNvSpPr/>
          <p:nvPr/>
        </p:nvSpPr>
        <p:spPr>
          <a:xfrm>
            <a:off x="928116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Stage 4 number"/>
          <p:cNvSpPr txBox="1"/>
          <p:nvPr/>
        </p:nvSpPr>
        <p:spPr>
          <a:xfrm>
            <a:off x="92811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Stage 4 title"/>
          <p:cNvSpPr txBox="1"/>
          <p:nvPr/>
        </p:nvSpPr>
        <p:spPr>
          <a:xfrm>
            <a:off x="928116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Realize</a:t>
            </a:r>
            <a:endParaRPr lang="en-US" sz="2200" dirty="0"/>
          </a:p>
        </p:txBody>
      </p:sp>
      <p:sp>
        <p:nvSpPr>
          <p:cNvPr id="28" name="Stage 4 body"/>
          <p:cNvSpPr txBox="1"/>
          <p:nvPr/>
        </p:nvSpPr>
        <p:spPr>
          <a:xfrm>
            <a:off x="928116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Act on the root cause, then track the KPI against its baseline.</a:t>
            </a:r>
            <a:endParaRPr lang="en-US" sz="1400" dirty="0"/>
          </a:p>
        </p:txBody>
      </p:sp>
      <p:sp>
        <p:nvSpPr>
          <p:cNvPr id="29" name="Stage 4 output"/>
          <p:cNvSpPr txBox="1"/>
          <p:nvPr/>
        </p:nvSpPr>
        <p:spPr>
          <a:xfrm>
            <a:off x="928116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Value realised, reported quarterly</a:t>
            </a:r>
            <a:endParaRPr lang="en-US" sz="1300" dirty="0"/>
          </a:p>
        </p:txBody>
      </p:sp>
      <p:sp>
        <p:nvSpPr>
          <p:cNvPr id="30" name="Today pill"/>
          <p:cNvSpPr/>
          <p:nvPr/>
        </p:nvSpPr>
        <p:spPr>
          <a:xfrm>
            <a:off x="4160520" y="1261872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Today label"/>
          <p:cNvSpPr txBox="1"/>
          <p:nvPr/>
        </p:nvSpPr>
        <p:spPr>
          <a:xfrm>
            <a:off x="4160520" y="1261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Today</a:t>
            </a:r>
            <a:endParaRPr lang="en-US" sz="1300" dirty="0"/>
          </a:p>
        </p:txBody>
      </p:sp>
      <p:sp>
        <p:nvSpPr>
          <p:cNvPr id="32" name="Approach note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This demo covers Identify and Frame on Salesforce data. Commit and Realize run with the customer's process owners.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371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560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3749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3749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489204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Dashboard link"/>
          <p:cNvSpPr/>
          <p:nvPr/>
        </p:nvSpPr>
        <p:spPr>
          <a:xfrm>
            <a:off x="548640" y="5486400"/>
            <a:ext cx="6309360" cy="54864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9050">
            <a:solidFill>
              <a:schemeClr val="accent1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00000"/>
                </a:solidFill>
                <a:hlinkClick r:id="rId1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process map  →</a:t>
            </a:r>
            <a:endParaRPr lang="en-US" sz="1400" dirty="0"/>
          </a:p>
        </p:txBody>
      </p:sp>
      <p:sp>
        <p:nvSpPr>
          <p:cNvPr id="11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Process map" descr="Process map from the hosted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case overview: three opportunities, one deep-dive</a:t>
            </a:r>
            <a:endParaRPr lang="en-US" sz="3000" dirty="0"/>
          </a:p>
        </p:txBody>
      </p:sp>
      <p:graphicFrame>
        <p:nvGraphicFramePr>
          <p:cNvPr id="7" name="Business ca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697480"/>
                <a:gridCol w="1737360"/>
                <a:gridCol w="1188720"/>
                <a:gridCol w="1097280"/>
                <a:gridCol w="1325880"/>
                <a:gridCol w="11430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Opportunity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Owner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to value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Framed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Committed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Realized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Accelerate revenue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 EMEA discount approvals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Deal desk lead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$213k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Improve win rate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  Re-quotes (deep-dive)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VP Revenue Ops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$1.3M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productivity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 Skipped qualification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operations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$1.3M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$2.8M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548640" y="3730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Framed = full gap sized from Salesforce data. Committed is agreed with each owner after validation; realized is tracked against the baseline.</a:t>
            </a:r>
            <a:endParaRPr lang="en-US" sz="1200" dirty="0"/>
          </a:p>
        </p:txBody>
      </p:sp>
      <p:sp>
        <p:nvSpPr>
          <p:cNvPr id="5" name="Priority grid"/>
          <p:cNvSpPr/>
          <p:nvPr/>
        </p:nvSpPr>
        <p:spPr>
          <a:xfrm>
            <a:off x="548640" y="4160520"/>
            <a:ext cx="493776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6" name="Grid vertical"/>
          <p:cNvSpPr/>
          <p:nvPr/>
        </p:nvSpPr>
        <p:spPr>
          <a:xfrm>
            <a:off x="3017520" y="4297680"/>
            <a:ext cx="0" cy="160020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Grid horizontal"/>
          <p:cNvSpPr/>
          <p:nvPr/>
        </p:nvSpPr>
        <p:spPr>
          <a:xfrm>
            <a:off x="685800" y="5097780"/>
            <a:ext cx="4663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8" name="Grid quick wins"/>
          <p:cNvSpPr txBox="1"/>
          <p:nvPr/>
        </p:nvSpPr>
        <p:spPr>
          <a:xfrm>
            <a:off x="68580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Quick wins</a:t>
            </a:r>
            <a:endParaRPr lang="en-US" sz="1100" dirty="0"/>
          </a:p>
        </p:txBody>
      </p:sp>
      <p:sp>
        <p:nvSpPr>
          <p:cNvPr id="9" name="Grid strategic"/>
          <p:cNvSpPr txBox="1"/>
          <p:nvPr/>
        </p:nvSpPr>
        <p:spPr>
          <a:xfrm>
            <a:off x="315468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Strategic</a:t>
            </a:r>
            <a:endParaRPr lang="en-US" sz="1100" dirty="0"/>
          </a:p>
        </p:txBody>
      </p:sp>
      <p:sp>
        <p:nvSpPr>
          <p:cNvPr id="10" name="Grid x axis"/>
          <p:cNvSpPr txBox="1"/>
          <p:nvPr/>
        </p:nvSpPr>
        <p:spPr>
          <a:xfrm>
            <a:off x="548640" y="6053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Faster  ←  time to value  →  slower</a:t>
            </a:r>
            <a:endParaRPr lang="en-US" sz="1100" dirty="0"/>
          </a:p>
        </p:txBody>
      </p:sp>
      <p:sp>
        <p:nvSpPr>
          <p:cNvPr id="11" name="Grid y axis"/>
          <p:cNvSpPr txBox="1"/>
          <p:nvPr/>
        </p:nvSpPr>
        <p:spPr>
          <a:xfrm>
            <a:off x="557784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Higher value ↑</a:t>
            </a:r>
            <a:endParaRPr lang="en-US" sz="1100" dirty="0"/>
          </a:p>
        </p:txBody>
      </p:sp>
      <p:sp>
        <p:nvSpPr>
          <p:cNvPr id="12" name="Grid dot 1"/>
          <p:cNvSpPr/>
          <p:nvPr/>
        </p:nvSpPr>
        <p:spPr>
          <a:xfrm>
            <a:off x="1591056" y="556641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Grid dot 1 label"/>
          <p:cNvSpPr txBox="1"/>
          <p:nvPr/>
        </p:nvSpPr>
        <p:spPr>
          <a:xfrm>
            <a:off x="1591056" y="55664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Grid dot 2"/>
          <p:cNvSpPr/>
          <p:nvPr/>
        </p:nvSpPr>
        <p:spPr>
          <a:xfrm>
            <a:off x="3875227" y="457291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Grid dot 2 label"/>
          <p:cNvSpPr txBox="1"/>
          <p:nvPr/>
        </p:nvSpPr>
        <p:spPr>
          <a:xfrm>
            <a:off x="3875227" y="45729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Grid dot 3"/>
          <p:cNvSpPr/>
          <p:nvPr/>
        </p:nvSpPr>
        <p:spPr>
          <a:xfrm>
            <a:off x="1837944" y="462915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Grid dot 3 label"/>
          <p:cNvSpPr txBox="1"/>
          <p:nvPr/>
        </p:nvSpPr>
        <p:spPr>
          <a:xfrm>
            <a:off x="1837944" y="46291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Priority rationale"/>
          <p:cNvSpPr txBox="1"/>
          <p:nvPr/>
        </p:nvSpPr>
        <p:spPr>
          <a:xfrm>
            <a:off x="6949440" y="4160520"/>
            <a:ext cx="4663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Why re-quotes first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Largest framed value, visible directly in OpportunityHistory, and a clear owner in RevOps.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Quick wins run alongside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Delegated EMEA approvals (1) and a required Qualification gate (3) are policy changes, not projects.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2026-10-14T19:45:13Z</dcterms:created>
  <dcterms:modified xsi:type="dcterms:W3CDTF">2026-10-14T19:45:13Z</dcterms:modified>
</cp:coreProperties>
</file>