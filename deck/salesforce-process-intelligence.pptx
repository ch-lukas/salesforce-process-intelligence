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5783a8d-0375-479f-66a9-711c76928298}">
          <p14:sldIdLst>
            <p14:sldId id="256"/>
            <p14:sldId id="257"/>
            <p14:sldId id="258"/>
          </p14:sldIdLst>
        </p14:section>
        <p14:section name="Evidence" id="{745848bb-1833-4927-b61a-18bd3a33a0ee}">
          <p14:sldIdLst>
            <p14:sldId id="259"/>
            <p14:sldId id="260"/>
          </p14:sldIdLst>
        </p14:section>
        <p14:section name="Value" id="{917a4510-0ac2-e60e-6387-7cd41e3296ba}">
          <p14:sldIdLst>
            <p14:sldId id="261"/>
            <p14:sldId id="262"/>
          </p14:sldIdLst>
        </p14:section>
        <p14:section name="Close" id="{94860cf0-d90a-442e-6da5-05e8683e92f1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Median approval wait (days)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approval wait (days)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AMER</c:v>
                  </c:pt>
                  <c:pt idx="1">
                    <c:v>APAC</c:v>
                  </c:pt>
                  <c:pt idx="2">
                    <c:v>EMEA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1.2</c:v>
                </c:pt>
                <c:pt idx="1">
                  <c:v>1.5</c:v>
                </c:pt>
                <c:pt idx="2">
                  <c:v>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of negotiated deals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of negotiated deals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Clean path</c:v>
                  </c:pt>
                  <c:pt idx="1">
                    <c:v>Re-quoted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0.49</c:v>
                </c:pt>
                <c:pt idx="1">
                  <c:v>0.31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by qualification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by qualification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Qualified</c:v>
                  </c:pt>
                  <c:pt idx="1">
                    <c:v>Skipped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0.39</c:v>
                </c:pt>
                <c:pt idx="1">
                  <c:v>0.18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wanted to show how I'd open with a Salesforce-heavy prospect: start from their own CRM data, find where the process leaks, and turn it into a number the CRO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number, then the three findings. Everything after this slide is how I got there and how you would check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Framed value isn't committed value. Today's work stops at Frame on purpose: the numbers are evidence-backed but the improvement assumption belongs to the opportunity owner. Commit means signing off KPI definitions and values together; Realize means tracking the KPI against the baseline on a fixed cadence.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directly-follows map from the hosted dashboard. Fourteen percent conformance is the hook: the CRM shows the stage, process mining shows the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Orange marks the problem cohort in each chart. Win-rate gaps compare like with like, for example only deals that reached Negotiation for re-quotes.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Portfolio view first, then one deep-dive. Framed values come straight from the data; Committed stays TBD until the owner signs off the KPI definition and the improvement assumption. Numbers on the grid match the table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follows my value framing format: challenge, root cause, solution, then a multiplicative value chain. The customer owns the improvement assumption; we own the evidence. Root cause is labelled 'to capture' because it needs reason codes the CRM doesn't hold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decision: validate on production data, pilot one policy change, then monitor value realised in Apromore.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Salesforce → event log → process mining → value case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From Salesforce data to a framed value case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Lead-to-close process intelligence: a working demo build</a:t>
            </a:r>
            <a:endParaRPr lang="en-US" sz="2000" dirty="0"/>
          </a:p>
        </p:txBody>
      </p:sp>
      <p:sp>
        <p:nvSpPr>
          <p:cNvPr id="6" name="Byline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Luke Audie  · 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answer first: three process fixes worth $1.4M a year</a:t>
            </a:r>
            <a:endParaRPr lang="en-US" sz="3000" dirty="0"/>
          </a:p>
        </p:txBody>
      </p:sp>
      <p:sp>
        <p:nvSpPr>
          <p:cNvPr id="3" name="Headline value"/>
          <p:cNvSpPr txBox="1"/>
          <p:nvPr/>
        </p:nvSpPr>
        <p:spPr>
          <a:xfrm>
            <a:off x="548640" y="14173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$1.4M</a:t>
            </a:r>
            <a:endParaRPr lang="en-US" sz="7200" dirty="0"/>
          </a:p>
        </p:txBody>
      </p:sp>
      <p:sp>
        <p:nvSpPr>
          <p:cNvPr id="4" name="Headline caption"/>
          <p:cNvSpPr txBox="1"/>
          <p:nvPr/>
        </p:nvSpPr>
        <p:spPr>
          <a:xfrm>
            <a:off x="548640" y="26974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Annual revenue upside if half of the gap is closed on three issues found in the CRM data. Full gap: $2.8M.</a:t>
            </a:r>
            <a:endParaRPr lang="en-US" sz="1600" dirty="0"/>
          </a:p>
        </p:txBody>
      </p:sp>
      <p:sp>
        <p:nvSpPr>
          <p:cNvPr id="5" name="Headline basis"/>
          <p:cNvSpPr txBox="1"/>
          <p:nvPr/>
        </p:nvSpPr>
        <p:spPr>
          <a:xfrm>
            <a:off x="5486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Sized from 800 opportunities over 10.4 months.</a:t>
            </a:r>
            <a:endParaRPr lang="en-US" sz="1400" dirty="0"/>
          </a:p>
        </p:txBody>
      </p:sp>
      <p:sp>
        <p:nvSpPr>
          <p:cNvPr id="6" name="Finding 1"/>
          <p:cNvSpPr/>
          <p:nvPr/>
        </p:nvSpPr>
        <p:spPr>
          <a:xfrm>
            <a:off x="6035040" y="137160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7" name="Finding 1 chip"/>
          <p:cNvSpPr/>
          <p:nvPr/>
        </p:nvSpPr>
        <p:spPr>
          <a:xfrm>
            <a:off x="6263640" y="150876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8" name="Finding 1 label"/>
          <p:cNvSpPr txBox="1"/>
          <p:nvPr/>
        </p:nvSpPr>
        <p:spPr>
          <a:xfrm>
            <a:off x="6263640" y="15087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Accelerate revenue</a:t>
            </a:r>
            <a:endParaRPr lang="en-US" sz="1200" dirty="0"/>
          </a:p>
        </p:txBody>
      </p:sp>
      <p:sp>
        <p:nvSpPr>
          <p:cNvPr id="9" name="Finding 1 text"/>
          <p:cNvSpPr txBox="1"/>
          <p:nvPr/>
        </p:nvSpPr>
        <p:spPr>
          <a:xfrm>
            <a:off x="6263640" y="188366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 discount approvals take 7.0 days vs 1.2 in the fastest region.</a:t>
            </a:r>
            <a:endParaRPr lang="en-US" sz="1400" dirty="0"/>
          </a:p>
        </p:txBody>
      </p:sp>
      <p:sp>
        <p:nvSpPr>
          <p:cNvPr id="10" name="Finding 2"/>
          <p:cNvSpPr/>
          <p:nvPr/>
        </p:nvSpPr>
        <p:spPr>
          <a:xfrm>
            <a:off x="6035040" y="256032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1" name="Finding 2 chip"/>
          <p:cNvSpPr/>
          <p:nvPr/>
        </p:nvSpPr>
        <p:spPr>
          <a:xfrm>
            <a:off x="6263640" y="269748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Finding 2 label"/>
          <p:cNvSpPr txBox="1"/>
          <p:nvPr/>
        </p:nvSpPr>
        <p:spPr>
          <a:xfrm>
            <a:off x="6263640" y="2697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Improve win rate</a:t>
            </a:r>
            <a:endParaRPr lang="en-US" sz="1200" dirty="0"/>
          </a:p>
        </p:txBody>
      </p:sp>
      <p:sp>
        <p:nvSpPr>
          <p:cNvPr id="13" name="Finding 2 text"/>
          <p:cNvSpPr txBox="1"/>
          <p:nvPr/>
        </p:nvSpPr>
        <p:spPr>
          <a:xfrm>
            <a:off x="6263640" y="30723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loop back for a re-quote; they win 31% vs 49%.</a:t>
            </a:r>
            <a:endParaRPr lang="en-US" sz="1400" dirty="0"/>
          </a:p>
        </p:txBody>
      </p:sp>
      <p:sp>
        <p:nvSpPr>
          <p:cNvPr id="14" name="Finding 3"/>
          <p:cNvSpPr/>
          <p:nvPr/>
        </p:nvSpPr>
        <p:spPr>
          <a:xfrm>
            <a:off x="6035040" y="374904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5" name="Finding 3 chip"/>
          <p:cNvSpPr/>
          <p:nvPr/>
        </p:nvSpPr>
        <p:spPr>
          <a:xfrm>
            <a:off x="6263640" y="388620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Finding 3 label"/>
          <p:cNvSpPr txBox="1"/>
          <p:nvPr/>
        </p:nvSpPr>
        <p:spPr>
          <a:xfrm>
            <a:off x="6263640" y="3886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Sales productivity</a:t>
            </a:r>
            <a:endParaRPr lang="en-US" sz="1200" dirty="0"/>
          </a:p>
        </p:txBody>
      </p:sp>
      <p:sp>
        <p:nvSpPr>
          <p:cNvPr id="17" name="Finding 3 text"/>
          <p:cNvSpPr txBox="1"/>
          <p:nvPr/>
        </p:nvSpPr>
        <p:spPr>
          <a:xfrm>
            <a:off x="6263640" y="426110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18% vs 39%.</a:t>
            </a:r>
            <a:endParaRPr lang="en-US" sz="1400" dirty="0"/>
          </a:p>
        </p:txBody>
      </p:sp>
      <p:sp>
        <p:nvSpPr>
          <p:cNvPr id="18" name="KPI 1"/>
          <p:cNvSpPr/>
          <p:nvPr/>
        </p:nvSpPr>
        <p:spPr>
          <a:xfrm>
            <a:off x="54864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19" name="KPI 1 value"/>
          <p:cNvSpPr txBox="1"/>
          <p:nvPr/>
        </p:nvSpPr>
        <p:spPr>
          <a:xfrm>
            <a:off x="73152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800</a:t>
            </a:r>
            <a:endParaRPr lang="en-US" sz="2800" dirty="0"/>
          </a:p>
        </p:txBody>
      </p:sp>
      <p:sp>
        <p:nvSpPr>
          <p:cNvPr id="20" name="KPI 1 label"/>
          <p:cNvSpPr txBox="1"/>
          <p:nvPr/>
        </p:nvSpPr>
        <p:spPr>
          <a:xfrm>
            <a:off x="73152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deals analysed</a:t>
            </a:r>
            <a:endParaRPr lang="en-US" sz="1200" dirty="0"/>
          </a:p>
        </p:txBody>
      </p:sp>
      <p:sp>
        <p:nvSpPr>
          <p:cNvPr id="21" name="KPI 2"/>
          <p:cNvSpPr/>
          <p:nvPr/>
        </p:nvSpPr>
        <p:spPr>
          <a:xfrm>
            <a:off x="278892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2" name="KPI 2 value"/>
          <p:cNvSpPr txBox="1"/>
          <p:nvPr/>
        </p:nvSpPr>
        <p:spPr>
          <a:xfrm>
            <a:off x="297180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37%</a:t>
            </a:r>
            <a:endParaRPr lang="en-US" sz="2800" dirty="0"/>
          </a:p>
        </p:txBody>
      </p:sp>
      <p:sp>
        <p:nvSpPr>
          <p:cNvPr id="23" name="KPI 2 label"/>
          <p:cNvSpPr txBox="1"/>
          <p:nvPr/>
        </p:nvSpPr>
        <p:spPr>
          <a:xfrm>
            <a:off x="297180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win rate</a:t>
            </a:r>
            <a:endParaRPr lang="en-US" sz="1200" dirty="0"/>
          </a:p>
        </p:txBody>
      </p:sp>
      <p:sp>
        <p:nvSpPr>
          <p:cNvPr id="24" name="KPI 3"/>
          <p:cNvSpPr/>
          <p:nvPr/>
        </p:nvSpPr>
        <p:spPr>
          <a:xfrm>
            <a:off x="502920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5" name="KPI 3 value"/>
          <p:cNvSpPr txBox="1"/>
          <p:nvPr/>
        </p:nvSpPr>
        <p:spPr>
          <a:xfrm>
            <a:off x="521208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33.9d</a:t>
            </a:r>
            <a:endParaRPr lang="en-US" sz="2800" dirty="0"/>
          </a:p>
        </p:txBody>
      </p:sp>
      <p:sp>
        <p:nvSpPr>
          <p:cNvPr id="26" name="KPI 3 label"/>
          <p:cNvSpPr txBox="1"/>
          <p:nvPr/>
        </p:nvSpPr>
        <p:spPr>
          <a:xfrm>
            <a:off x="521208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median cycle time</a:t>
            </a:r>
            <a:endParaRPr lang="en-US" sz="1200" dirty="0"/>
          </a:p>
        </p:txBody>
      </p:sp>
      <p:sp>
        <p:nvSpPr>
          <p:cNvPr id="27" name="KPI 4"/>
          <p:cNvSpPr/>
          <p:nvPr/>
        </p:nvSpPr>
        <p:spPr>
          <a:xfrm>
            <a:off x="726948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8" name="KPI 4 value"/>
          <p:cNvSpPr txBox="1"/>
          <p:nvPr/>
        </p:nvSpPr>
        <p:spPr>
          <a:xfrm>
            <a:off x="745236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67</a:t>
            </a:r>
            <a:endParaRPr lang="en-US" sz="2800" dirty="0"/>
          </a:p>
        </p:txBody>
      </p:sp>
      <p:sp>
        <p:nvSpPr>
          <p:cNvPr id="29" name="KPI 4 label"/>
          <p:cNvSpPr txBox="1"/>
          <p:nvPr/>
        </p:nvSpPr>
        <p:spPr>
          <a:xfrm>
            <a:off x="745236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distinct paths</a:t>
            </a:r>
            <a:endParaRPr lang="en-US" sz="1200" dirty="0"/>
          </a:p>
        </p:txBody>
      </p:sp>
      <p:sp>
        <p:nvSpPr>
          <p:cNvPr id="30" name="KPI 5"/>
          <p:cNvSpPr/>
          <p:nvPr/>
        </p:nvSpPr>
        <p:spPr>
          <a:xfrm>
            <a:off x="950976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31" name="KPI 5 value"/>
          <p:cNvSpPr txBox="1"/>
          <p:nvPr/>
        </p:nvSpPr>
        <p:spPr>
          <a:xfrm>
            <a:off x="969264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14%</a:t>
            </a:r>
            <a:endParaRPr lang="en-US" sz="2800" dirty="0"/>
          </a:p>
        </p:txBody>
      </p:sp>
      <p:sp>
        <p:nvSpPr>
          <p:cNvPr id="32" name="KPI 5 label"/>
          <p:cNvSpPr txBox="1"/>
          <p:nvPr/>
        </p:nvSpPr>
        <p:spPr>
          <a:xfrm>
            <a:off x="969264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follow the happy path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Approach: from finding value to realising it</a:t>
            </a:r>
            <a:endParaRPr lang="en-US" sz="3000" dirty="0"/>
          </a:p>
        </p:txBody>
      </p:sp>
      <p:sp>
        <p:nvSpPr>
          <p:cNvPr id="3" name="Stage 1 card"/>
          <p:cNvSpPr/>
          <p:nvPr/>
        </p:nvSpPr>
        <p:spPr>
          <a:xfrm>
            <a:off x="548640" y="1691640"/>
            <a:ext cx="2606040" cy="324612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Stage 1 marker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tage 1 number"/>
          <p:cNvSpPr txBox="1"/>
          <p:nvPr/>
        </p:nvSpPr>
        <p:spPr>
          <a:xfrm>
            <a:off x="777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Stage 1 title"/>
          <p:cNvSpPr txBox="1"/>
          <p:nvPr/>
        </p:nvSpPr>
        <p:spPr>
          <a:xfrm>
            <a:off x="77724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Identify</a:t>
            </a:r>
            <a:endParaRPr lang="en-US" sz="2200" dirty="0"/>
          </a:p>
        </p:txBody>
      </p:sp>
      <p:sp>
        <p:nvSpPr>
          <p:cNvPr id="7" name="Stage 1 body"/>
          <p:cNvSpPr txBox="1"/>
          <p:nvPr/>
        </p:nvSpPr>
        <p:spPr>
          <a:xfrm>
            <a:off x="777240" y="30632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Mine the CRM event log: process map, variants and bottlenecks.</a:t>
            </a:r>
            <a:endParaRPr lang="en-US" sz="1400" dirty="0"/>
          </a:p>
        </p:txBody>
      </p:sp>
      <p:sp>
        <p:nvSpPr>
          <p:cNvPr id="8" name="Stage 1 output"/>
          <p:cNvSpPr txBox="1"/>
          <p:nvPr/>
        </p:nvSpPr>
        <p:spPr>
          <a:xfrm>
            <a:off x="777240" y="42519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Output: </a:t>
            </a:r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3 opportunities found</a:t>
            </a:r>
            <a:endParaRPr lang="en-US" sz="1300" dirty="0"/>
          </a:p>
        </p:txBody>
      </p:sp>
      <p:sp>
        <p:nvSpPr>
          <p:cNvPr id="9" name="Stage 1 arrow"/>
          <p:cNvSpPr/>
          <p:nvPr/>
        </p:nvSpPr>
        <p:spPr>
          <a:xfrm>
            <a:off x="3182112" y="3154680"/>
            <a:ext cx="173736" cy="310896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0" name="Stage 2 card"/>
          <p:cNvSpPr/>
          <p:nvPr/>
        </p:nvSpPr>
        <p:spPr>
          <a:xfrm>
            <a:off x="3383280" y="1691640"/>
            <a:ext cx="2606040" cy="324612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1" name="Stage 2 marker"/>
          <p:cNvSpPr/>
          <p:nvPr/>
        </p:nvSpPr>
        <p:spPr>
          <a:xfrm>
            <a:off x="3611880" y="1920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Stage 2 number"/>
          <p:cNvSpPr txBox="1"/>
          <p:nvPr/>
        </p:nvSpPr>
        <p:spPr>
          <a:xfrm>
            <a:off x="36118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Stage 2 title"/>
          <p:cNvSpPr txBox="1"/>
          <p:nvPr/>
        </p:nvSpPr>
        <p:spPr>
          <a:xfrm>
            <a:off x="361188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Frame</a:t>
            </a:r>
            <a:endParaRPr lang="en-US" sz="2200" dirty="0"/>
          </a:p>
        </p:txBody>
      </p:sp>
      <p:sp>
        <p:nvSpPr>
          <p:cNvPr id="14" name="Stage 2 body"/>
          <p:cNvSpPr txBox="1"/>
          <p:nvPr/>
        </p:nvSpPr>
        <p:spPr>
          <a:xfrm>
            <a:off x="3611880" y="30632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Size each opportunity from its KPI baseline and customer-owned assumptions.</a:t>
            </a:r>
            <a:endParaRPr lang="en-US" sz="1400" dirty="0"/>
          </a:p>
        </p:txBody>
      </p:sp>
      <p:sp>
        <p:nvSpPr>
          <p:cNvPr id="15" name="Stage 2 output"/>
          <p:cNvSpPr txBox="1"/>
          <p:nvPr/>
        </p:nvSpPr>
        <p:spPr>
          <a:xfrm>
            <a:off x="3611880" y="42519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Output: </a:t>
            </a:r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$2.8M framed</a:t>
            </a:r>
            <a:endParaRPr lang="en-US" sz="1300" dirty="0"/>
          </a:p>
        </p:txBody>
      </p:sp>
      <p:sp>
        <p:nvSpPr>
          <p:cNvPr id="16" name="Stage 2 arrow"/>
          <p:cNvSpPr/>
          <p:nvPr/>
        </p:nvSpPr>
        <p:spPr>
          <a:xfrm>
            <a:off x="6016752" y="3154680"/>
            <a:ext cx="173736" cy="310896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7" name="Stage 3 card"/>
          <p:cNvSpPr/>
          <p:nvPr/>
        </p:nvSpPr>
        <p:spPr>
          <a:xfrm>
            <a:off x="6217920" y="1691640"/>
            <a:ext cx="2606040" cy="324612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8" name="Stage 3 marker"/>
          <p:cNvSpPr/>
          <p:nvPr/>
        </p:nvSpPr>
        <p:spPr>
          <a:xfrm>
            <a:off x="6446520" y="19202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9" name="Stage 3 number"/>
          <p:cNvSpPr txBox="1"/>
          <p:nvPr/>
        </p:nvSpPr>
        <p:spPr>
          <a:xfrm>
            <a:off x="6446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Stage 3 title"/>
          <p:cNvSpPr txBox="1"/>
          <p:nvPr/>
        </p:nvSpPr>
        <p:spPr>
          <a:xfrm>
            <a:off x="644652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Commit</a:t>
            </a:r>
            <a:endParaRPr lang="en-US" sz="2200" dirty="0"/>
          </a:p>
        </p:txBody>
      </p:sp>
      <p:sp>
        <p:nvSpPr>
          <p:cNvPr id="21" name="Stage 3 body"/>
          <p:cNvSpPr txBox="1"/>
          <p:nvPr/>
        </p:nvSpPr>
        <p:spPr>
          <a:xfrm>
            <a:off x="6446520" y="30632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Validate KPI definitions and values with each opportunity owner.</a:t>
            </a:r>
            <a:endParaRPr lang="en-US" sz="1400" dirty="0"/>
          </a:p>
        </p:txBody>
      </p:sp>
      <p:sp>
        <p:nvSpPr>
          <p:cNvPr id="22" name="Stage 3 output"/>
          <p:cNvSpPr txBox="1"/>
          <p:nvPr/>
        </p:nvSpPr>
        <p:spPr>
          <a:xfrm>
            <a:off x="6446520" y="42519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Output: 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Signed-off committed value</a:t>
            </a:r>
            <a:endParaRPr lang="en-US" sz="1300" dirty="0"/>
          </a:p>
        </p:txBody>
      </p:sp>
      <p:sp>
        <p:nvSpPr>
          <p:cNvPr id="23" name="Stage 3 arrow"/>
          <p:cNvSpPr/>
          <p:nvPr/>
        </p:nvSpPr>
        <p:spPr>
          <a:xfrm>
            <a:off x="8851392" y="3154680"/>
            <a:ext cx="173736" cy="310896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4" name="Stage 4 card"/>
          <p:cNvSpPr/>
          <p:nvPr/>
        </p:nvSpPr>
        <p:spPr>
          <a:xfrm>
            <a:off x="9052560" y="1691640"/>
            <a:ext cx="2606040" cy="324612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5" name="Stage 4 marker"/>
          <p:cNvSpPr/>
          <p:nvPr/>
        </p:nvSpPr>
        <p:spPr>
          <a:xfrm>
            <a:off x="9281160" y="19202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6" name="Stage 4 number"/>
          <p:cNvSpPr txBox="1"/>
          <p:nvPr/>
        </p:nvSpPr>
        <p:spPr>
          <a:xfrm>
            <a:off x="928116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endParaRPr lang="en-US" sz="1600" dirty="0"/>
          </a:p>
        </p:txBody>
      </p:sp>
      <p:sp>
        <p:nvSpPr>
          <p:cNvPr id="27" name="Stage 4 title"/>
          <p:cNvSpPr txBox="1"/>
          <p:nvPr/>
        </p:nvSpPr>
        <p:spPr>
          <a:xfrm>
            <a:off x="928116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Realize</a:t>
            </a:r>
            <a:endParaRPr lang="en-US" sz="2200" dirty="0"/>
          </a:p>
        </p:txBody>
      </p:sp>
      <p:sp>
        <p:nvSpPr>
          <p:cNvPr id="28" name="Stage 4 body"/>
          <p:cNvSpPr txBox="1"/>
          <p:nvPr/>
        </p:nvSpPr>
        <p:spPr>
          <a:xfrm>
            <a:off x="9281160" y="30632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Act on the root cause, then track the KPI against its baseline.</a:t>
            </a:r>
            <a:endParaRPr lang="en-US" sz="1400" dirty="0"/>
          </a:p>
        </p:txBody>
      </p:sp>
      <p:sp>
        <p:nvSpPr>
          <p:cNvPr id="29" name="Stage 4 output"/>
          <p:cNvSpPr txBox="1"/>
          <p:nvPr/>
        </p:nvSpPr>
        <p:spPr>
          <a:xfrm>
            <a:off x="9281160" y="42519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Output: 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Value realised, reported quarterly</a:t>
            </a:r>
            <a:endParaRPr lang="en-US" sz="1300" dirty="0"/>
          </a:p>
        </p:txBody>
      </p:sp>
      <p:sp>
        <p:nvSpPr>
          <p:cNvPr id="30" name="Today pill"/>
          <p:cNvSpPr/>
          <p:nvPr/>
        </p:nvSpPr>
        <p:spPr>
          <a:xfrm>
            <a:off x="4160520" y="1261872"/>
            <a:ext cx="105156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1" name="Today label"/>
          <p:cNvSpPr txBox="1"/>
          <p:nvPr/>
        </p:nvSpPr>
        <p:spPr>
          <a:xfrm>
            <a:off x="4160520" y="126187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Today</a:t>
            </a:r>
            <a:endParaRPr lang="en-US" sz="1300" dirty="0"/>
          </a:p>
        </p:txBody>
      </p:sp>
      <p:sp>
        <p:nvSpPr>
          <p:cNvPr id="32" name="Approach note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This demo covers Identify and Frame on Salesforce data. Commit and Realize run with the customer's process owners.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Discover: the process as it actually runs</a:t>
            </a:r>
            <a:endParaRPr lang="en-US" sz="3000" dirty="0"/>
          </a:p>
        </p:txBody>
      </p:sp>
      <p:sp>
        <p:nvSpPr>
          <p:cNvPr id="3" name="Discover stat 1"/>
          <p:cNvSpPr txBox="1"/>
          <p:nvPr/>
        </p:nvSpPr>
        <p:spPr>
          <a:xfrm>
            <a:off x="548640" y="15087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14%</a:t>
            </a:r>
            <a:endParaRPr lang="en-US" sz="4400" dirty="0"/>
          </a:p>
        </p:txBody>
      </p:sp>
      <p:sp>
        <p:nvSpPr>
          <p:cNvPr id="4" name="Discover label 1"/>
          <p:cNvSpPr txBox="1"/>
          <p:nvPr/>
        </p:nvSpPr>
        <p:spPr>
          <a:xfrm>
            <a:off x="3291840" y="1508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of deals follow the designed happy path</a:t>
            </a:r>
            <a:endParaRPr lang="en-US" sz="1800" dirty="0"/>
          </a:p>
        </p:txBody>
      </p:sp>
      <p:sp>
        <p:nvSpPr>
          <p:cNvPr id="5" name="Discover stat 2"/>
          <p:cNvSpPr txBox="1"/>
          <p:nvPr/>
        </p:nvSpPr>
        <p:spPr>
          <a:xfrm>
            <a:off x="54864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67</a:t>
            </a:r>
            <a:endParaRPr lang="en-US" sz="4400" dirty="0"/>
          </a:p>
        </p:txBody>
      </p:sp>
      <p:sp>
        <p:nvSpPr>
          <p:cNvPr id="6" name="Discover label 2"/>
          <p:cNvSpPr txBox="1"/>
          <p:nvPr/>
        </p:nvSpPr>
        <p:spPr>
          <a:xfrm>
            <a:off x="3291840" y="2926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distinct paths across 800 deals</a:t>
            </a:r>
            <a:endParaRPr lang="en-US" sz="1800" dirty="0"/>
          </a:p>
        </p:txBody>
      </p:sp>
      <p:sp>
        <p:nvSpPr>
          <p:cNvPr id="7" name="Discover stat 3"/>
          <p:cNvSpPr txBox="1"/>
          <p:nvPr/>
        </p:nvSpPr>
        <p:spPr>
          <a:xfrm>
            <a:off x="548640" y="43434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7.0 days</a:t>
            </a:r>
            <a:endParaRPr lang="en-US" sz="4400" dirty="0"/>
          </a:p>
        </p:txBody>
      </p:sp>
      <p:sp>
        <p:nvSpPr>
          <p:cNvPr id="8" name="Discover label 3"/>
          <p:cNvSpPr txBox="1"/>
          <p:nvPr/>
        </p:nvSpPr>
        <p:spPr>
          <a:xfrm>
            <a:off x="3291840" y="4343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median EMEA approval wait, the slowest hand-off</a:t>
            </a:r>
            <a:endParaRPr lang="en-US" sz="1800" dirty="0"/>
          </a:p>
        </p:txBody>
      </p:sp>
      <p:sp>
        <p:nvSpPr>
          <p:cNvPr id="9" name="Discover note"/>
          <p:cNvSpPr txBox="1"/>
          <p:nvPr/>
        </p:nvSpPr>
        <p:spPr>
          <a:xfrm>
            <a:off x="548640" y="57150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Approval steps and re-quote loops show up as detours from the designed path.</a:t>
            </a:r>
            <a:endParaRPr lang="en-US" sz="1400" dirty="0"/>
          </a:p>
        </p:txBody>
      </p:sp>
      <p:sp>
        <p:nvSpPr>
          <p:cNvPr id="10" name="Map frame"/>
          <p:cNvSpPr/>
          <p:nvPr/>
        </p:nvSpPr>
        <p:spPr>
          <a:xfrm>
            <a:off x="7419442" y="1280160"/>
            <a:ext cx="4239158" cy="4892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Process map" descr="Process map from the hosted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5162" y="1325880"/>
            <a:ext cx="4147718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Diagnose: three deviations explain most of the lost value</a:t>
            </a:r>
            <a:endParaRPr lang="en-US" sz="3000" dirty="0"/>
          </a:p>
        </p:txBody>
      </p:sp>
      <p:graphicFrame>
        <p:nvGraphicFramePr>
          <p:cNvPr id="3" name="Chart 1" descr=""/>
          <p:cNvGraphicFramePr/>
          <p:nvPr/>
        </p:nvGraphicFramePr>
        <p:xfrm>
          <a:off x="548640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keaway 1"/>
          <p:cNvSpPr/>
          <p:nvPr/>
        </p:nvSpPr>
        <p:spPr>
          <a:xfrm>
            <a:off x="548640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5" name="Takeaway 1 text"/>
          <p:cNvSpPr txBox="1"/>
          <p:nvPr/>
        </p:nvSpPr>
        <p:spPr>
          <a:xfrm>
            <a:off x="731520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EMEA's single approver adds about 6 days per discounted deal.</a:t>
            </a:r>
            <a:endParaRPr lang="en-US" sz="1400" dirty="0"/>
          </a:p>
        </p:txBody>
      </p:sp>
      <p:graphicFrame>
        <p:nvGraphicFramePr>
          <p:cNvPr id="6" name="Chart 2" descr=""/>
          <p:cNvGraphicFramePr/>
          <p:nvPr/>
        </p:nvGraphicFramePr>
        <p:xfrm>
          <a:off x="4315968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 2"/>
          <p:cNvSpPr/>
          <p:nvPr/>
        </p:nvSpPr>
        <p:spPr>
          <a:xfrm>
            <a:off x="4315968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Takeaway 2 text"/>
          <p:cNvSpPr txBox="1"/>
          <p:nvPr/>
        </p:nvSpPr>
        <p:spPr>
          <a:xfrm>
            <a:off x="4498848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are re-quoted, and they win 18 points less often.</a:t>
            </a:r>
            <a:endParaRPr lang="en-US" sz="1400" dirty="0"/>
          </a:p>
        </p:txBody>
      </p:sp>
      <p:graphicFrame>
        <p:nvGraphicFramePr>
          <p:cNvPr id="9" name="Chart 3" descr=""/>
          <p:cNvGraphicFramePr/>
          <p:nvPr/>
        </p:nvGraphicFramePr>
        <p:xfrm>
          <a:off x="8083296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akeaway 3"/>
          <p:cNvSpPr/>
          <p:nvPr/>
        </p:nvSpPr>
        <p:spPr>
          <a:xfrm>
            <a:off x="8083296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1" name="Takeaway 3 text"/>
          <p:cNvSpPr txBox="1"/>
          <p:nvPr/>
        </p:nvSpPr>
        <p:spPr>
          <a:xfrm>
            <a:off x="8266176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less than half as often.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case overview: three opportunities, one deep-dive</a:t>
            </a:r>
            <a:endParaRPr lang="en-US" sz="3000" dirty="0"/>
          </a:p>
        </p:txBody>
      </p:sp>
      <p:graphicFrame>
        <p:nvGraphicFramePr>
          <p:cNvPr id="7" name="Business cas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2697480"/>
                <a:gridCol w="1737360"/>
                <a:gridCol w="1188720"/>
                <a:gridCol w="1097280"/>
                <a:gridCol w="1325880"/>
                <a:gridCol w="11430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Objective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Opportunity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Owner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Time to value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Framed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Committed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Realized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Accelerate revenue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 EMEA discount approvals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Deal desk lead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Short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$213k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TBD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Improve win rate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2  Re-quotes (deep-dive)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VP Revenue Ops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Medium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$1.3M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TBD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Sales productivity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  Skipped qualification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Sales operations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Short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$1.3M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TBD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$2.8M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TBD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able note"/>
          <p:cNvSpPr txBox="1"/>
          <p:nvPr/>
        </p:nvSpPr>
        <p:spPr>
          <a:xfrm>
            <a:off x="548640" y="37307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Framed = full gap sized from Salesforce data. Committed is agreed with each owner after validation; realized is tracked against the baseline.</a:t>
            </a:r>
            <a:endParaRPr lang="en-US" sz="1200" dirty="0"/>
          </a:p>
        </p:txBody>
      </p:sp>
      <p:sp>
        <p:nvSpPr>
          <p:cNvPr id="5" name="Priority grid"/>
          <p:cNvSpPr/>
          <p:nvPr/>
        </p:nvSpPr>
        <p:spPr>
          <a:xfrm>
            <a:off x="548640" y="4160520"/>
            <a:ext cx="493776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6" name="Grid vertical"/>
          <p:cNvSpPr/>
          <p:nvPr/>
        </p:nvSpPr>
        <p:spPr>
          <a:xfrm>
            <a:off x="3017520" y="4297680"/>
            <a:ext cx="0" cy="160020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Grid horizontal"/>
          <p:cNvSpPr/>
          <p:nvPr/>
        </p:nvSpPr>
        <p:spPr>
          <a:xfrm>
            <a:off x="685800" y="5097780"/>
            <a:ext cx="466344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8" name="Grid quick wins"/>
          <p:cNvSpPr txBox="1"/>
          <p:nvPr/>
        </p:nvSpPr>
        <p:spPr>
          <a:xfrm>
            <a:off x="685800" y="4251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Quick wins</a:t>
            </a:r>
            <a:endParaRPr lang="en-US" sz="1100" dirty="0"/>
          </a:p>
        </p:txBody>
      </p:sp>
      <p:sp>
        <p:nvSpPr>
          <p:cNvPr id="9" name="Grid strategic"/>
          <p:cNvSpPr txBox="1"/>
          <p:nvPr/>
        </p:nvSpPr>
        <p:spPr>
          <a:xfrm>
            <a:off x="3154680" y="4251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Strategic</a:t>
            </a:r>
            <a:endParaRPr lang="en-US" sz="1100" dirty="0"/>
          </a:p>
        </p:txBody>
      </p:sp>
      <p:sp>
        <p:nvSpPr>
          <p:cNvPr id="10" name="Grid x axis"/>
          <p:cNvSpPr txBox="1"/>
          <p:nvPr/>
        </p:nvSpPr>
        <p:spPr>
          <a:xfrm>
            <a:off x="548640" y="60533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Faster  ←  time to value  →  slower</a:t>
            </a:r>
            <a:endParaRPr lang="en-US" sz="1100" dirty="0"/>
          </a:p>
        </p:txBody>
      </p:sp>
      <p:sp>
        <p:nvSpPr>
          <p:cNvPr id="11" name="Grid y axis"/>
          <p:cNvSpPr txBox="1"/>
          <p:nvPr/>
        </p:nvSpPr>
        <p:spPr>
          <a:xfrm>
            <a:off x="5577840" y="4251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Higher value ↑</a:t>
            </a:r>
            <a:endParaRPr lang="en-US" sz="1100" dirty="0"/>
          </a:p>
        </p:txBody>
      </p:sp>
      <p:sp>
        <p:nvSpPr>
          <p:cNvPr id="12" name="Grid dot 1"/>
          <p:cNvSpPr/>
          <p:nvPr/>
        </p:nvSpPr>
        <p:spPr>
          <a:xfrm>
            <a:off x="1591056" y="556641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Grid dot 1 label"/>
          <p:cNvSpPr txBox="1"/>
          <p:nvPr/>
        </p:nvSpPr>
        <p:spPr>
          <a:xfrm>
            <a:off x="1591056" y="55664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4" name="Grid dot 2"/>
          <p:cNvSpPr/>
          <p:nvPr/>
        </p:nvSpPr>
        <p:spPr>
          <a:xfrm>
            <a:off x="3875227" y="4572914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5" name="Grid dot 2 label"/>
          <p:cNvSpPr txBox="1"/>
          <p:nvPr/>
        </p:nvSpPr>
        <p:spPr>
          <a:xfrm>
            <a:off x="3875227" y="45729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Grid dot 3"/>
          <p:cNvSpPr/>
          <p:nvPr/>
        </p:nvSpPr>
        <p:spPr>
          <a:xfrm>
            <a:off x="1837944" y="462915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Grid dot 3 label"/>
          <p:cNvSpPr txBox="1"/>
          <p:nvPr/>
        </p:nvSpPr>
        <p:spPr>
          <a:xfrm>
            <a:off x="1837944" y="46291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Priority rationale"/>
          <p:cNvSpPr txBox="1"/>
          <p:nvPr/>
        </p:nvSpPr>
        <p:spPr>
          <a:xfrm>
            <a:off x="6949440" y="4160520"/>
            <a:ext cx="4663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Why re-quotes first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Largest framed value, visible directly in OpportunityHistory, and a clear owner in RevOps.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Quick wins run alongside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Delegated EMEA approvals (1) and a required Qualification gate (3) are policy changes, not projects.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Value case: reduce re-quotes in quote-to-close</a:t>
            </a:r>
            <a:endParaRPr lang="en-US" sz="3000" dirty="0"/>
          </a:p>
        </p:txBody>
      </p:sp>
      <p:sp>
        <p:nvSpPr>
          <p:cNvPr id="3" name="Filter bar"/>
          <p:cNvSpPr/>
          <p:nvPr/>
        </p:nvSpPr>
        <p:spPr>
          <a:xfrm>
            <a:off x="548640" y="1234440"/>
            <a:ext cx="11064240" cy="411480"/>
          </a:xfrm>
          <a:prstGeom prst="roundRect">
            <a:avLst>
              <a:gd name="adj" fmla="val 26667"/>
            </a:avLst>
          </a:prstGeom>
          <a:solidFill>
            <a:schemeClr val="bg2"/>
          </a:solidFill>
          <a:ln/>
        </p:spPr>
      </p:sp>
      <p:sp>
        <p:nvSpPr>
          <p:cNvPr id="4" name="Filter text"/>
          <p:cNvSpPr txBox="1"/>
          <p:nvPr/>
        </p:nvSpPr>
        <p:spPr>
          <a:xfrm>
            <a:off x="777240" y="12344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Time frame: 2025-10 to 2026-09   ·   New business   ·   Deals that reached Negotiation   ·   Owner: VP Revenue Operations</a:t>
            </a:r>
            <a:endParaRPr lang="en-US" sz="1200" dirty="0"/>
          </a:p>
        </p:txBody>
      </p:sp>
      <p:sp>
        <p:nvSpPr>
          <p:cNvPr id="5" name="Value column 1 heading"/>
          <p:cNvSpPr txBox="1"/>
          <p:nvPr/>
        </p:nvSpPr>
        <p:spPr>
          <a:xfrm>
            <a:off x="548640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Challenge</a:t>
            </a:r>
            <a:endParaRPr lang="en-US" sz="1600" dirty="0"/>
          </a:p>
        </p:txBody>
      </p:sp>
      <p:sp>
        <p:nvSpPr>
          <p:cNvPr id="6" name="Value column 1 body"/>
          <p:cNvSpPr txBox="1"/>
          <p:nvPr/>
        </p:nvSpPr>
        <p:spPr>
          <a:xfrm>
            <a:off x="548640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750 negotiated deals a year; 19% loop back for a re-quote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Re-quoted deals win 31% vs 49%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EMEA approvals take 7.0 days vs 1.2</a:t>
            </a:r>
            <a:endParaRPr lang="en-US" sz="1400" dirty="0"/>
          </a:p>
        </p:txBody>
      </p:sp>
      <p:sp>
        <p:nvSpPr>
          <p:cNvPr id="7" name="Value column 2 heading"/>
          <p:cNvSpPr txBox="1"/>
          <p:nvPr/>
        </p:nvSpPr>
        <p:spPr>
          <a:xfrm>
            <a:off x="4315968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Root cause (to capture)</a:t>
            </a:r>
            <a:endParaRPr lang="en-US" sz="1600" dirty="0"/>
          </a:p>
        </p:txBody>
      </p:sp>
      <p:sp>
        <p:nvSpPr>
          <p:cNvPr id="8" name="Value column 2 body"/>
          <p:cNvSpPr txBox="1"/>
          <p:nvPr/>
        </p:nvSpPr>
        <p:spPr>
          <a:xfrm>
            <a:off x="4315968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Reason codes: quote expired, discount, scope, pricing error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Hotspots by approver queue, region and rep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Confirm: slow approval → expired quote → re-quote</a:t>
            </a:r>
            <a:endParaRPr lang="en-US" sz="1400" dirty="0"/>
          </a:p>
        </p:txBody>
      </p:sp>
      <p:sp>
        <p:nvSpPr>
          <p:cNvPr id="9" name="Value column 3 heading"/>
          <p:cNvSpPr txBox="1"/>
          <p:nvPr/>
        </p:nvSpPr>
        <p:spPr>
          <a:xfrm>
            <a:off x="8083296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Solution with Apromore</a:t>
            </a:r>
            <a:endParaRPr lang="en-US" sz="1600" dirty="0"/>
          </a:p>
        </p:txBody>
      </p:sp>
      <p:sp>
        <p:nvSpPr>
          <p:cNvPr id="10" name="Value column 3 body"/>
          <p:cNvSpPr txBox="1"/>
          <p:nvPr/>
        </p:nvSpPr>
        <p:spPr>
          <a:xfrm>
            <a:off x="8083296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Performance views show where quotes wait and loop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Conformance checking flags skipped steps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Simulate a delegated EMEA approval threshold first</a:t>
            </a:r>
            <a:endParaRPr lang="en-US" sz="1400" dirty="0"/>
          </a:p>
        </p:txBody>
      </p:sp>
      <p:sp>
        <p:nvSpPr>
          <p:cNvPr id="11" name="Chain 1 label"/>
          <p:cNvSpPr txBox="1"/>
          <p:nvPr/>
        </p:nvSpPr>
        <p:spPr>
          <a:xfrm>
            <a:off x="54864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Negotiated deals / yr</a:t>
            </a:r>
            <a:endParaRPr lang="en-US" sz="1200" dirty="0"/>
          </a:p>
        </p:txBody>
      </p:sp>
      <p:sp>
        <p:nvSpPr>
          <p:cNvPr id="12" name="Chain 1 box"/>
          <p:cNvSpPr/>
          <p:nvPr/>
        </p:nvSpPr>
        <p:spPr>
          <a:xfrm>
            <a:off x="54864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3" name="Chain 1 value"/>
          <p:cNvSpPr txBox="1"/>
          <p:nvPr/>
        </p:nvSpPr>
        <p:spPr>
          <a:xfrm>
            <a:off x="54864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750</a:t>
            </a:r>
            <a:endParaRPr lang="en-US" sz="2200" dirty="0"/>
          </a:p>
        </p:txBody>
      </p:sp>
      <p:sp>
        <p:nvSpPr>
          <p:cNvPr id="14" name="Chain 1 operator"/>
          <p:cNvSpPr txBox="1"/>
          <p:nvPr/>
        </p:nvSpPr>
        <p:spPr>
          <a:xfrm>
            <a:off x="205740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5" name="Chain 2 label"/>
          <p:cNvSpPr txBox="1"/>
          <p:nvPr/>
        </p:nvSpPr>
        <p:spPr>
          <a:xfrm>
            <a:off x="233172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Re-quotes per deal</a:t>
            </a:r>
            <a:endParaRPr lang="en-US" sz="1200" dirty="0"/>
          </a:p>
        </p:txBody>
      </p:sp>
      <p:sp>
        <p:nvSpPr>
          <p:cNvPr id="16" name="Chain 2 box"/>
          <p:cNvSpPr/>
          <p:nvPr/>
        </p:nvSpPr>
        <p:spPr>
          <a:xfrm>
            <a:off x="233172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7" name="Chain 2 value"/>
          <p:cNvSpPr txBox="1"/>
          <p:nvPr/>
        </p:nvSpPr>
        <p:spPr>
          <a:xfrm>
            <a:off x="233172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0.19</a:t>
            </a:r>
            <a:endParaRPr lang="en-US" sz="2200" dirty="0"/>
          </a:p>
        </p:txBody>
      </p:sp>
      <p:sp>
        <p:nvSpPr>
          <p:cNvPr id="18" name="Chain 2 operator"/>
          <p:cNvSpPr txBox="1"/>
          <p:nvPr/>
        </p:nvSpPr>
        <p:spPr>
          <a:xfrm>
            <a:off x="384048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9" name="Chain 3 label"/>
          <p:cNvSpPr txBox="1"/>
          <p:nvPr/>
        </p:nvSpPr>
        <p:spPr>
          <a:xfrm>
            <a:off x="411480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Win-rate gap</a:t>
            </a:r>
            <a:endParaRPr lang="en-US" sz="1200" dirty="0"/>
          </a:p>
        </p:txBody>
      </p:sp>
      <p:sp>
        <p:nvSpPr>
          <p:cNvPr id="20" name="Chain 3 box"/>
          <p:cNvSpPr/>
          <p:nvPr/>
        </p:nvSpPr>
        <p:spPr>
          <a:xfrm>
            <a:off x="411480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1" name="Chain 3 value"/>
          <p:cNvSpPr txBox="1"/>
          <p:nvPr/>
        </p:nvSpPr>
        <p:spPr>
          <a:xfrm>
            <a:off x="411480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17.5 pts</a:t>
            </a:r>
            <a:endParaRPr lang="en-US" sz="2200" dirty="0"/>
          </a:p>
        </p:txBody>
      </p:sp>
      <p:sp>
        <p:nvSpPr>
          <p:cNvPr id="22" name="Chain 3 operator"/>
          <p:cNvSpPr txBox="1"/>
          <p:nvPr/>
        </p:nvSpPr>
        <p:spPr>
          <a:xfrm>
            <a:off x="562356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3" name="Chain 4 label"/>
          <p:cNvSpPr txBox="1"/>
          <p:nvPr/>
        </p:nvSpPr>
        <p:spPr>
          <a:xfrm>
            <a:off x="589788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Average won deal</a:t>
            </a:r>
            <a:endParaRPr lang="en-US" sz="1200" dirty="0"/>
          </a:p>
        </p:txBody>
      </p:sp>
      <p:sp>
        <p:nvSpPr>
          <p:cNvPr id="24" name="Chain 4 box"/>
          <p:cNvSpPr/>
          <p:nvPr/>
        </p:nvSpPr>
        <p:spPr>
          <a:xfrm>
            <a:off x="589788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5" name="Chain 4 value"/>
          <p:cNvSpPr txBox="1"/>
          <p:nvPr/>
        </p:nvSpPr>
        <p:spPr>
          <a:xfrm>
            <a:off x="589788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$53k</a:t>
            </a:r>
            <a:endParaRPr lang="en-US" sz="2200" dirty="0"/>
          </a:p>
        </p:txBody>
      </p:sp>
      <p:sp>
        <p:nvSpPr>
          <p:cNvPr id="26" name="Chain 4 operator"/>
          <p:cNvSpPr txBox="1"/>
          <p:nvPr/>
        </p:nvSpPr>
        <p:spPr>
          <a:xfrm>
            <a:off x="740664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7" name="Chain 5 label"/>
          <p:cNvSpPr txBox="1"/>
          <p:nvPr/>
        </p:nvSpPr>
        <p:spPr>
          <a:xfrm>
            <a:off x="768096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Improvement</a:t>
            </a:r>
            <a:endParaRPr lang="en-US" sz="1200" dirty="0"/>
          </a:p>
        </p:txBody>
      </p:sp>
      <p:sp>
        <p:nvSpPr>
          <p:cNvPr id="28" name="Chain 5 box"/>
          <p:cNvSpPr/>
          <p:nvPr/>
        </p:nvSpPr>
        <p:spPr>
          <a:xfrm>
            <a:off x="768096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9" name="Chain 5 value"/>
          <p:cNvSpPr txBox="1"/>
          <p:nvPr/>
        </p:nvSpPr>
        <p:spPr>
          <a:xfrm>
            <a:off x="768096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50%</a:t>
            </a:r>
            <a:endParaRPr lang="en-US" sz="2200" dirty="0"/>
          </a:p>
        </p:txBody>
      </p:sp>
      <p:sp>
        <p:nvSpPr>
          <p:cNvPr id="30" name="Chain 5 operator"/>
          <p:cNvSpPr txBox="1"/>
          <p:nvPr/>
        </p:nvSpPr>
        <p:spPr>
          <a:xfrm>
            <a:off x="918972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=</a:t>
            </a:r>
            <a:endParaRPr lang="en-US" sz="2000" dirty="0"/>
          </a:p>
        </p:txBody>
      </p:sp>
      <p:sp>
        <p:nvSpPr>
          <p:cNvPr id="31" name="Framed value pill"/>
          <p:cNvSpPr/>
          <p:nvPr/>
        </p:nvSpPr>
        <p:spPr>
          <a:xfrm>
            <a:off x="9509760" y="4251960"/>
            <a:ext cx="210312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32" name="Framed value"/>
          <p:cNvSpPr txBox="1"/>
          <p:nvPr/>
        </p:nvSpPr>
        <p:spPr>
          <a:xfrm>
            <a:off x="9509760" y="425196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≈ $669k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revenue upside p.a.</a:t>
            </a:r>
            <a:endParaRPr lang="en-US" sz="1400" dirty="0"/>
          </a:p>
        </p:txBody>
      </p:sp>
      <p:sp>
        <p:nvSpPr>
          <p:cNvPr id="33" name="Assumptions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Assumptions: annualised from 10 months of history; win-rate gap compares only deals that reached Negotiation; cycle-time gains not counted; half of the gap closed.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9326880" y="4023360"/>
            <a:ext cx="4937760" cy="4937760"/>
          </a:xfrm>
          <a:prstGeom prst="ellipse">
            <a:avLst/>
          </a:prstGeom>
          <a:solidFill>
            <a:schemeClr val="accent1">
              <a:alpha val="25000"/>
            </a:schemeClr>
          </a:solidFill>
          <a:ln/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Turning the finding into a decision</a:t>
            </a:r>
            <a:endParaRPr lang="en-US" sz="3600" dirty="0"/>
          </a:p>
        </p:txBody>
      </p:sp>
      <p:sp>
        <p:nvSpPr>
          <p:cNvPr id="4" name="Next 1 card"/>
          <p:cNvSpPr/>
          <p:nvPr/>
        </p:nvSpPr>
        <p:spPr>
          <a:xfrm>
            <a:off x="73152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5" name="Next 1 heading"/>
          <p:cNvSpPr txBox="1"/>
          <p:nvPr/>
        </p:nvSpPr>
        <p:spPr>
          <a:xfrm>
            <a:off x="100584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Validate</a:t>
            </a:r>
            <a:endParaRPr lang="en-US" sz="2200" dirty="0"/>
          </a:p>
        </p:txBody>
      </p:sp>
      <p:sp>
        <p:nvSpPr>
          <p:cNvPr id="6" name="Next 1 body"/>
          <p:cNvSpPr txBox="1"/>
          <p:nvPr/>
        </p:nvSpPr>
        <p:spPr>
          <a:xfrm>
            <a:off x="100584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Run the same extract on the production org and confirm approval waits and re-quote rates with RevOps.</a:t>
            </a:r>
            <a:endParaRPr lang="en-US" sz="1600" dirty="0"/>
          </a:p>
        </p:txBody>
      </p:sp>
      <p:sp>
        <p:nvSpPr>
          <p:cNvPr id="7" name="Next 2 card"/>
          <p:cNvSpPr/>
          <p:nvPr/>
        </p:nvSpPr>
        <p:spPr>
          <a:xfrm>
            <a:off x="434340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8" name="Next 2 heading"/>
          <p:cNvSpPr txBox="1"/>
          <p:nvPr/>
        </p:nvSpPr>
        <p:spPr>
          <a:xfrm>
            <a:off x="461772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Act</a:t>
            </a:r>
            <a:endParaRPr lang="en-US" sz="2200" dirty="0"/>
          </a:p>
        </p:txBody>
      </p:sp>
      <p:sp>
        <p:nvSpPr>
          <p:cNvPr id="9" name="Next 2 body"/>
          <p:cNvSpPr txBox="1"/>
          <p:nvPr/>
        </p:nvSpPr>
        <p:spPr>
          <a:xfrm>
            <a:off x="461772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Pilot a delegated approval threshold for EMEA discounts up to 30% and make Qualification a required gate.</a:t>
            </a:r>
            <a:endParaRPr lang="en-US" sz="1600" dirty="0"/>
          </a:p>
        </p:txBody>
      </p:sp>
      <p:sp>
        <p:nvSpPr>
          <p:cNvPr id="10" name="Next 3 card"/>
          <p:cNvSpPr/>
          <p:nvPr/>
        </p:nvSpPr>
        <p:spPr>
          <a:xfrm>
            <a:off x="795528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11" name="Next 3 heading"/>
          <p:cNvSpPr txBox="1"/>
          <p:nvPr/>
        </p:nvSpPr>
        <p:spPr>
          <a:xfrm>
            <a:off x="822960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Monitor</a:t>
            </a:r>
            <a:endParaRPr lang="en-US" sz="2200" dirty="0"/>
          </a:p>
        </p:txBody>
      </p:sp>
      <p:sp>
        <p:nvSpPr>
          <p:cNvPr id="12" name="Next 3 body"/>
          <p:cNvSpPr txBox="1"/>
          <p:nvPr/>
        </p:nvSpPr>
        <p:spPr>
          <a:xfrm>
            <a:off x="822960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Schedule the extract into Apromore, track the KPIs against target and report value realised quarterly.</a:t>
            </a:r>
            <a:endParaRPr lang="en-US" sz="1600" dirty="0"/>
          </a:p>
        </p:txBody>
      </p:sp>
      <p:sp>
        <p:nvSpPr>
          <p:cNvPr id="13" name="Closing contact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salesforce-process-intelligence.vercel.app  ·  Luke Audie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lesforce Handbook">
  <a:themeElements>
    <a:clrScheme name="Salesforce Handbook">
      <a:dk1>
        <a:srgbClr val="181818"/>
      </a:dk1>
      <a:lt1>
        <a:srgbClr val="FFFFFF"/>
      </a:lt1>
      <a:dk2>
        <a:srgbClr val="032D60"/>
      </a:dk2>
      <a:lt2>
        <a:srgbClr val="EAF5FE"/>
      </a:lt2>
      <a:accent1>
        <a:srgbClr val="0B9DE0"/>
      </a:accent1>
      <a:accent2>
        <a:srgbClr val="4499D8"/>
      </a:accent2>
      <a:accent3>
        <a:srgbClr val="CFE9FE"/>
      </a:accent3>
      <a:accent4>
        <a:srgbClr val="FE9339"/>
      </a:accent4>
      <a:accent5>
        <a:srgbClr val="2E844A"/>
      </a:accent5>
      <a:accent6>
        <a:srgbClr val="0B5CAB"/>
      </a:accent6>
      <a:hlink>
        <a:srgbClr val="0B5CAB"/>
      </a:hlink>
      <a:folHlink>
        <a:srgbClr val="032D60"/>
      </a:folHlink>
    </a:clrScheme>
    <a:fontScheme name="Salesforce Handboo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Salesforce data to a framed value case</dc:title>
  <dc:subject>PptxGenJS Presentation</dc:subject>
  <dc:creator>Luke Audie</dc:creator>
  <cp:lastModifiedBy>Luke Audie</cp:lastModifiedBy>
  <cp:revision>1</cp:revision>
  <dcterms:created xsi:type="dcterms:W3CDTF">2026-10-14T19:33:03Z</dcterms:created>
  <dcterms:modified xsi:type="dcterms:W3CDTF">2026-10-14T19:33:03Z</dcterms:modified>
</cp:coreProperties>
</file>