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a16393-1e17-00f2-7ddb-8a3e774f869a}">
          <p14:sldIdLst>
            <p14:sldId id="256"/>
            <p14:sldId id="257"/>
            <p14:sldId id="258"/>
          </p14:sldIdLst>
        </p14:section>
        <p14:section name="Evidence" id="{bd00d09d-63d0-b955-58ce-b2e816f17092}">
          <p14:sldIdLst>
            <p14:sldId id="259"/>
            <p14:sldId id="260"/>
          </p14:sldIdLst>
        </p14:section>
        <p14:section name="Value" id="{9b31670a-6fe9-58a0-1e57-574e9555caf1}">
          <p14:sldIdLst>
            <p14:sldId id="261"/>
            <p14:sldId id="262"/>
          </p14:sldIdLst>
        </p14:section>
        <p14:section name="Close" id="{da1b66c3-3bdc-1248-754b-59bd24a4c090}">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32D60"/>
                </a:solidFill>
                <a:latin typeface="+mn-lt"/>
              </a:defRPr>
            </a:pPr>
            <a:r>
              <a:rPr sz="1400" b="0" i="0" u="none" strike="noStrike">
                <a:solidFill>
                  <a:srgbClr val="032D60"/>
                </a:solidFill>
                <a:latin typeface="+mn-lt"/>
              </a:rPr>
              <a:t>Median approval wait (days)</a:t>
            </a:r>
          </a:p>
        </c:rich>
      </c:tx>
      <c:layout/>
      <c:overlay val="0"/>
    </c:title>
    <c:autoTitleDeleted val="0"/>
    <c:plotArea>
      <c:layout/>
      <c:barChart>
        <c:barDir val="col"/>
        <c:grouping val="clustered"/>
        <c:varyColors val="0"/>
        <c:ser>
          <c:idx val="0"/>
          <c:order val="0"/>
          <c:tx>
            <c:strRef>
              <c:f>Sheet1!$B$1</c:f>
              <c:strCache>
                <c:ptCount val="1"/>
                <c:pt idx="0">
                  <c:v>Median approval wait (days)</c:v>
                </c:pt>
              </c:strCache>
            </c:strRef>
          </c:tx>
          <c:spPr>
            <a:solidFill>
              <a:srgbClr val="9DC9EE"/>
            </a:solidFill>
            <a:effectLst/>
          </c:spPr>
          <c:invertIfNegative val="0"/>
          <c:dLbls>
            <c:numFmt formatCode="0.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dPt>
            <c:idx val="0"/>
            <c:invertIfNegative val="0"/>
            <c:bubble3D val="0"/>
            <c:spPr>
              <a:solidFill>
                <a:srgbClr val="9DC9EE"/>
              </a:solidFill>
              <a:effectLst/>
            </c:spPr>
          </c:dPt>
          <c:dPt>
            <c:idx val="1"/>
            <c:invertIfNegative val="0"/>
            <c:bubble3D val="0"/>
            <c:spPr>
              <a:solidFill>
                <a:srgbClr val="9DC9EE"/>
              </a:solidFill>
              <a:effectLst/>
            </c:spPr>
          </c:dPt>
          <c:dPt>
            <c:idx val="2"/>
            <c:invertIfNegative val="0"/>
            <c:bubble3D val="0"/>
            <c:spPr>
              <a:solidFill>
                <a:srgbClr val="FE9339"/>
              </a:solidFill>
              <a:effectLst/>
            </c:spPr>
          </c:dPt>
          <c:cat>
            <c:multiLvlStrRef>
              <c:f>Sheet1!$A$2:$A$4</c:f>
              <c:multiLvlStrCache>
                <c:ptCount val="3"/>
                <c:lvl>
                  <c:pt idx="0">
                    <c:v>AMER</c:v>
                  </c:pt>
                  <c:pt idx="1">
                    <c:v>APAC</c:v>
                  </c:pt>
                  <c:pt idx="2">
                    <c:v>EMEA</c:v>
                  </c:pt>
                </c:lvl>
              </c:multiLvlStrCache>
            </c:multiLvlStrRef>
          </c:cat>
          <c:val>
            <c:numRef>
              <c:f>Sheet1!$B$2:$B$4</c:f>
              <c:numCache>
                <c:formatCode>General</c:formatCode>
                <c:ptCount val="3"/>
                <c:pt idx="0">
                  <c:v>1.2</c:v>
                </c:pt>
                <c:pt idx="1">
                  <c:v>1.5</c:v>
                </c:pt>
                <c:pt idx="2">
                  <c:v>7</c:v>
                </c:pt>
              </c:numCache>
            </c:numRef>
          </c:val>
        </c:ser>
        <c:dLbls>
          <c:numFmt formatCode="0.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32D60"/>
                </a:solidFill>
                <a:latin typeface="+mn-lt"/>
              </a:defRPr>
            </a:pPr>
            <a:endParaRPr lang="en-US"/>
          </a:p>
        </c:txPr>
        <c:crossAx val="2094734552"/>
        <c:crosses val="autoZero"/>
        <c:auto val="1"/>
        <c:lblAlgn val="ctr"/>
        <c:noMultiLvlLbl val="1"/>
      </c:catAx>
      <c:valAx>
        <c:axId val="2094734552"/>
        <c:scaling>
          <c:orientation val="minMax"/>
          <c:max val="8.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32D60"/>
                </a:solidFill>
                <a:latin typeface="+mn-lt"/>
              </a:defRPr>
            </a:pPr>
            <a:r>
              <a:rPr sz="1400" b="0" i="0" u="none" strike="noStrike">
                <a:solidFill>
                  <a:srgbClr val="032D60"/>
                </a:solidFill>
                <a:latin typeface="+mn-lt"/>
              </a:rPr>
              <a:t>Win rate of negotiated deals</a:t>
            </a:r>
          </a:p>
        </c:rich>
      </c:tx>
      <c:layout/>
      <c:overlay val="0"/>
    </c:title>
    <c:autoTitleDeleted val="0"/>
    <c:plotArea>
      <c:layout/>
      <c:barChart>
        <c:barDir val="col"/>
        <c:grouping val="clustered"/>
        <c:varyColors val="0"/>
        <c:ser>
          <c:idx val="0"/>
          <c:order val="0"/>
          <c:tx>
            <c:strRef>
              <c:f>Sheet1!$B$1</c:f>
              <c:strCache>
                <c:ptCount val="1"/>
                <c:pt idx="0">
                  <c:v>Win rate of negotiated deals</c:v>
                </c:pt>
              </c:strCache>
            </c:strRef>
          </c:tx>
          <c:spPr>
            <a:solidFill>
              <a:srgbClr val="9DC9EE"/>
            </a:solidFill>
            <a:effectLst/>
          </c:spPr>
          <c:invertIfNegative val="0"/>
          <c:dLbls>
            <c:numFmt formatCode="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dPt>
            <c:idx val="0"/>
            <c:invertIfNegative val="0"/>
            <c:bubble3D val="0"/>
            <c:spPr>
              <a:solidFill>
                <a:srgbClr val="9DC9EE"/>
              </a:solidFill>
              <a:effectLst/>
            </c:spPr>
          </c:dPt>
          <c:dPt>
            <c:idx val="1"/>
            <c:invertIfNegative val="0"/>
            <c:bubble3D val="0"/>
            <c:spPr>
              <a:solidFill>
                <a:srgbClr val="FE9339"/>
              </a:solidFill>
              <a:effectLst/>
            </c:spPr>
          </c:dPt>
          <c:cat>
            <c:multiLvlStrRef>
              <c:f>Sheet1!$A$2:$A$3</c:f>
              <c:multiLvlStrCache>
                <c:ptCount val="2"/>
                <c:lvl>
                  <c:pt idx="0">
                    <c:v>Clean path</c:v>
                  </c:pt>
                  <c:pt idx="1">
                    <c:v>Re-quoted</c:v>
                  </c:pt>
                </c:lvl>
              </c:multiLvlStrCache>
            </c:multiLvlStrRef>
          </c:cat>
          <c:val>
            <c:numRef>
              <c:f>Sheet1!$B$2:$B$3</c:f>
              <c:numCache>
                <c:formatCode>General</c:formatCode>
                <c:ptCount val="2"/>
                <c:pt idx="0">
                  <c:v>0.49</c:v>
                </c:pt>
                <c:pt idx="1">
                  <c:v>0.31</c:v>
                </c:pt>
              </c:numCache>
            </c:numRef>
          </c:val>
        </c:ser>
        <c:dLbls>
          <c:numFmt formatCode="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32D60"/>
                </a:solidFill>
                <a:latin typeface="+mn-lt"/>
              </a:defRPr>
            </a:pPr>
            <a:endParaRPr lang="en-US"/>
          </a:p>
        </c:txPr>
        <c:crossAx val="2094734552"/>
        <c:crosses val="autoZero"/>
        <c:auto val="1"/>
        <c:lblAlgn val="ctr"/>
        <c:noMultiLvlLbl val="1"/>
      </c:catAx>
      <c:valAx>
        <c:axId val="2094734552"/>
        <c:scaling>
          <c:orientation val="minMax"/>
          <c:max val="0.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32D60"/>
                </a:solidFill>
                <a:latin typeface="+mn-lt"/>
              </a:defRPr>
            </a:pPr>
            <a:r>
              <a:rPr sz="1400" b="0" i="0" u="none" strike="noStrike">
                <a:solidFill>
                  <a:srgbClr val="032D60"/>
                </a:solidFill>
                <a:latin typeface="+mn-lt"/>
              </a:rPr>
              <a:t>Win rate by qualification</a:t>
            </a:r>
          </a:p>
        </c:rich>
      </c:tx>
      <c:layout/>
      <c:overlay val="0"/>
    </c:title>
    <c:autoTitleDeleted val="0"/>
    <c:plotArea>
      <c:layout/>
      <c:barChart>
        <c:barDir val="col"/>
        <c:grouping val="clustered"/>
        <c:varyColors val="0"/>
        <c:ser>
          <c:idx val="0"/>
          <c:order val="0"/>
          <c:tx>
            <c:strRef>
              <c:f>Sheet1!$B$1</c:f>
              <c:strCache>
                <c:ptCount val="1"/>
                <c:pt idx="0">
                  <c:v>Win rate by qualification</c:v>
                </c:pt>
              </c:strCache>
            </c:strRef>
          </c:tx>
          <c:spPr>
            <a:solidFill>
              <a:srgbClr val="9DC9EE"/>
            </a:solidFill>
            <a:effectLst/>
          </c:spPr>
          <c:invertIfNegative val="0"/>
          <c:dLbls>
            <c:numFmt formatCode="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dPt>
            <c:idx val="0"/>
            <c:invertIfNegative val="0"/>
            <c:bubble3D val="0"/>
            <c:spPr>
              <a:solidFill>
                <a:srgbClr val="9DC9EE"/>
              </a:solidFill>
              <a:effectLst/>
            </c:spPr>
          </c:dPt>
          <c:dPt>
            <c:idx val="1"/>
            <c:invertIfNegative val="0"/>
            <c:bubble3D val="0"/>
            <c:spPr>
              <a:solidFill>
                <a:srgbClr val="FE9339"/>
              </a:solidFill>
              <a:effectLst/>
            </c:spPr>
          </c:dPt>
          <c:cat>
            <c:multiLvlStrRef>
              <c:f>Sheet1!$A$2:$A$3</c:f>
              <c:multiLvlStrCache>
                <c:ptCount val="2"/>
                <c:lvl>
                  <c:pt idx="0">
                    <c:v>Qualified</c:v>
                  </c:pt>
                  <c:pt idx="1">
                    <c:v>Skipped</c:v>
                  </c:pt>
                </c:lvl>
              </c:multiLvlStrCache>
            </c:multiLvlStrRef>
          </c:cat>
          <c:val>
            <c:numRef>
              <c:f>Sheet1!$B$2:$B$3</c:f>
              <c:numCache>
                <c:formatCode>General</c:formatCode>
                <c:ptCount val="2"/>
                <c:pt idx="0">
                  <c:v>0.39</c:v>
                </c:pt>
                <c:pt idx="1">
                  <c:v>0.18</c:v>
                </c:pt>
              </c:numCache>
            </c:numRef>
          </c:val>
        </c:ser>
        <c:dLbls>
          <c:numFmt formatCode="0%" sourceLinked="0"/>
          <c:txPr>
            <a:bodyPr/>
            <a:lstStyle/>
            <a:p>
              <a:pPr>
                <a:defRPr b="0" i="0" strike="noStrike" sz="1400" u="none">
                  <a:solidFill>
                    <a:srgbClr val="032D6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32D60"/>
                </a:solidFill>
                <a:latin typeface="+mn-lt"/>
              </a:defRPr>
            </a:pPr>
            <a:endParaRPr lang="en-US"/>
          </a:p>
        </c:txPr>
        <c:crossAx val="2094734552"/>
        <c:crosses val="autoZero"/>
        <c:auto val="1"/>
        <c:lblAlgn val="ctr"/>
        <c:noMultiLvlLbl val="1"/>
      </c:catAx>
      <c:valAx>
        <c:axId val="2094734552"/>
        <c:scaling>
          <c:orientation val="minMax"/>
          <c:max val="0.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wanted to show how I'd open with a Salesforce-heavy prospect: start from their own CRM data, find where the process leaks, and turn it into a number the CRO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number, then the three findings. Everything after this slide is how I got there and how you would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Framed value isn't committed value. Today's work stops at Frame on purpose: the numbers are illustrative and the improvement assumption belongs to the opportunity owner. Commit means signing off KPI definitions and values together; Realize means tracking the KPI against the baseline on a fixed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directly-follows map from the hosted dashboard. Fourteen percent conformance is the hook: the CRM shows the stage, process mining shows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marks the problem cohort in each chart. These are associations, not proven causes: they don't control for deal size, discount, region or rep. Win-rate gaps compare like with like, for example only deals that reached Negotiation for re-quotes.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view first, then one deep-dive. Full-gap values are illustrative and gross; the overlap counts are real and show why the total can't simply be added. Owners are proposed, not committed. Committed stays TBD until the owner and Finance sign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follows my value framing format: challenge, root cause, solution, then a multiplicative value chain. The customer owns the improvement assumption; we own the evidence. Root cause is labelled 'to capture' because it needs reason codes the CRM doesn't hold yet. The chain multiplies to the displayed value using unrounded inputs. Annualised over the 10.4-month event window as an illustrative run rate; the win-rate gap is an association among deals that reached Negotiation/Review.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decision: validate on production data, run a controlled pilot only after the causes are confirmed, then measure against a frozen baseline with Finance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412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931920"/>
            <a:ext cx="7863840" cy="100584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Salesforce → event log → process mining → value case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786384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657600"/>
            <a:ext cx="7315200" cy="91440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salesforce-process-intelligence.vercel.app/dashboard.html" TargetMode="External"/><Relationship Id="rId2"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ircle large"/>
          <p:cNvSpPr/>
          <p:nvPr/>
        </p:nvSpPr>
        <p:spPr>
          <a:xfrm>
            <a:off x="8595360" y="3108960"/>
            <a:ext cx="6035040" cy="6035040"/>
          </a:xfrm>
          <a:prstGeom prst="ellipse">
            <a:avLst/>
          </a:prstGeom>
          <a:solidFill>
            <a:schemeClr val="accent1">
              <a:alpha val="30000"/>
            </a:schemeClr>
          </a:solidFill>
          <a:ln/>
        </p:spPr>
      </p:sp>
      <p:sp>
        <p:nvSpPr>
          <p:cNvPr id="3" name="Decor circle small"/>
          <p:cNvSpPr/>
          <p:nvPr/>
        </p:nvSpPr>
        <p:spPr>
          <a:xfrm>
            <a:off x="9692640" y="2377440"/>
            <a:ext cx="685800" cy="685800"/>
          </a:xfrm>
          <a:prstGeom prst="ellipse">
            <a:avLst/>
          </a:prstGeom>
          <a:solidFill>
            <a:schemeClr val="accent3"/>
          </a:solidFill>
          <a:ln/>
        </p:spPr>
      </p:sp>
      <p:sp>
        <p:nvSpPr>
          <p:cNvPr id="4" name="Text 0"/>
          <p:cNvSpPr/>
          <p:nvPr>
            <p:ph idx="100" type="title" hasCustomPrompt="1"/>
          </p:nvPr>
        </p:nvSpPr>
        <p:spPr>
          <a:xfrm>
            <a:off x="731520" y="2011680"/>
            <a:ext cx="8412480" cy="1737360"/>
          </a:xfrm>
          <a:prstGeom prst="rect">
            <a:avLst/>
          </a:prstGeom>
          <a:noFill/>
          <a:ln/>
        </p:spPr>
        <p:txBody>
          <a:bodyPr wrap="square" lIns="0" tIns="0" rIns="0" bIns="0" rtlCol="0" anchor="b"/>
          <a:lstStyle/>
          <a:p>
            <a:pPr algn="l" indent="0" marL="0">
              <a:buNone/>
            </a:pPr>
            <a:r>
              <a:rPr lang="en-US" sz="4400" b="1" dirty="0">
                <a:solidFill>
                  <a:schemeClr val="bg1"/>
                </a:solidFill>
              </a:rPr>
              <a:t>From Salesforce data to a framed value case</a:t>
            </a:r>
            <a:endParaRPr lang="en-US" sz="4400" dirty="0"/>
          </a:p>
        </p:txBody>
      </p:sp>
      <p:sp>
        <p:nvSpPr>
          <p:cNvPr id="5" name="Text 0"/>
          <p:cNvSpPr/>
          <p:nvPr>
            <p:ph idx="101" type="body" hasCustomPrompt="1"/>
          </p:nvPr>
        </p:nvSpPr>
        <p:spPr>
          <a:xfrm>
            <a:off x="731520" y="3931920"/>
            <a:ext cx="7863840" cy="1005840"/>
          </a:xfrm>
          <a:prstGeom prst="rect">
            <a:avLst/>
          </a:prstGeom>
          <a:noFill/>
          <a:ln/>
        </p:spPr>
        <p:txBody>
          <a:bodyPr wrap="square" lIns="0" tIns="0" rIns="0" bIns="0" rtlCol="0" anchor="t"/>
          <a:lstStyle/>
          <a:p>
            <a:pPr algn="l" indent="0" marL="0">
              <a:buNone/>
            </a:pPr>
            <a:r>
              <a:rPr lang="en-US" sz="2000" dirty="0">
                <a:solidFill>
                  <a:schemeClr val="accent3"/>
                </a:solidFill>
              </a:rPr>
              <a:t>Simulated value case with a working Salesforce extraction pipeline</a:t>
            </a:r>
            <a:endParaRPr lang="en-US" sz="2000" dirty="0"/>
          </a:p>
        </p:txBody>
      </p:sp>
      <p:sp>
        <p:nvSpPr>
          <p:cNvPr id="6" name="Byline"/>
          <p:cNvSpPr txBox="1"/>
          <p:nvPr/>
        </p:nvSpPr>
        <p:spPr>
          <a:xfrm>
            <a:off x="731520" y="5852160"/>
            <a:ext cx="5486400" cy="365760"/>
          </a:xfrm>
          <a:prstGeom prst="rect">
            <a:avLst/>
          </a:prstGeom>
          <a:noFill/>
          <a:ln/>
        </p:spPr>
        <p:txBody>
          <a:bodyPr wrap="square" lIns="0" tIns="0" rIns="0" bIns="0" rtlCol="0" anchor="t"/>
          <a:lstStyle/>
          <a:p>
            <a:pPr indent="0" marL="0">
              <a:buNone/>
            </a:pPr>
            <a:r>
              <a:rPr lang="en-US" sz="1400" dirty="0">
                <a:solidFill>
                  <a:schemeClr val="accent3"/>
                </a:solidFill>
              </a:rPr>
              <a:t>Luke Audie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Illustrative annual upside: $1.4M at 50% capture</a:t>
            </a:r>
            <a:endParaRPr lang="en-US" sz="3000" dirty="0"/>
          </a:p>
        </p:txBody>
      </p:sp>
      <p:sp>
        <p:nvSpPr>
          <p:cNvPr id="3" name="Headline value"/>
          <p:cNvSpPr txBox="1"/>
          <p:nvPr/>
        </p:nvSpPr>
        <p:spPr>
          <a:xfrm>
            <a:off x="548640" y="1417320"/>
            <a:ext cx="4937760" cy="118872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$1.4M</a:t>
            </a:r>
            <a:endParaRPr lang="en-US" sz="7200" dirty="0"/>
          </a:p>
        </p:txBody>
      </p:sp>
      <p:sp>
        <p:nvSpPr>
          <p:cNvPr id="4" name="Headline caption"/>
          <p:cNvSpPr txBox="1"/>
          <p:nvPr/>
        </p:nvSpPr>
        <p:spPr>
          <a:xfrm>
            <a:off x="548640" y="2697480"/>
            <a:ext cx="4937760" cy="914400"/>
          </a:xfrm>
          <a:prstGeom prst="rect">
            <a:avLst/>
          </a:prstGeom>
          <a:noFill/>
          <a:ln/>
        </p:spPr>
        <p:txBody>
          <a:bodyPr wrap="square" lIns="0" tIns="0" rIns="0" bIns="0" rtlCol="0" anchor="t"/>
          <a:lstStyle/>
          <a:p>
            <a:pPr indent="0" marL="0">
              <a:buNone/>
            </a:pPr>
            <a:r>
              <a:rPr lang="en-US" sz="1600" dirty="0">
                <a:solidFill>
                  <a:schemeClr val="tx2"/>
                </a:solidFill>
              </a:rPr>
              <a:t>Gross scenario across three overlapping opportunities, before deduplication. Full gap: $2.8M.</a:t>
            </a:r>
            <a:endParaRPr lang="en-US" sz="1600" dirty="0"/>
          </a:p>
        </p:txBody>
      </p:sp>
      <p:sp>
        <p:nvSpPr>
          <p:cNvPr id="5" name="Data note"/>
          <p:cNvSpPr/>
          <p:nvPr/>
        </p:nvSpPr>
        <p:spPr>
          <a:xfrm>
            <a:off x="548640" y="3657600"/>
            <a:ext cx="5120640" cy="1143000"/>
          </a:xfrm>
          <a:prstGeom prst="roundRect">
            <a:avLst>
              <a:gd name="adj" fmla="val 9600"/>
            </a:avLst>
          </a:prstGeom>
          <a:solidFill>
            <a:schemeClr val="accent3"/>
          </a:solidFill>
          <a:ln/>
        </p:spPr>
      </p:sp>
      <p:sp>
        <p:nvSpPr>
          <p:cNvPr id="6" name="Headline basis"/>
          <p:cNvSpPr txBox="1"/>
          <p:nvPr/>
        </p:nvSpPr>
        <p:spPr>
          <a:xfrm>
            <a:off x="731520" y="3730752"/>
            <a:ext cx="4754880" cy="1005840"/>
          </a:xfrm>
          <a:prstGeom prst="rect">
            <a:avLst/>
          </a:prstGeom>
          <a:noFill/>
          <a:ln/>
        </p:spPr>
        <p:txBody>
          <a:bodyPr wrap="square" lIns="0" tIns="0" rIns="0" bIns="0" rtlCol="0" anchor="ctr"/>
          <a:lstStyle/>
          <a:p>
            <a:pPr indent="0" marL="0">
              <a:buNone/>
            </a:pPr>
            <a:r>
              <a:rPr lang="en-US" sz="1300" dirty="0">
                <a:solidFill>
                  <a:schemeClr val="tx2"/>
                </a:solidFill>
              </a:rPr>
              <a:t>Illustrative: 800 simulated opportunities in Salesforce's object shape (10.4 months). The same pipeline runs live on 40 seeded opportunities in a Salesforce trial org.</a:t>
            </a:r>
            <a:endParaRPr lang="en-US" sz="1300" dirty="0"/>
          </a:p>
        </p:txBody>
      </p:sp>
      <p:sp>
        <p:nvSpPr>
          <p:cNvPr id="7" name="Finding 1"/>
          <p:cNvSpPr/>
          <p:nvPr/>
        </p:nvSpPr>
        <p:spPr>
          <a:xfrm>
            <a:off x="6035040" y="1371600"/>
            <a:ext cx="5577840" cy="1051560"/>
          </a:xfrm>
          <a:prstGeom prst="roundRect">
            <a:avLst>
              <a:gd name="adj" fmla="val 10435"/>
            </a:avLst>
          </a:prstGeom>
          <a:solidFill>
            <a:schemeClr val="bg2"/>
          </a:solidFill>
          <a:ln/>
        </p:spPr>
      </p:sp>
      <p:sp>
        <p:nvSpPr>
          <p:cNvPr id="8" name="Finding 1 chip"/>
          <p:cNvSpPr/>
          <p:nvPr/>
        </p:nvSpPr>
        <p:spPr>
          <a:xfrm>
            <a:off x="6263640" y="1508760"/>
            <a:ext cx="2103120" cy="310896"/>
          </a:xfrm>
          <a:prstGeom prst="roundRect">
            <a:avLst>
              <a:gd name="adj" fmla="val 50000"/>
            </a:avLst>
          </a:prstGeom>
          <a:solidFill>
            <a:schemeClr val="accent1"/>
          </a:solidFill>
          <a:ln/>
        </p:spPr>
      </p:sp>
      <p:sp>
        <p:nvSpPr>
          <p:cNvPr id="9" name="Finding 1 label"/>
          <p:cNvSpPr txBox="1"/>
          <p:nvPr/>
        </p:nvSpPr>
        <p:spPr>
          <a:xfrm>
            <a:off x="6263640" y="1508760"/>
            <a:ext cx="2103120" cy="310896"/>
          </a:xfrm>
          <a:prstGeom prst="rect">
            <a:avLst/>
          </a:prstGeom>
          <a:noFill/>
          <a:ln/>
        </p:spPr>
        <p:txBody>
          <a:bodyPr wrap="square" lIns="0" tIns="0" rIns="0" bIns="0" rtlCol="0" anchor="ctr"/>
          <a:lstStyle/>
          <a:p>
            <a:pPr algn="ctr" indent="0" marL="0">
              <a:buNone/>
            </a:pPr>
            <a:r>
              <a:rPr lang="en-US" sz="1200" b="1" dirty="0">
                <a:solidFill>
                  <a:schemeClr val="bg1"/>
                </a:solidFill>
              </a:rPr>
              <a:t>Accelerate bookings</a:t>
            </a:r>
            <a:endParaRPr lang="en-US" sz="1200" dirty="0"/>
          </a:p>
        </p:txBody>
      </p:sp>
      <p:sp>
        <p:nvSpPr>
          <p:cNvPr id="10" name="Finding 1 text"/>
          <p:cNvSpPr txBox="1"/>
          <p:nvPr/>
        </p:nvSpPr>
        <p:spPr>
          <a:xfrm>
            <a:off x="6263640" y="1883664"/>
            <a:ext cx="5166360" cy="457200"/>
          </a:xfrm>
          <a:prstGeom prst="rect">
            <a:avLst/>
          </a:prstGeom>
          <a:noFill/>
          <a:ln/>
        </p:spPr>
        <p:txBody>
          <a:bodyPr wrap="square" lIns="0" tIns="0" rIns="0" bIns="0" rtlCol="0" anchor="t"/>
          <a:lstStyle/>
          <a:p>
            <a:pPr indent="0" marL="0">
              <a:buNone/>
            </a:pPr>
            <a:r>
              <a:rPr lang="en-US" sz="1400" dirty="0">
                <a:solidFill>
                  <a:schemeClr val="tx2"/>
                </a:solidFill>
              </a:rPr>
              <a:t>EMEA discount approvals take 7.0 days vs 1.2 in the fastest region.</a:t>
            </a:r>
            <a:endParaRPr lang="en-US" sz="1400" dirty="0"/>
          </a:p>
        </p:txBody>
      </p:sp>
      <p:sp>
        <p:nvSpPr>
          <p:cNvPr id="11" name="Finding 2"/>
          <p:cNvSpPr/>
          <p:nvPr/>
        </p:nvSpPr>
        <p:spPr>
          <a:xfrm>
            <a:off x="6035040" y="2560320"/>
            <a:ext cx="5577840" cy="1051560"/>
          </a:xfrm>
          <a:prstGeom prst="roundRect">
            <a:avLst>
              <a:gd name="adj" fmla="val 10435"/>
            </a:avLst>
          </a:prstGeom>
          <a:solidFill>
            <a:schemeClr val="bg2"/>
          </a:solidFill>
          <a:ln/>
        </p:spPr>
      </p:sp>
      <p:sp>
        <p:nvSpPr>
          <p:cNvPr id="12" name="Finding 2 chip"/>
          <p:cNvSpPr/>
          <p:nvPr/>
        </p:nvSpPr>
        <p:spPr>
          <a:xfrm>
            <a:off x="6263640" y="2697480"/>
            <a:ext cx="2103120" cy="310896"/>
          </a:xfrm>
          <a:prstGeom prst="roundRect">
            <a:avLst>
              <a:gd name="adj" fmla="val 50000"/>
            </a:avLst>
          </a:prstGeom>
          <a:solidFill>
            <a:schemeClr val="accent1"/>
          </a:solidFill>
          <a:ln/>
        </p:spPr>
      </p:sp>
      <p:sp>
        <p:nvSpPr>
          <p:cNvPr id="13" name="Finding 2 label"/>
          <p:cNvSpPr txBox="1"/>
          <p:nvPr/>
        </p:nvSpPr>
        <p:spPr>
          <a:xfrm>
            <a:off x="6263640" y="2697480"/>
            <a:ext cx="2103120" cy="310896"/>
          </a:xfrm>
          <a:prstGeom prst="rect">
            <a:avLst/>
          </a:prstGeom>
          <a:noFill/>
          <a:ln/>
        </p:spPr>
        <p:txBody>
          <a:bodyPr wrap="square" lIns="0" tIns="0" rIns="0" bIns="0" rtlCol="0" anchor="ctr"/>
          <a:lstStyle/>
          <a:p>
            <a:pPr algn="ctr" indent="0" marL="0">
              <a:buNone/>
            </a:pPr>
            <a:r>
              <a:rPr lang="en-US" sz="1200" b="1" dirty="0">
                <a:solidFill>
                  <a:schemeClr val="bg1"/>
                </a:solidFill>
              </a:rPr>
              <a:t>Improve win rate</a:t>
            </a:r>
            <a:endParaRPr lang="en-US" sz="1200" dirty="0"/>
          </a:p>
        </p:txBody>
      </p:sp>
      <p:sp>
        <p:nvSpPr>
          <p:cNvPr id="14" name="Finding 2 text"/>
          <p:cNvSpPr txBox="1"/>
          <p:nvPr/>
        </p:nvSpPr>
        <p:spPr>
          <a:xfrm>
            <a:off x="6263640" y="3072384"/>
            <a:ext cx="5166360" cy="457200"/>
          </a:xfrm>
          <a:prstGeom prst="rect">
            <a:avLst/>
          </a:prstGeom>
          <a:noFill/>
          <a:ln/>
        </p:spPr>
        <p:txBody>
          <a:bodyPr wrap="square" lIns="0" tIns="0" rIns="0" bIns="0" rtlCol="0" anchor="t"/>
          <a:lstStyle/>
          <a:p>
            <a:pPr indent="0" marL="0">
              <a:buNone/>
            </a:pPr>
            <a:r>
              <a:rPr lang="en-US" sz="1400" dirty="0">
                <a:solidFill>
                  <a:schemeClr val="tx2"/>
                </a:solidFill>
              </a:rPr>
              <a:t>19% of negotiated deals loop back for a re-quote; they win 31% vs 49%.</a:t>
            </a:r>
            <a:endParaRPr lang="en-US" sz="1400" dirty="0"/>
          </a:p>
        </p:txBody>
      </p:sp>
      <p:sp>
        <p:nvSpPr>
          <p:cNvPr id="15" name="Finding 3"/>
          <p:cNvSpPr/>
          <p:nvPr/>
        </p:nvSpPr>
        <p:spPr>
          <a:xfrm>
            <a:off x="6035040" y="3749040"/>
            <a:ext cx="5577840" cy="1051560"/>
          </a:xfrm>
          <a:prstGeom prst="roundRect">
            <a:avLst>
              <a:gd name="adj" fmla="val 10435"/>
            </a:avLst>
          </a:prstGeom>
          <a:solidFill>
            <a:schemeClr val="bg2"/>
          </a:solidFill>
          <a:ln/>
        </p:spPr>
      </p:sp>
      <p:sp>
        <p:nvSpPr>
          <p:cNvPr id="16" name="Finding 3 chip"/>
          <p:cNvSpPr/>
          <p:nvPr/>
        </p:nvSpPr>
        <p:spPr>
          <a:xfrm>
            <a:off x="6263640" y="3886200"/>
            <a:ext cx="2103120" cy="310896"/>
          </a:xfrm>
          <a:prstGeom prst="roundRect">
            <a:avLst>
              <a:gd name="adj" fmla="val 50000"/>
            </a:avLst>
          </a:prstGeom>
          <a:solidFill>
            <a:schemeClr val="accent1"/>
          </a:solidFill>
          <a:ln/>
        </p:spPr>
      </p:sp>
      <p:sp>
        <p:nvSpPr>
          <p:cNvPr id="17" name="Finding 3 label"/>
          <p:cNvSpPr txBox="1"/>
          <p:nvPr/>
        </p:nvSpPr>
        <p:spPr>
          <a:xfrm>
            <a:off x="6263640" y="3886200"/>
            <a:ext cx="2103120" cy="310896"/>
          </a:xfrm>
          <a:prstGeom prst="rect">
            <a:avLst/>
          </a:prstGeom>
          <a:noFill/>
          <a:ln/>
        </p:spPr>
        <p:txBody>
          <a:bodyPr wrap="square" lIns="0" tIns="0" rIns="0" bIns="0" rtlCol="0" anchor="ctr"/>
          <a:lstStyle/>
          <a:p>
            <a:pPr algn="ctr" indent="0" marL="0">
              <a:buNone/>
            </a:pPr>
            <a:r>
              <a:rPr lang="en-US" sz="1200" b="1" dirty="0">
                <a:solidFill>
                  <a:schemeClr val="bg1"/>
                </a:solidFill>
              </a:rPr>
              <a:t>Sales productivity</a:t>
            </a:r>
            <a:endParaRPr lang="en-US" sz="1200" dirty="0"/>
          </a:p>
        </p:txBody>
      </p:sp>
      <p:sp>
        <p:nvSpPr>
          <p:cNvPr id="18" name="Finding 3 text"/>
          <p:cNvSpPr txBox="1"/>
          <p:nvPr/>
        </p:nvSpPr>
        <p:spPr>
          <a:xfrm>
            <a:off x="6263640" y="4261104"/>
            <a:ext cx="5166360" cy="457200"/>
          </a:xfrm>
          <a:prstGeom prst="rect">
            <a:avLst/>
          </a:prstGeom>
          <a:noFill/>
          <a:ln/>
        </p:spPr>
        <p:txBody>
          <a:bodyPr wrap="square" lIns="0" tIns="0" rIns="0" bIns="0" rtlCol="0" anchor="t"/>
          <a:lstStyle/>
          <a:p>
            <a:pPr indent="0" marL="0">
              <a:buNone/>
            </a:pPr>
            <a:r>
              <a:rPr lang="en-US" sz="1400" dirty="0">
                <a:solidFill>
                  <a:schemeClr val="tx2"/>
                </a:solidFill>
              </a:rPr>
              <a:t>12% of deals skip Qualification and win 18% vs 39%.</a:t>
            </a:r>
            <a:endParaRPr lang="en-US" sz="1400" dirty="0"/>
          </a:p>
        </p:txBody>
      </p:sp>
      <p:sp>
        <p:nvSpPr>
          <p:cNvPr id="19" name="KPI 1"/>
          <p:cNvSpPr/>
          <p:nvPr/>
        </p:nvSpPr>
        <p:spPr>
          <a:xfrm>
            <a:off x="548640" y="5074920"/>
            <a:ext cx="2103120" cy="1097280"/>
          </a:xfrm>
          <a:prstGeom prst="roundRect">
            <a:avLst>
              <a:gd name="adj" fmla="val 10000"/>
            </a:avLst>
          </a:prstGeom>
          <a:solidFill>
            <a:schemeClr val="accent3"/>
          </a:solidFill>
          <a:ln/>
        </p:spPr>
      </p:sp>
      <p:sp>
        <p:nvSpPr>
          <p:cNvPr id="20" name="KPI 1 value"/>
          <p:cNvSpPr txBox="1"/>
          <p:nvPr/>
        </p:nvSpPr>
        <p:spPr>
          <a:xfrm>
            <a:off x="73152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800</a:t>
            </a:r>
            <a:endParaRPr lang="en-US" sz="2800" dirty="0"/>
          </a:p>
        </p:txBody>
      </p:sp>
      <p:sp>
        <p:nvSpPr>
          <p:cNvPr id="21" name="KPI 1 label"/>
          <p:cNvSpPr txBox="1"/>
          <p:nvPr/>
        </p:nvSpPr>
        <p:spPr>
          <a:xfrm>
            <a:off x="73152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deals analysed</a:t>
            </a:r>
            <a:endParaRPr lang="en-US" sz="1200" dirty="0"/>
          </a:p>
        </p:txBody>
      </p:sp>
      <p:sp>
        <p:nvSpPr>
          <p:cNvPr id="22" name="KPI 2"/>
          <p:cNvSpPr/>
          <p:nvPr/>
        </p:nvSpPr>
        <p:spPr>
          <a:xfrm>
            <a:off x="2788920" y="5074920"/>
            <a:ext cx="2103120" cy="1097280"/>
          </a:xfrm>
          <a:prstGeom prst="roundRect">
            <a:avLst>
              <a:gd name="adj" fmla="val 10000"/>
            </a:avLst>
          </a:prstGeom>
          <a:solidFill>
            <a:schemeClr val="accent3"/>
          </a:solidFill>
          <a:ln/>
        </p:spPr>
      </p:sp>
      <p:sp>
        <p:nvSpPr>
          <p:cNvPr id="23" name="KPI 2 value"/>
          <p:cNvSpPr txBox="1"/>
          <p:nvPr/>
        </p:nvSpPr>
        <p:spPr>
          <a:xfrm>
            <a:off x="297180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37%</a:t>
            </a:r>
            <a:endParaRPr lang="en-US" sz="2800" dirty="0"/>
          </a:p>
        </p:txBody>
      </p:sp>
      <p:sp>
        <p:nvSpPr>
          <p:cNvPr id="24" name="KPI 2 label"/>
          <p:cNvSpPr txBox="1"/>
          <p:nvPr/>
        </p:nvSpPr>
        <p:spPr>
          <a:xfrm>
            <a:off x="297180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win rate</a:t>
            </a:r>
            <a:endParaRPr lang="en-US" sz="1200" dirty="0"/>
          </a:p>
        </p:txBody>
      </p:sp>
      <p:sp>
        <p:nvSpPr>
          <p:cNvPr id="25" name="KPI 3"/>
          <p:cNvSpPr/>
          <p:nvPr/>
        </p:nvSpPr>
        <p:spPr>
          <a:xfrm>
            <a:off x="5029200" y="5074920"/>
            <a:ext cx="2103120" cy="1097280"/>
          </a:xfrm>
          <a:prstGeom prst="roundRect">
            <a:avLst>
              <a:gd name="adj" fmla="val 10000"/>
            </a:avLst>
          </a:prstGeom>
          <a:solidFill>
            <a:schemeClr val="accent3"/>
          </a:solidFill>
          <a:ln/>
        </p:spPr>
      </p:sp>
      <p:sp>
        <p:nvSpPr>
          <p:cNvPr id="26" name="KPI 3 value"/>
          <p:cNvSpPr txBox="1"/>
          <p:nvPr/>
        </p:nvSpPr>
        <p:spPr>
          <a:xfrm>
            <a:off x="521208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33.9d</a:t>
            </a:r>
            <a:endParaRPr lang="en-US" sz="2800" dirty="0"/>
          </a:p>
        </p:txBody>
      </p:sp>
      <p:sp>
        <p:nvSpPr>
          <p:cNvPr id="27" name="KPI 3 label"/>
          <p:cNvSpPr txBox="1"/>
          <p:nvPr/>
        </p:nvSpPr>
        <p:spPr>
          <a:xfrm>
            <a:off x="521208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median cycle time</a:t>
            </a:r>
            <a:endParaRPr lang="en-US" sz="1200" dirty="0"/>
          </a:p>
        </p:txBody>
      </p:sp>
      <p:sp>
        <p:nvSpPr>
          <p:cNvPr id="28" name="KPI 4"/>
          <p:cNvSpPr/>
          <p:nvPr/>
        </p:nvSpPr>
        <p:spPr>
          <a:xfrm>
            <a:off x="7269480" y="5074920"/>
            <a:ext cx="2103120" cy="1097280"/>
          </a:xfrm>
          <a:prstGeom prst="roundRect">
            <a:avLst>
              <a:gd name="adj" fmla="val 10000"/>
            </a:avLst>
          </a:prstGeom>
          <a:solidFill>
            <a:schemeClr val="accent3"/>
          </a:solidFill>
          <a:ln/>
        </p:spPr>
      </p:sp>
      <p:sp>
        <p:nvSpPr>
          <p:cNvPr id="29" name="KPI 4 value"/>
          <p:cNvSpPr txBox="1"/>
          <p:nvPr/>
        </p:nvSpPr>
        <p:spPr>
          <a:xfrm>
            <a:off x="745236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67</a:t>
            </a:r>
            <a:endParaRPr lang="en-US" sz="2800" dirty="0"/>
          </a:p>
        </p:txBody>
      </p:sp>
      <p:sp>
        <p:nvSpPr>
          <p:cNvPr id="30" name="KPI 4 label"/>
          <p:cNvSpPr txBox="1"/>
          <p:nvPr/>
        </p:nvSpPr>
        <p:spPr>
          <a:xfrm>
            <a:off x="745236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distinct paths</a:t>
            </a:r>
            <a:endParaRPr lang="en-US" sz="1200" dirty="0"/>
          </a:p>
        </p:txBody>
      </p:sp>
      <p:sp>
        <p:nvSpPr>
          <p:cNvPr id="31" name="KPI 5"/>
          <p:cNvSpPr/>
          <p:nvPr/>
        </p:nvSpPr>
        <p:spPr>
          <a:xfrm>
            <a:off x="9509760" y="5074920"/>
            <a:ext cx="2103120" cy="1097280"/>
          </a:xfrm>
          <a:prstGeom prst="roundRect">
            <a:avLst>
              <a:gd name="adj" fmla="val 10000"/>
            </a:avLst>
          </a:prstGeom>
          <a:solidFill>
            <a:schemeClr val="accent3"/>
          </a:solidFill>
          <a:ln/>
        </p:spPr>
      </p:sp>
      <p:sp>
        <p:nvSpPr>
          <p:cNvPr id="32" name="KPI 5 value"/>
          <p:cNvSpPr txBox="1"/>
          <p:nvPr/>
        </p:nvSpPr>
        <p:spPr>
          <a:xfrm>
            <a:off x="9692640" y="5193792"/>
            <a:ext cx="1737360" cy="502920"/>
          </a:xfrm>
          <a:prstGeom prst="rect">
            <a:avLst/>
          </a:prstGeom>
          <a:noFill/>
          <a:ln/>
        </p:spPr>
        <p:txBody>
          <a:bodyPr wrap="square" lIns="0" tIns="0" rIns="0" bIns="0" rtlCol="0" anchor="t"/>
          <a:lstStyle/>
          <a:p>
            <a:pPr indent="0" marL="0">
              <a:buNone/>
            </a:pPr>
            <a:r>
              <a:rPr lang="en-US" sz="2800" b="1" dirty="0">
                <a:solidFill>
                  <a:schemeClr val="tx2"/>
                </a:solidFill>
              </a:rPr>
              <a:t>14%</a:t>
            </a:r>
            <a:endParaRPr lang="en-US" sz="2800" dirty="0"/>
          </a:p>
        </p:txBody>
      </p:sp>
      <p:sp>
        <p:nvSpPr>
          <p:cNvPr id="33" name="KPI 5 label"/>
          <p:cNvSpPr txBox="1"/>
          <p:nvPr/>
        </p:nvSpPr>
        <p:spPr>
          <a:xfrm>
            <a:off x="9692640" y="5715000"/>
            <a:ext cx="1737360" cy="320040"/>
          </a:xfrm>
          <a:prstGeom prst="rect">
            <a:avLst/>
          </a:prstGeom>
          <a:noFill/>
          <a:ln/>
        </p:spPr>
        <p:txBody>
          <a:bodyPr wrap="square" lIns="0" tIns="0" rIns="0" bIns="0" rtlCol="0" anchor="t"/>
          <a:lstStyle/>
          <a:p>
            <a:pPr indent="0" marL="0">
              <a:buNone/>
            </a:pPr>
            <a:r>
              <a:rPr lang="en-US" sz="1200" dirty="0">
                <a:solidFill>
                  <a:schemeClr val="accent6"/>
                </a:solidFill>
              </a:rPr>
              <a:t>match the winning trace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Approach: from finding value to realising it</a:t>
            </a:r>
            <a:endParaRPr lang="en-US" sz="3000" dirty="0"/>
          </a:p>
        </p:txBody>
      </p:sp>
      <p:sp>
        <p:nvSpPr>
          <p:cNvPr id="3" name="Stage 1 card"/>
          <p:cNvSpPr/>
          <p:nvPr/>
        </p:nvSpPr>
        <p:spPr>
          <a:xfrm>
            <a:off x="548640" y="1691640"/>
            <a:ext cx="2606040" cy="3246120"/>
          </a:xfrm>
          <a:prstGeom prst="roundRect">
            <a:avLst>
              <a:gd name="adj" fmla="val 4211"/>
            </a:avLst>
          </a:prstGeom>
          <a:solidFill>
            <a:schemeClr val="tx2"/>
          </a:solidFill>
          <a:ln/>
        </p:spPr>
      </p:sp>
      <p:sp>
        <p:nvSpPr>
          <p:cNvPr id="4" name="Stage 1 marker"/>
          <p:cNvSpPr/>
          <p:nvPr/>
        </p:nvSpPr>
        <p:spPr>
          <a:xfrm>
            <a:off x="777240" y="1920240"/>
            <a:ext cx="457200" cy="457200"/>
          </a:xfrm>
          <a:prstGeom prst="ellipse">
            <a:avLst/>
          </a:prstGeom>
          <a:solidFill>
            <a:schemeClr val="accent1"/>
          </a:solidFill>
          <a:ln/>
        </p:spPr>
      </p:sp>
      <p:sp>
        <p:nvSpPr>
          <p:cNvPr id="5" name="Stage 1 number"/>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Stage 1 title"/>
          <p:cNvSpPr txBox="1"/>
          <p:nvPr/>
        </p:nvSpPr>
        <p:spPr>
          <a:xfrm>
            <a:off x="777240" y="2560320"/>
            <a:ext cx="2148840" cy="457200"/>
          </a:xfrm>
          <a:prstGeom prst="rect">
            <a:avLst/>
          </a:prstGeom>
          <a:noFill/>
          <a:ln/>
        </p:spPr>
        <p:txBody>
          <a:bodyPr wrap="square" lIns="0" tIns="0" rIns="0" bIns="0" rtlCol="0" anchor="t"/>
          <a:lstStyle/>
          <a:p>
            <a:pPr indent="0" marL="0">
              <a:buNone/>
            </a:pPr>
            <a:r>
              <a:rPr lang="en-US" sz="2200" b="1" dirty="0">
                <a:solidFill>
                  <a:schemeClr val="bg1"/>
                </a:solidFill>
              </a:rPr>
              <a:t>Identify</a:t>
            </a:r>
            <a:endParaRPr lang="en-US" sz="2200" dirty="0"/>
          </a:p>
        </p:txBody>
      </p:sp>
      <p:sp>
        <p:nvSpPr>
          <p:cNvPr id="7" name="Stage 1 body"/>
          <p:cNvSpPr txBox="1"/>
          <p:nvPr/>
        </p:nvSpPr>
        <p:spPr>
          <a:xfrm>
            <a:off x="777240" y="3063240"/>
            <a:ext cx="2148840" cy="1097280"/>
          </a:xfrm>
          <a:prstGeom prst="rect">
            <a:avLst/>
          </a:prstGeom>
          <a:noFill/>
          <a:ln/>
        </p:spPr>
        <p:txBody>
          <a:bodyPr wrap="square" lIns="0" tIns="0" rIns="0" bIns="0" rtlCol="0" anchor="t"/>
          <a:lstStyle/>
          <a:p>
            <a:pPr indent="0" marL="0">
              <a:buNone/>
            </a:pPr>
            <a:r>
              <a:rPr lang="en-US" sz="1400" dirty="0">
                <a:solidFill>
                  <a:schemeClr val="bg1"/>
                </a:solidFill>
              </a:rPr>
              <a:t>Mine the CRM event log: process map, variants and bottlenecks.</a:t>
            </a:r>
            <a:endParaRPr lang="en-US" sz="1400" dirty="0"/>
          </a:p>
        </p:txBody>
      </p:sp>
      <p:sp>
        <p:nvSpPr>
          <p:cNvPr id="8" name="Stage 1 output"/>
          <p:cNvSpPr txBox="1"/>
          <p:nvPr/>
        </p:nvSpPr>
        <p:spPr>
          <a:xfrm>
            <a:off x="777240" y="4251960"/>
            <a:ext cx="2148840" cy="548640"/>
          </a:xfrm>
          <a:prstGeom prst="rect">
            <a:avLst/>
          </a:prstGeom>
          <a:noFill/>
          <a:ln/>
        </p:spPr>
        <p:txBody>
          <a:bodyPr wrap="square" lIns="0" tIns="0" rIns="0" bIns="0" rtlCol="0" anchor="t"/>
          <a:lstStyle/>
          <a:p>
            <a:pPr indent="0" marL="0">
              <a:buNone/>
            </a:pPr>
            <a:r>
              <a:rPr lang="en-US" sz="1300" b="1" dirty="0">
                <a:solidFill>
                  <a:schemeClr val="accent3"/>
                </a:solidFill>
              </a:rPr>
              <a:t>Output: </a:t>
            </a:r>
            <a:pPr indent="0" marL="0">
              <a:buNone/>
            </a:pPr>
            <a:r>
              <a:rPr lang="en-US" sz="1300" dirty="0">
                <a:solidFill>
                  <a:schemeClr val="accent3"/>
                </a:solidFill>
              </a:rPr>
              <a:t>3 opportunities found</a:t>
            </a:r>
            <a:endParaRPr lang="en-US" sz="1300" dirty="0"/>
          </a:p>
        </p:txBody>
      </p:sp>
      <p:sp>
        <p:nvSpPr>
          <p:cNvPr id="9" name="Stage 1 arrow"/>
          <p:cNvSpPr/>
          <p:nvPr/>
        </p:nvSpPr>
        <p:spPr>
          <a:xfrm>
            <a:off x="3182112" y="3154680"/>
            <a:ext cx="173736" cy="310896"/>
          </a:xfrm>
          <a:prstGeom prst="rightArrow">
            <a:avLst/>
          </a:prstGeom>
          <a:solidFill>
            <a:schemeClr val="accent2"/>
          </a:solidFill>
          <a:ln/>
        </p:spPr>
      </p:sp>
      <p:sp>
        <p:nvSpPr>
          <p:cNvPr id="10" name="Stage 2 card"/>
          <p:cNvSpPr/>
          <p:nvPr/>
        </p:nvSpPr>
        <p:spPr>
          <a:xfrm>
            <a:off x="3383280" y="1691640"/>
            <a:ext cx="2606040" cy="3246120"/>
          </a:xfrm>
          <a:prstGeom prst="roundRect">
            <a:avLst>
              <a:gd name="adj" fmla="val 4211"/>
            </a:avLst>
          </a:prstGeom>
          <a:solidFill>
            <a:schemeClr val="tx2"/>
          </a:solidFill>
          <a:ln/>
        </p:spPr>
      </p:sp>
      <p:sp>
        <p:nvSpPr>
          <p:cNvPr id="11" name="Stage 2 marker"/>
          <p:cNvSpPr/>
          <p:nvPr/>
        </p:nvSpPr>
        <p:spPr>
          <a:xfrm>
            <a:off x="3611880" y="1920240"/>
            <a:ext cx="457200" cy="457200"/>
          </a:xfrm>
          <a:prstGeom prst="ellipse">
            <a:avLst/>
          </a:prstGeom>
          <a:solidFill>
            <a:schemeClr val="accent1"/>
          </a:solidFill>
          <a:ln/>
        </p:spPr>
      </p:sp>
      <p:sp>
        <p:nvSpPr>
          <p:cNvPr id="12" name="Stage 2 number"/>
          <p:cNvSpPr txBox="1"/>
          <p:nvPr/>
        </p:nvSpPr>
        <p:spPr>
          <a:xfrm>
            <a:off x="3611880"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tage 2 title"/>
          <p:cNvSpPr txBox="1"/>
          <p:nvPr/>
        </p:nvSpPr>
        <p:spPr>
          <a:xfrm>
            <a:off x="3611880" y="2560320"/>
            <a:ext cx="2148840" cy="457200"/>
          </a:xfrm>
          <a:prstGeom prst="rect">
            <a:avLst/>
          </a:prstGeom>
          <a:noFill/>
          <a:ln/>
        </p:spPr>
        <p:txBody>
          <a:bodyPr wrap="square" lIns="0" tIns="0" rIns="0" bIns="0" rtlCol="0" anchor="t"/>
          <a:lstStyle/>
          <a:p>
            <a:pPr indent="0" marL="0">
              <a:buNone/>
            </a:pPr>
            <a:r>
              <a:rPr lang="en-US" sz="2200" b="1" dirty="0">
                <a:solidFill>
                  <a:schemeClr val="bg1"/>
                </a:solidFill>
              </a:rPr>
              <a:t>Frame</a:t>
            </a:r>
            <a:endParaRPr lang="en-US" sz="2200" dirty="0"/>
          </a:p>
        </p:txBody>
      </p:sp>
      <p:sp>
        <p:nvSpPr>
          <p:cNvPr id="14" name="Stage 2 body"/>
          <p:cNvSpPr txBox="1"/>
          <p:nvPr/>
        </p:nvSpPr>
        <p:spPr>
          <a:xfrm>
            <a:off x="3611880" y="3063240"/>
            <a:ext cx="2148840" cy="1097280"/>
          </a:xfrm>
          <a:prstGeom prst="rect">
            <a:avLst/>
          </a:prstGeom>
          <a:noFill/>
          <a:ln/>
        </p:spPr>
        <p:txBody>
          <a:bodyPr wrap="square" lIns="0" tIns="0" rIns="0" bIns="0" rtlCol="0" anchor="t"/>
          <a:lstStyle/>
          <a:p>
            <a:pPr indent="0" marL="0">
              <a:buNone/>
            </a:pPr>
            <a:r>
              <a:rPr lang="en-US" sz="1400" dirty="0">
                <a:solidFill>
                  <a:schemeClr val="bg1"/>
                </a:solidFill>
              </a:rPr>
              <a:t>Size each opportunity from its KPI baseline and illustrative assumptions to validate with process owners.</a:t>
            </a:r>
            <a:endParaRPr lang="en-US" sz="1400" dirty="0"/>
          </a:p>
        </p:txBody>
      </p:sp>
      <p:sp>
        <p:nvSpPr>
          <p:cNvPr id="15" name="Stage 2 output"/>
          <p:cNvSpPr txBox="1"/>
          <p:nvPr/>
        </p:nvSpPr>
        <p:spPr>
          <a:xfrm>
            <a:off x="3611880" y="4251960"/>
            <a:ext cx="2148840" cy="548640"/>
          </a:xfrm>
          <a:prstGeom prst="rect">
            <a:avLst/>
          </a:prstGeom>
          <a:noFill/>
          <a:ln/>
        </p:spPr>
        <p:txBody>
          <a:bodyPr wrap="square" lIns="0" tIns="0" rIns="0" bIns="0" rtlCol="0" anchor="t"/>
          <a:lstStyle/>
          <a:p>
            <a:pPr indent="0" marL="0">
              <a:buNone/>
            </a:pPr>
            <a:r>
              <a:rPr lang="en-US" sz="1300" b="1" dirty="0">
                <a:solidFill>
                  <a:schemeClr val="accent3"/>
                </a:solidFill>
              </a:rPr>
              <a:t>Output: </a:t>
            </a:r>
            <a:pPr indent="0" marL="0">
              <a:buNone/>
            </a:pPr>
            <a:r>
              <a:rPr lang="en-US" sz="1300" dirty="0">
                <a:solidFill>
                  <a:schemeClr val="accent3"/>
                </a:solidFill>
              </a:rPr>
              <a:t>$2.8M gross scenario</a:t>
            </a:r>
            <a:endParaRPr lang="en-US" sz="1300" dirty="0"/>
          </a:p>
        </p:txBody>
      </p:sp>
      <p:sp>
        <p:nvSpPr>
          <p:cNvPr id="16" name="Stage 2 arrow"/>
          <p:cNvSpPr/>
          <p:nvPr/>
        </p:nvSpPr>
        <p:spPr>
          <a:xfrm>
            <a:off x="6016752" y="3154680"/>
            <a:ext cx="173736" cy="310896"/>
          </a:xfrm>
          <a:prstGeom prst="rightArrow">
            <a:avLst/>
          </a:prstGeom>
          <a:solidFill>
            <a:schemeClr val="accent2"/>
          </a:solidFill>
          <a:ln/>
        </p:spPr>
      </p:sp>
      <p:sp>
        <p:nvSpPr>
          <p:cNvPr id="17" name="Stage 3 card"/>
          <p:cNvSpPr/>
          <p:nvPr/>
        </p:nvSpPr>
        <p:spPr>
          <a:xfrm>
            <a:off x="6217920" y="1691640"/>
            <a:ext cx="2606040" cy="3246120"/>
          </a:xfrm>
          <a:prstGeom prst="roundRect">
            <a:avLst>
              <a:gd name="adj" fmla="val 4211"/>
            </a:avLst>
          </a:prstGeom>
          <a:solidFill>
            <a:schemeClr val="bg2"/>
          </a:solidFill>
          <a:ln/>
        </p:spPr>
      </p:sp>
      <p:sp>
        <p:nvSpPr>
          <p:cNvPr id="18" name="Stage 3 marker"/>
          <p:cNvSpPr/>
          <p:nvPr/>
        </p:nvSpPr>
        <p:spPr>
          <a:xfrm>
            <a:off x="6446520" y="1920240"/>
            <a:ext cx="457200" cy="457200"/>
          </a:xfrm>
          <a:prstGeom prst="ellipse">
            <a:avLst/>
          </a:prstGeom>
          <a:solidFill>
            <a:schemeClr val="accent3"/>
          </a:solidFill>
          <a:ln/>
        </p:spPr>
      </p:sp>
      <p:sp>
        <p:nvSpPr>
          <p:cNvPr id="19" name="Stage 3 number"/>
          <p:cNvSpPr txBox="1"/>
          <p:nvPr/>
        </p:nvSpPr>
        <p:spPr>
          <a:xfrm>
            <a:off x="6446520" y="19202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20" name="Stage 3 title"/>
          <p:cNvSpPr txBox="1"/>
          <p:nvPr/>
        </p:nvSpPr>
        <p:spPr>
          <a:xfrm>
            <a:off x="6446520" y="2560320"/>
            <a:ext cx="2148840" cy="457200"/>
          </a:xfrm>
          <a:prstGeom prst="rect">
            <a:avLst/>
          </a:prstGeom>
          <a:noFill/>
          <a:ln/>
        </p:spPr>
        <p:txBody>
          <a:bodyPr wrap="square" lIns="0" tIns="0" rIns="0" bIns="0" rtlCol="0" anchor="t"/>
          <a:lstStyle/>
          <a:p>
            <a:pPr indent="0" marL="0">
              <a:buNone/>
            </a:pPr>
            <a:r>
              <a:rPr lang="en-US" sz="2200" b="1" dirty="0">
                <a:solidFill>
                  <a:schemeClr val="tx2"/>
                </a:solidFill>
              </a:rPr>
              <a:t>Commit</a:t>
            </a:r>
            <a:endParaRPr lang="en-US" sz="2200" dirty="0"/>
          </a:p>
        </p:txBody>
      </p:sp>
      <p:sp>
        <p:nvSpPr>
          <p:cNvPr id="21" name="Stage 3 body"/>
          <p:cNvSpPr txBox="1"/>
          <p:nvPr/>
        </p:nvSpPr>
        <p:spPr>
          <a:xfrm>
            <a:off x="6446520" y="3063240"/>
            <a:ext cx="2148840" cy="1097280"/>
          </a:xfrm>
          <a:prstGeom prst="rect">
            <a:avLst/>
          </a:prstGeom>
          <a:noFill/>
          <a:ln/>
        </p:spPr>
        <p:txBody>
          <a:bodyPr wrap="square" lIns="0" tIns="0" rIns="0" bIns="0" rtlCol="0" anchor="t"/>
          <a:lstStyle/>
          <a:p>
            <a:pPr indent="0" marL="0">
              <a:buNone/>
            </a:pPr>
            <a:r>
              <a:rPr lang="en-US" sz="1400" dirty="0">
                <a:solidFill>
                  <a:schemeClr val="tx2"/>
                </a:solidFill>
              </a:rPr>
              <a:t>Validate KPI definitions and values with each opportunity owner.</a:t>
            </a:r>
            <a:endParaRPr lang="en-US" sz="1400" dirty="0"/>
          </a:p>
        </p:txBody>
      </p:sp>
      <p:sp>
        <p:nvSpPr>
          <p:cNvPr id="22" name="Stage 3 output"/>
          <p:cNvSpPr txBox="1"/>
          <p:nvPr/>
        </p:nvSpPr>
        <p:spPr>
          <a:xfrm>
            <a:off x="6446520" y="4251960"/>
            <a:ext cx="2148840" cy="548640"/>
          </a:xfrm>
          <a:prstGeom prst="rect">
            <a:avLst/>
          </a:prstGeom>
          <a:noFill/>
          <a:ln/>
        </p:spPr>
        <p:txBody>
          <a:bodyPr wrap="square" lIns="0" tIns="0" rIns="0" bIns="0" rtlCol="0" anchor="t"/>
          <a:lstStyle/>
          <a:p>
            <a:pPr indent="0" marL="0">
              <a:buNone/>
            </a:pPr>
            <a:r>
              <a:rPr lang="en-US" sz="1300" b="1" dirty="0">
                <a:solidFill>
                  <a:schemeClr val="accent6"/>
                </a:solidFill>
              </a:rPr>
              <a:t>Output: </a:t>
            </a:r>
            <a:pPr indent="0" marL="0">
              <a:buNone/>
            </a:pPr>
            <a:r>
              <a:rPr lang="en-US" sz="1300" dirty="0">
                <a:solidFill>
                  <a:schemeClr val="accent6"/>
                </a:solidFill>
              </a:rPr>
              <a:t>Signed-off committed value</a:t>
            </a:r>
            <a:endParaRPr lang="en-US" sz="1300" dirty="0"/>
          </a:p>
        </p:txBody>
      </p:sp>
      <p:sp>
        <p:nvSpPr>
          <p:cNvPr id="23" name="Stage 3 arrow"/>
          <p:cNvSpPr/>
          <p:nvPr/>
        </p:nvSpPr>
        <p:spPr>
          <a:xfrm>
            <a:off x="8851392" y="3154680"/>
            <a:ext cx="173736" cy="310896"/>
          </a:xfrm>
          <a:prstGeom prst="rightArrow">
            <a:avLst/>
          </a:prstGeom>
          <a:solidFill>
            <a:schemeClr val="accent2"/>
          </a:solidFill>
          <a:ln/>
        </p:spPr>
      </p:sp>
      <p:sp>
        <p:nvSpPr>
          <p:cNvPr id="24" name="Stage 4 card"/>
          <p:cNvSpPr/>
          <p:nvPr/>
        </p:nvSpPr>
        <p:spPr>
          <a:xfrm>
            <a:off x="9052560" y="1691640"/>
            <a:ext cx="2606040" cy="3246120"/>
          </a:xfrm>
          <a:prstGeom prst="roundRect">
            <a:avLst>
              <a:gd name="adj" fmla="val 4211"/>
            </a:avLst>
          </a:prstGeom>
          <a:solidFill>
            <a:schemeClr val="bg2"/>
          </a:solidFill>
          <a:ln/>
        </p:spPr>
      </p:sp>
      <p:sp>
        <p:nvSpPr>
          <p:cNvPr id="25" name="Stage 4 marker"/>
          <p:cNvSpPr/>
          <p:nvPr/>
        </p:nvSpPr>
        <p:spPr>
          <a:xfrm>
            <a:off x="9281160" y="1920240"/>
            <a:ext cx="457200" cy="457200"/>
          </a:xfrm>
          <a:prstGeom prst="ellipse">
            <a:avLst/>
          </a:prstGeom>
          <a:solidFill>
            <a:schemeClr val="accent3"/>
          </a:solidFill>
          <a:ln/>
        </p:spPr>
      </p:sp>
      <p:sp>
        <p:nvSpPr>
          <p:cNvPr id="26" name="Stage 4 number"/>
          <p:cNvSpPr txBox="1"/>
          <p:nvPr/>
        </p:nvSpPr>
        <p:spPr>
          <a:xfrm>
            <a:off x="9281160" y="19202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27" name="Stage 4 title"/>
          <p:cNvSpPr txBox="1"/>
          <p:nvPr/>
        </p:nvSpPr>
        <p:spPr>
          <a:xfrm>
            <a:off x="9281160" y="2560320"/>
            <a:ext cx="2148840" cy="457200"/>
          </a:xfrm>
          <a:prstGeom prst="rect">
            <a:avLst/>
          </a:prstGeom>
          <a:noFill/>
          <a:ln/>
        </p:spPr>
        <p:txBody>
          <a:bodyPr wrap="square" lIns="0" tIns="0" rIns="0" bIns="0" rtlCol="0" anchor="t"/>
          <a:lstStyle/>
          <a:p>
            <a:pPr indent="0" marL="0">
              <a:buNone/>
            </a:pPr>
            <a:r>
              <a:rPr lang="en-US" sz="2200" b="1" dirty="0">
                <a:solidFill>
                  <a:schemeClr val="tx2"/>
                </a:solidFill>
              </a:rPr>
              <a:t>Realize</a:t>
            </a:r>
            <a:endParaRPr lang="en-US" sz="2200" dirty="0"/>
          </a:p>
        </p:txBody>
      </p:sp>
      <p:sp>
        <p:nvSpPr>
          <p:cNvPr id="28" name="Stage 4 body"/>
          <p:cNvSpPr txBox="1"/>
          <p:nvPr/>
        </p:nvSpPr>
        <p:spPr>
          <a:xfrm>
            <a:off x="9281160" y="3063240"/>
            <a:ext cx="2148840" cy="1097280"/>
          </a:xfrm>
          <a:prstGeom prst="rect">
            <a:avLst/>
          </a:prstGeom>
          <a:noFill/>
          <a:ln/>
        </p:spPr>
        <p:txBody>
          <a:bodyPr wrap="square" lIns="0" tIns="0" rIns="0" bIns="0" rtlCol="0" anchor="t"/>
          <a:lstStyle/>
          <a:p>
            <a:pPr indent="0" marL="0">
              <a:buNone/>
            </a:pPr>
            <a:r>
              <a:rPr lang="en-US" sz="1400" dirty="0">
                <a:solidFill>
                  <a:schemeClr val="tx2"/>
                </a:solidFill>
              </a:rPr>
              <a:t>Act on the root cause, then track the KPI against its baseline.</a:t>
            </a:r>
            <a:endParaRPr lang="en-US" sz="1400" dirty="0"/>
          </a:p>
        </p:txBody>
      </p:sp>
      <p:sp>
        <p:nvSpPr>
          <p:cNvPr id="29" name="Stage 4 output"/>
          <p:cNvSpPr txBox="1"/>
          <p:nvPr/>
        </p:nvSpPr>
        <p:spPr>
          <a:xfrm>
            <a:off x="9281160" y="4251960"/>
            <a:ext cx="2148840" cy="548640"/>
          </a:xfrm>
          <a:prstGeom prst="rect">
            <a:avLst/>
          </a:prstGeom>
          <a:noFill/>
          <a:ln/>
        </p:spPr>
        <p:txBody>
          <a:bodyPr wrap="square" lIns="0" tIns="0" rIns="0" bIns="0" rtlCol="0" anchor="t"/>
          <a:lstStyle/>
          <a:p>
            <a:pPr indent="0" marL="0">
              <a:buNone/>
            </a:pPr>
            <a:r>
              <a:rPr lang="en-US" sz="1300" b="1" dirty="0">
                <a:solidFill>
                  <a:schemeClr val="accent6"/>
                </a:solidFill>
              </a:rPr>
              <a:t>Output: </a:t>
            </a:r>
            <a:pPr indent="0" marL="0">
              <a:buNone/>
            </a:pPr>
            <a:r>
              <a:rPr lang="en-US" sz="1300" dirty="0">
                <a:solidFill>
                  <a:schemeClr val="accent6"/>
                </a:solidFill>
              </a:rPr>
              <a:t>Value realised, reported quarterly</a:t>
            </a:r>
            <a:endParaRPr lang="en-US" sz="1300" dirty="0"/>
          </a:p>
        </p:txBody>
      </p:sp>
      <p:sp>
        <p:nvSpPr>
          <p:cNvPr id="30" name="Today pill"/>
          <p:cNvSpPr/>
          <p:nvPr/>
        </p:nvSpPr>
        <p:spPr>
          <a:xfrm>
            <a:off x="4160520" y="1261872"/>
            <a:ext cx="1051560" cy="329184"/>
          </a:xfrm>
          <a:prstGeom prst="roundRect">
            <a:avLst>
              <a:gd name="adj" fmla="val 50000"/>
            </a:avLst>
          </a:prstGeom>
          <a:solidFill>
            <a:schemeClr val="accent4"/>
          </a:solidFill>
          <a:ln/>
        </p:spPr>
      </p:sp>
      <p:sp>
        <p:nvSpPr>
          <p:cNvPr id="31" name="Today label"/>
          <p:cNvSpPr txBox="1"/>
          <p:nvPr/>
        </p:nvSpPr>
        <p:spPr>
          <a:xfrm>
            <a:off x="4160520" y="1261872"/>
            <a:ext cx="1051560" cy="329184"/>
          </a:xfrm>
          <a:prstGeom prst="rect">
            <a:avLst/>
          </a:prstGeom>
          <a:noFill/>
          <a:ln/>
        </p:spPr>
        <p:txBody>
          <a:bodyPr wrap="square" lIns="0" tIns="0" rIns="0" bIns="0" rtlCol="0" anchor="ctr"/>
          <a:lstStyle/>
          <a:p>
            <a:pPr algn="ctr" indent="0" marL="0">
              <a:buNone/>
            </a:pPr>
            <a:r>
              <a:rPr lang="en-US" sz="1300" b="1" dirty="0">
                <a:solidFill>
                  <a:schemeClr val="bg1"/>
                </a:solidFill>
              </a:rPr>
              <a:t>Today</a:t>
            </a:r>
            <a:endParaRPr lang="en-US" sz="1300" dirty="0"/>
          </a:p>
        </p:txBody>
      </p:sp>
      <p:sp>
        <p:nvSpPr>
          <p:cNvPr id="32" name="Approach note"/>
          <p:cNvSpPr txBox="1"/>
          <p:nvPr/>
        </p:nvSpPr>
        <p:spPr>
          <a:xfrm>
            <a:off x="548640" y="5257800"/>
            <a:ext cx="11064240" cy="457200"/>
          </a:xfrm>
          <a:prstGeom prst="rect">
            <a:avLst/>
          </a:prstGeom>
          <a:noFill/>
          <a:ln/>
        </p:spPr>
        <p:txBody>
          <a:bodyPr wrap="square" lIns="0" tIns="0" rIns="0" bIns="0" rtlCol="0" anchor="t"/>
          <a:lstStyle/>
          <a:p>
            <a:pPr indent="0" marL="0">
              <a:buNone/>
            </a:pPr>
            <a:r>
              <a:rPr lang="en-US" sz="1600" i="1" dirty="0">
                <a:solidFill>
                  <a:schemeClr val="accent6"/>
                </a:solidFill>
              </a:rPr>
              <a:t>This demo covers Identify and Frame on Salesforce data. Commit and Realize run with the customer's process owners.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Discover: paths in the simulated event log</a:t>
            </a:r>
            <a:endParaRPr lang="en-US" sz="3000" dirty="0"/>
          </a:p>
        </p:txBody>
      </p:sp>
      <p:sp>
        <p:nvSpPr>
          <p:cNvPr id="3" name="Discover stat 1"/>
          <p:cNvSpPr txBox="1"/>
          <p:nvPr/>
        </p:nvSpPr>
        <p:spPr>
          <a:xfrm>
            <a:off x="548640" y="1371600"/>
            <a:ext cx="2651760" cy="822960"/>
          </a:xfrm>
          <a:prstGeom prst="rect">
            <a:avLst/>
          </a:prstGeom>
          <a:noFill/>
          <a:ln/>
        </p:spPr>
        <p:txBody>
          <a:bodyPr wrap="square" lIns="0" tIns="0" rIns="0" bIns="0" rtlCol="0" anchor="ctr"/>
          <a:lstStyle/>
          <a:p>
            <a:pPr indent="0" marL="0">
              <a:buNone/>
            </a:pPr>
            <a:r>
              <a:rPr lang="en-US" sz="4400" b="1" dirty="0">
                <a:solidFill>
                  <a:schemeClr val="accent1"/>
                </a:solidFill>
              </a:rPr>
              <a:t>14%</a:t>
            </a:r>
            <a:endParaRPr lang="en-US" sz="4400" dirty="0"/>
          </a:p>
        </p:txBody>
      </p:sp>
      <p:sp>
        <p:nvSpPr>
          <p:cNvPr id="4" name="Discover label 1"/>
          <p:cNvSpPr txBox="1"/>
          <p:nvPr/>
        </p:nvSpPr>
        <p:spPr>
          <a:xfrm>
            <a:off x="3291840" y="1371600"/>
            <a:ext cx="3566160" cy="822960"/>
          </a:xfrm>
          <a:prstGeom prst="rect">
            <a:avLst/>
          </a:prstGeom>
          <a:noFill/>
          <a:ln/>
        </p:spPr>
        <p:txBody>
          <a:bodyPr wrap="square" lIns="0" tIns="0" rIns="0" bIns="0" rtlCol="0" anchor="ctr"/>
          <a:lstStyle/>
          <a:p>
            <a:pPr indent="0" marL="0">
              <a:buNone/>
            </a:pPr>
            <a:r>
              <a:rPr lang="en-US" sz="1800" dirty="0">
                <a:solidFill>
                  <a:schemeClr val="tx2"/>
                </a:solidFill>
              </a:rPr>
              <a:t>match the selected winning trace (38% of won deals)</a:t>
            </a:r>
            <a:endParaRPr lang="en-US" sz="1800" dirty="0"/>
          </a:p>
        </p:txBody>
      </p:sp>
      <p:sp>
        <p:nvSpPr>
          <p:cNvPr id="5" name="Discover stat 2"/>
          <p:cNvSpPr txBox="1"/>
          <p:nvPr/>
        </p:nvSpPr>
        <p:spPr>
          <a:xfrm>
            <a:off x="548640" y="2560320"/>
            <a:ext cx="2651760" cy="822960"/>
          </a:xfrm>
          <a:prstGeom prst="rect">
            <a:avLst/>
          </a:prstGeom>
          <a:noFill/>
          <a:ln/>
        </p:spPr>
        <p:txBody>
          <a:bodyPr wrap="square" lIns="0" tIns="0" rIns="0" bIns="0" rtlCol="0" anchor="ctr"/>
          <a:lstStyle/>
          <a:p>
            <a:pPr indent="0" marL="0">
              <a:buNone/>
            </a:pPr>
            <a:r>
              <a:rPr lang="en-US" sz="4400" b="1" dirty="0">
                <a:solidFill>
                  <a:schemeClr val="accent1"/>
                </a:solidFill>
              </a:rPr>
              <a:t>67</a:t>
            </a:r>
            <a:endParaRPr lang="en-US" sz="4400" dirty="0"/>
          </a:p>
        </p:txBody>
      </p:sp>
      <p:sp>
        <p:nvSpPr>
          <p:cNvPr id="6" name="Discover label 2"/>
          <p:cNvSpPr txBox="1"/>
          <p:nvPr/>
        </p:nvSpPr>
        <p:spPr>
          <a:xfrm>
            <a:off x="3291840" y="2560320"/>
            <a:ext cx="3566160" cy="822960"/>
          </a:xfrm>
          <a:prstGeom prst="rect">
            <a:avLst/>
          </a:prstGeom>
          <a:noFill/>
          <a:ln/>
        </p:spPr>
        <p:txBody>
          <a:bodyPr wrap="square" lIns="0" tIns="0" rIns="0" bIns="0" rtlCol="0" anchor="ctr"/>
          <a:lstStyle/>
          <a:p>
            <a:pPr indent="0" marL="0">
              <a:buNone/>
            </a:pPr>
            <a:r>
              <a:rPr lang="en-US" sz="1800" dirty="0">
                <a:solidFill>
                  <a:schemeClr val="tx2"/>
                </a:solidFill>
              </a:rPr>
              <a:t>distinct paths across 800 deals</a:t>
            </a:r>
            <a:endParaRPr lang="en-US" sz="1800" dirty="0"/>
          </a:p>
        </p:txBody>
      </p:sp>
      <p:sp>
        <p:nvSpPr>
          <p:cNvPr id="7" name="Discover stat 3"/>
          <p:cNvSpPr txBox="1"/>
          <p:nvPr/>
        </p:nvSpPr>
        <p:spPr>
          <a:xfrm>
            <a:off x="548640" y="3749040"/>
            <a:ext cx="2651760" cy="822960"/>
          </a:xfrm>
          <a:prstGeom prst="rect">
            <a:avLst/>
          </a:prstGeom>
          <a:noFill/>
          <a:ln/>
        </p:spPr>
        <p:txBody>
          <a:bodyPr wrap="square" lIns="0" tIns="0" rIns="0" bIns="0" rtlCol="0" anchor="ctr"/>
          <a:lstStyle/>
          <a:p>
            <a:pPr indent="0" marL="0">
              <a:buNone/>
            </a:pPr>
            <a:r>
              <a:rPr lang="en-US" sz="4400" b="1" dirty="0">
                <a:solidFill>
                  <a:schemeClr val="accent1"/>
                </a:solidFill>
              </a:rPr>
              <a:t>7.0 days</a:t>
            </a:r>
            <a:endParaRPr lang="en-US" sz="4400" dirty="0"/>
          </a:p>
        </p:txBody>
      </p:sp>
      <p:sp>
        <p:nvSpPr>
          <p:cNvPr id="8" name="Discover label 3"/>
          <p:cNvSpPr txBox="1"/>
          <p:nvPr/>
        </p:nvSpPr>
        <p:spPr>
          <a:xfrm>
            <a:off x="3291840" y="3749040"/>
            <a:ext cx="3566160" cy="822960"/>
          </a:xfrm>
          <a:prstGeom prst="rect">
            <a:avLst/>
          </a:prstGeom>
          <a:noFill/>
          <a:ln/>
        </p:spPr>
        <p:txBody>
          <a:bodyPr wrap="square" lIns="0" tIns="0" rIns="0" bIns="0" rtlCol="0" anchor="ctr"/>
          <a:lstStyle/>
          <a:p>
            <a:pPr indent="0" marL="0">
              <a:buNone/>
            </a:pPr>
            <a:r>
              <a:rPr lang="en-US" sz="1800" dirty="0">
                <a:solidFill>
                  <a:schemeClr val="tx2"/>
                </a:solidFill>
              </a:rPr>
              <a:t>median EMEA discount approval, the slowest region</a:t>
            </a:r>
            <a:endParaRPr lang="en-US" sz="1800" dirty="0"/>
          </a:p>
        </p:txBody>
      </p:sp>
      <p:sp>
        <p:nvSpPr>
          <p:cNvPr id="9" name="Discover note"/>
          <p:cNvSpPr txBox="1"/>
          <p:nvPr/>
        </p:nvSpPr>
        <p:spPr>
          <a:xfrm>
            <a:off x="548640" y="4892040"/>
            <a:ext cx="6309360" cy="411480"/>
          </a:xfrm>
          <a:prstGeom prst="rect">
            <a:avLst/>
          </a:prstGeom>
          <a:noFill/>
          <a:ln/>
        </p:spPr>
        <p:txBody>
          <a:bodyPr wrap="square" lIns="0" tIns="0" rIns="0" bIns="0" rtlCol="0" anchor="t"/>
          <a:lstStyle/>
          <a:p>
            <a:pPr indent="0" marL="0">
              <a:buNone/>
            </a:pPr>
            <a:r>
              <a:rPr lang="en-US" sz="1400" i="1" dirty="0">
                <a:solidFill>
                  <a:schemeClr val="accent6"/>
                </a:solidFill>
              </a:rPr>
              <a:t>Approval steps and re-quote loops show up as detours from the winning trace.</a:t>
            </a:r>
            <a:endParaRPr lang="en-US" sz="1400" dirty="0"/>
          </a:p>
        </p:txBody>
      </p:sp>
      <p:sp>
        <p:nvSpPr>
          <p:cNvPr id="10" name="Dashboard link"/>
          <p:cNvSpPr/>
          <p:nvPr/>
        </p:nvSpPr>
        <p:spPr>
          <a:xfrm>
            <a:off x="548640" y="5486400"/>
            <a:ext cx="6309360" cy="548640"/>
          </a:xfrm>
          <a:prstGeom prst="roundRect">
            <a:avLst>
              <a:gd name="adj" fmla="val 25000"/>
            </a:avLst>
          </a:prstGeom>
          <a:solidFill>
            <a:schemeClr val="accent3"/>
          </a:solidFill>
          <a:ln w="19050">
            <a:solidFill>
              <a:schemeClr val="accent1"/>
            </a:solidFill>
          </a:ln>
        </p:spPr>
        <p:txBody>
          <a:bodyPr wrap="square" lIns="1016" tIns="1016" rIns="1016" bIns="1016" rtlCol="0" anchor="ctr"/>
          <a:lstStyle/>
          <a:p>
            <a:pPr algn="ctr" indent="0" marL="0">
              <a:buNone/>
            </a:pPr>
            <a:r>
              <a:rPr lang="en-US" sz="1400" b="1" u="sng" dirty="0">
                <a:solidFill>
                  <a:srgbClr val="000000"/>
                </a:solidFill>
                <a:hlinkClick r:id="rId1" invalidUrl="" action="" tgtFrame="" tooltip="Open the live dashboard" history="1" highlightClick="0" endSnd="0">
                  <a:extLst>
                    <a:ext uri="{A12FA001-AC4F-418D-AE19-62706E023703}">
                      <ahyp:hlinkClr xmlns:ahyp="http://schemas.microsoft.com/office/drawing/2018/hyperlinkcolor" val="tx"/>
                    </a:ext>
                  </a:extLst>
                </a:hlinkClick>
              </a:rPr>
              <a:t>Open the live process map  →</a:t>
            </a:r>
            <a:endParaRPr lang="en-US" sz="1400" dirty="0"/>
          </a:p>
        </p:txBody>
      </p:sp>
      <p:sp>
        <p:nvSpPr>
          <p:cNvPr id="11" name="Map frame"/>
          <p:cNvSpPr/>
          <p:nvPr/>
        </p:nvSpPr>
        <p:spPr>
          <a:xfrm>
            <a:off x="7223760" y="1280160"/>
            <a:ext cx="4434840" cy="4892040"/>
          </a:xfrm>
          <a:prstGeom prst="rect">
            <a:avLst/>
          </a:prstGeom>
          <a:solidFill>
            <a:schemeClr val="bg1"/>
          </a:solidFill>
          <a:ln w="12700">
            <a:solidFill>
              <a:schemeClr val="accent3"/>
            </a:solidFill>
            <a:prstDash val="solid"/>
          </a:ln>
        </p:spPr>
      </p:sp>
      <p:pic>
        <p:nvPicPr>
          <p:cNvPr id="12" name="Process map" descr="Approval and re-quote section of the process map">    </p:cNvPr>
          <p:cNvPicPr>
            <a:picLocks noChangeAspect="1"/>
          </p:cNvPicPr>
          <p:nvPr/>
        </p:nvPicPr>
        <p:blipFill>
          <a:blip r:embed="rId2"/>
          <a:stretch>
            <a:fillRect/>
          </a:stretch>
        </p:blipFill>
        <p:spPr>
          <a:xfrm>
            <a:off x="7269480" y="1325880"/>
            <a:ext cx="4343400" cy="48006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Diagnose: three patterns associated with lower win rates</a:t>
            </a:r>
            <a:endParaRPr lang="en-US" sz="3000" dirty="0"/>
          </a:p>
        </p:txBody>
      </p:sp>
      <p:graphicFrame>
        <p:nvGraphicFramePr>
          <p:cNvPr id="3" name="Chart 1" descr=""/>
          <p:cNvGraphicFramePr/>
          <p:nvPr/>
        </p:nvGraphicFramePr>
        <p:xfrm>
          <a:off x="548640" y="1325880"/>
          <a:ext cx="3529584" cy="3383280"/>
        </p:xfrm>
        <a:graphic xmlns:a="http://schemas.openxmlformats.org/drawingml/2006/main">
          <a:graphicData uri="http://schemas.openxmlformats.org/drawingml/2006/chart">
            <c:chart xmlns:c="http://schemas.openxmlformats.org/drawingml/2006/chart" r:id="rId1"/>
          </a:graphicData>
        </a:graphic>
      </p:graphicFrame>
      <p:sp>
        <p:nvSpPr>
          <p:cNvPr id="4" name="Takeaway 1"/>
          <p:cNvSpPr/>
          <p:nvPr/>
        </p:nvSpPr>
        <p:spPr>
          <a:xfrm>
            <a:off x="548640" y="4846320"/>
            <a:ext cx="3529584" cy="1234440"/>
          </a:xfrm>
          <a:prstGeom prst="roundRect">
            <a:avLst>
              <a:gd name="adj" fmla="val 8889"/>
            </a:avLst>
          </a:prstGeom>
          <a:solidFill>
            <a:schemeClr val="bg2"/>
          </a:solidFill>
          <a:ln/>
        </p:spPr>
      </p:sp>
      <p:sp>
        <p:nvSpPr>
          <p:cNvPr id="5" name="Takeaway 1 text"/>
          <p:cNvSpPr txBox="1"/>
          <p:nvPr/>
        </p:nvSpPr>
        <p:spPr>
          <a:xfrm>
            <a:off x="731520" y="4956048"/>
            <a:ext cx="3163824" cy="1005840"/>
          </a:xfrm>
          <a:prstGeom prst="rect">
            <a:avLst/>
          </a:prstGeom>
          <a:noFill/>
          <a:ln/>
        </p:spPr>
        <p:txBody>
          <a:bodyPr wrap="square" lIns="0" tIns="0" rIns="0" bIns="0" rtlCol="0" anchor="ctr"/>
          <a:lstStyle/>
          <a:p>
            <a:pPr indent="0" marL="0">
              <a:buNone/>
            </a:pPr>
            <a:r>
              <a:rPr lang="en-US" sz="1400" dirty="0">
                <a:solidFill>
                  <a:schemeClr val="tx2"/>
                </a:solidFill>
              </a:rPr>
              <a:t>5.8 days slower than the fastest region. EMEA deals waiting &gt;7 days won 47% vs 54% (n = 51 vs 52).</a:t>
            </a:r>
            <a:endParaRPr lang="en-US" sz="1400" dirty="0"/>
          </a:p>
        </p:txBody>
      </p:sp>
      <p:graphicFrame>
        <p:nvGraphicFramePr>
          <p:cNvPr id="6" name="Chart 2" descr=""/>
          <p:cNvGraphicFramePr/>
          <p:nvPr/>
        </p:nvGraphicFramePr>
        <p:xfrm>
          <a:off x="4315968" y="1325880"/>
          <a:ext cx="3529584" cy="3383280"/>
        </p:xfrm>
        <a:graphic xmlns:a="http://schemas.openxmlformats.org/drawingml/2006/main">
          <a:graphicData uri="http://schemas.openxmlformats.org/drawingml/2006/chart">
            <c:chart xmlns:c="http://schemas.openxmlformats.org/drawingml/2006/chart" r:id="rId2"/>
          </a:graphicData>
        </a:graphic>
      </p:graphicFrame>
      <p:sp>
        <p:nvSpPr>
          <p:cNvPr id="7" name="Takeaway 2"/>
          <p:cNvSpPr/>
          <p:nvPr/>
        </p:nvSpPr>
        <p:spPr>
          <a:xfrm>
            <a:off x="4315968" y="4846320"/>
            <a:ext cx="3529584" cy="1234440"/>
          </a:xfrm>
          <a:prstGeom prst="roundRect">
            <a:avLst>
              <a:gd name="adj" fmla="val 8889"/>
            </a:avLst>
          </a:prstGeom>
          <a:solidFill>
            <a:schemeClr val="bg2"/>
          </a:solidFill>
          <a:ln/>
        </p:spPr>
      </p:sp>
      <p:sp>
        <p:nvSpPr>
          <p:cNvPr id="8" name="Takeaway 2 text"/>
          <p:cNvSpPr txBox="1"/>
          <p:nvPr/>
        </p:nvSpPr>
        <p:spPr>
          <a:xfrm>
            <a:off x="4498848" y="4956048"/>
            <a:ext cx="3163824" cy="1005840"/>
          </a:xfrm>
          <a:prstGeom prst="rect">
            <a:avLst/>
          </a:prstGeom>
          <a:noFill/>
          <a:ln/>
        </p:spPr>
        <p:txBody>
          <a:bodyPr wrap="square" lIns="0" tIns="0" rIns="0" bIns="0" rtlCol="0" anchor="ctr"/>
          <a:lstStyle/>
          <a:p>
            <a:pPr indent="0" marL="0">
              <a:buNone/>
            </a:pPr>
            <a:r>
              <a:rPr lang="en-US" sz="1400" dirty="0">
                <a:solidFill>
                  <a:schemeClr val="tx2"/>
                </a:solidFill>
              </a:rPr>
              <a:t>Re-quoted deals win 18 points less often (n = 124 re-quoted vs 521 clean).</a:t>
            </a:r>
            <a:endParaRPr lang="en-US" sz="1400" dirty="0"/>
          </a:p>
        </p:txBody>
      </p:sp>
      <p:graphicFrame>
        <p:nvGraphicFramePr>
          <p:cNvPr id="9" name="Chart 3" descr=""/>
          <p:cNvGraphicFramePr/>
          <p:nvPr/>
        </p:nvGraphicFramePr>
        <p:xfrm>
          <a:off x="8083296" y="1325880"/>
          <a:ext cx="3529584" cy="3383280"/>
        </p:xfrm>
        <a:graphic xmlns:a="http://schemas.openxmlformats.org/drawingml/2006/main">
          <a:graphicData uri="http://schemas.openxmlformats.org/drawingml/2006/chart">
            <c:chart xmlns:c="http://schemas.openxmlformats.org/drawingml/2006/chart" r:id="rId3"/>
          </a:graphicData>
        </a:graphic>
      </p:graphicFrame>
      <p:sp>
        <p:nvSpPr>
          <p:cNvPr id="10" name="Takeaway 3"/>
          <p:cNvSpPr/>
          <p:nvPr/>
        </p:nvSpPr>
        <p:spPr>
          <a:xfrm>
            <a:off x="8083296" y="4846320"/>
            <a:ext cx="3529584" cy="1234440"/>
          </a:xfrm>
          <a:prstGeom prst="roundRect">
            <a:avLst>
              <a:gd name="adj" fmla="val 8889"/>
            </a:avLst>
          </a:prstGeom>
          <a:solidFill>
            <a:schemeClr val="bg2"/>
          </a:solidFill>
          <a:ln/>
        </p:spPr>
      </p:sp>
      <p:sp>
        <p:nvSpPr>
          <p:cNvPr id="11" name="Takeaway 3 text"/>
          <p:cNvSpPr txBox="1"/>
          <p:nvPr/>
        </p:nvSpPr>
        <p:spPr>
          <a:xfrm>
            <a:off x="8266176" y="4956048"/>
            <a:ext cx="3163824" cy="1005840"/>
          </a:xfrm>
          <a:prstGeom prst="rect">
            <a:avLst/>
          </a:prstGeom>
          <a:noFill/>
          <a:ln/>
        </p:spPr>
        <p:txBody>
          <a:bodyPr wrap="square" lIns="0" tIns="0" rIns="0" bIns="0" rtlCol="0" anchor="ctr"/>
          <a:lstStyle/>
          <a:p>
            <a:pPr indent="0" marL="0">
              <a:buNone/>
            </a:pPr>
            <a:r>
              <a:rPr lang="en-US" sz="1400" dirty="0">
                <a:solidFill>
                  <a:schemeClr val="tx2"/>
                </a:solidFill>
              </a:rPr>
              <a:t>Deals that skip Qualification win 21 points less often (n = 99 vs 701).</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Business case overview: three opportunities, one deep-dive</a:t>
            </a:r>
            <a:endParaRPr lang="en-US" sz="3000" dirty="0"/>
          </a:p>
        </p:txBody>
      </p:sp>
      <p:graphicFrame>
        <p:nvGraphicFramePr>
          <p:cNvPr id="7" name="Business case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74520"/>
                <a:gridCol w="2697480"/>
                <a:gridCol w="1737360"/>
                <a:gridCol w="1188720"/>
                <a:gridCol w="1097280"/>
                <a:gridCol w="1325880"/>
                <a:gridCol w="1143000"/>
              </a:tblGrid>
              <a:tr h="438912">
                <a:tc>
                  <a:txBody>
                    <a:bodyPr/>
                    <a:lstStyle/>
                    <a:p>
                      <a:pPr indent="0" marL="0">
                        <a:buNone/>
                      </a:pPr>
                      <a:r>
                        <a:rPr lang="en-US" sz="1400" b="1" dirty="0">
                          <a:solidFill>
                            <a:schemeClr val="bg1"/>
                          </a:solidFill>
                        </a:rPr>
                        <a:t>Objective</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Opportunity</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Proposed owner</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Time to value</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Full gap</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Committed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Realized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rPr>
                        <a:t>Accelerate bookings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  EMEA discount approvals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Deal desk lead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Short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$213k</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TBD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1"/>
                          </a:solidFill>
                        </a:rPr>
                        <a:t>Improve win rate</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2  Re-quotes (deep-dive)</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VP Revenue Ops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Medium</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algn="r" indent="0" marL="0">
                        <a:buNone/>
                      </a:pPr>
                      <a:r>
                        <a:rPr lang="en-US" sz="1400" b="1" dirty="0">
                          <a:solidFill>
                            <a:schemeClr val="tx1"/>
                          </a:solidFill>
                        </a:rPr>
                        <a:t>$1.33M</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algn="r" indent="0" marL="0">
                        <a:buNone/>
                      </a:pPr>
                      <a:r>
                        <a:rPr lang="en-US" sz="1400" b="1" dirty="0">
                          <a:solidFill>
                            <a:schemeClr val="accent6"/>
                          </a:solidFill>
                        </a:rPr>
                        <a:t>TBD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c>
                  <a:txBody>
                    <a:bodyPr/>
                    <a:lstStyle/>
                    <a:p>
                      <a:pPr algn="r" indent="0" marL="0">
                        <a:buNone/>
                      </a:pPr>
                      <a:r>
                        <a:rPr lang="en-US" sz="1400" b="1" dirty="0">
                          <a:solidFill>
                            <a:schemeClr val="accent6"/>
                          </a:solidFill>
                        </a:rPr>
                        <a: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accent3"/>
                    </a:solidFill>
                  </a:tcPr>
                </a:tc>
              </a:tr>
              <a:tr h="438912">
                <a:tc>
                  <a:txBody>
                    <a:bodyPr/>
                    <a:lstStyle/>
                    <a:p>
                      <a:pPr indent="0" marL="0">
                        <a:buNone/>
                      </a:pPr>
                      <a:r>
                        <a:rPr lang="en-US" sz="1400" dirty="0">
                          <a:solidFill>
                            <a:schemeClr val="tx1"/>
                          </a:solidFill>
                        </a:rPr>
                        <a:t>Sales productivity</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  Skipped qualification</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Sales operations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Short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$1.29M</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TBD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1"/>
                          </a:solidFill>
                        </a:rPr>
                        <a:t>Total (gross)</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indent="0" marL="0">
                        <a:buNone/>
                      </a:pP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$2.84M</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TBD</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accent6"/>
                          </a:solidFill>
                        </a:rPr>
                        <a:t>—</a:t>
                      </a:r>
                      <a:endParaRPr lang="en-US" sz="1400" dirty="0"/>
                    </a:p>
                  </a:txBody>
                  <a:tcPr marL="109728" marR="109728" marT="45720" marB="45720" anchor="ctr">
                    <a:lnL w="9525" cap="flat" cmpd="sng" algn="ctr">
                      <a:solidFill>
                        <a:srgbClr val="CFE9FE"/>
                      </a:solidFill>
                      <a:prstDash val="solid"/>
                      <a:round/>
                      <a:headEnd type="none" w="med" len="med"/>
                      <a:tailEnd type="none" w="med" len="med"/>
                    </a:lnL>
                    <a:lnR w="9525" cap="flat" cmpd="sng" algn="ctr">
                      <a:solidFill>
                        <a:srgbClr val="CFE9FE"/>
                      </a:solidFill>
                      <a:prstDash val="solid"/>
                      <a:round/>
                      <a:headEnd type="none" w="med" len="med"/>
                      <a:tailEnd type="none" w="med" len="med"/>
                    </a:lnR>
                    <a:lnT w="9525" cap="flat" cmpd="sng" algn="ctr">
                      <a:solidFill>
                        <a:srgbClr val="CFE9FE"/>
                      </a:solidFill>
                      <a:prstDash val="solid"/>
                      <a:round/>
                      <a:headEnd type="none" w="med" len="med"/>
                      <a:tailEnd type="none" w="med" len="med"/>
                    </a:lnT>
                    <a:lnB w="9525" cap="flat" cmpd="sng" algn="ctr">
                      <a:solidFill>
                        <a:srgbClr val="CFE9FE"/>
                      </a:solidFill>
                      <a:prstDash val="solid"/>
                      <a:round/>
                      <a:headEnd type="none" w="med" len="med"/>
                      <a:tailEnd type="none" w="med" len="med"/>
                    </a:lnB>
                    <a:solidFill>
                      <a:schemeClr val="bg1"/>
                    </a:solidFill>
                  </a:tcPr>
                </a:tc>
              </a:tr>
            </a:tbl>
          </a:graphicData>
        </a:graphic>
      </p:graphicFrame>
      <p:sp>
        <p:nvSpPr>
          <p:cNvPr id="4" name="Table note"/>
          <p:cNvSpPr txBox="1"/>
          <p:nvPr/>
        </p:nvSpPr>
        <p:spPr>
          <a:xfrm>
            <a:off x="548640" y="3730752"/>
            <a:ext cx="11064240" cy="320040"/>
          </a:xfrm>
          <a:prstGeom prst="rect">
            <a:avLst/>
          </a:prstGeom>
          <a:noFill/>
          <a:ln/>
        </p:spPr>
        <p:txBody>
          <a:bodyPr wrap="square" lIns="0" tIns="0" rIns="0" bIns="0" rtlCol="0" anchor="t"/>
          <a:lstStyle/>
          <a:p>
            <a:pPr indent="0" marL="0">
              <a:buNone/>
            </a:pPr>
            <a:r>
              <a:rPr lang="en-US" sz="1200" i="1" dirty="0">
                <a:solidFill>
                  <a:schemeClr val="accent6"/>
                </a:solidFill>
              </a:rPr>
              <a:t>Full gap = illustrative scenario from simulated Salesforce data. Committed is agreed with each owner after validation; realized is tracked against a frozen baseline.</a:t>
            </a:r>
            <a:endParaRPr lang="en-US" sz="1200" dirty="0"/>
          </a:p>
        </p:txBody>
      </p:sp>
      <p:sp>
        <p:nvSpPr>
          <p:cNvPr id="5" name="Overlap card"/>
          <p:cNvSpPr/>
          <p:nvPr/>
        </p:nvSpPr>
        <p:spPr>
          <a:xfrm>
            <a:off x="548640" y="4206240"/>
            <a:ext cx="5486400" cy="1691640"/>
          </a:xfrm>
          <a:prstGeom prst="roundRect">
            <a:avLst>
              <a:gd name="adj" fmla="val 6486"/>
            </a:avLst>
          </a:prstGeom>
          <a:solidFill>
            <a:schemeClr val="bg2"/>
          </a:solidFill>
          <a:ln/>
        </p:spPr>
      </p:sp>
      <p:sp>
        <p:nvSpPr>
          <p:cNvPr id="6" name="Overlap text"/>
          <p:cNvSpPr txBox="1"/>
          <p:nvPr/>
        </p:nvSpPr>
        <p:spPr>
          <a:xfrm>
            <a:off x="777240" y="4315968"/>
            <a:ext cx="5029200" cy="1783080"/>
          </a:xfrm>
          <a:prstGeom prst="rect">
            <a:avLst/>
          </a:prstGeom>
          <a:noFill/>
          <a:ln/>
        </p:spPr>
        <p:txBody>
          <a:bodyPr wrap="square" lIns="0" tIns="0" rIns="0" bIns="0" rtlCol="0" anchor="t"/>
          <a:lstStyle/>
          <a:p>
            <a:pPr indent="0" marL="0">
              <a:buNone/>
            </a:pPr>
            <a:r>
              <a:rPr lang="en-US" sz="1400" b="1" dirty="0">
                <a:solidFill>
                  <a:schemeClr val="tx2"/>
                </a:solidFill>
              </a:rPr>
              <a:t>Opportunities overlap</a:t>
            </a:r>
            <a:endParaRPr lang="en-US" sz="1400" dirty="0"/>
          </a:p>
          <a:p>
            <a:pPr indent="0" marL="0">
              <a:buNone/>
            </a:pPr>
            <a:r>
              <a:rPr lang="en-US" sz="1400" dirty="0">
                <a:solidFill>
                  <a:schemeClr val="tx1"/>
                </a:solidFill>
              </a:rPr>
              <a:t>22 deals were re-quoted and skipped Qualification, 7 were re-quoted with slow approvals, 5 skipped Qualification with slow approvals.</a:t>
            </a:r>
            <a:endParaRPr lang="en-US" sz="1400" dirty="0"/>
          </a:p>
          <a:p>
            <a:pPr indent="0" marL="0">
              <a:buNone/>
            </a:pPr>
            <a:r>
              <a:rPr lang="en-US" sz="600" dirty="0">
                <a:solidFill>
                  <a:schemeClr val="tx1"/>
                </a:solidFill>
              </a:rPr>
              <a:t> </a:t>
            </a:r>
            <a:endParaRPr lang="en-US" sz="1400" dirty="0"/>
          </a:p>
          <a:p>
            <a:pPr indent="0" marL="0">
              <a:buNone/>
            </a:pPr>
            <a:r>
              <a:rPr lang="en-US" sz="1400" i="1" dirty="0">
                <a:solidFill>
                  <a:schemeClr val="accent6"/>
                </a:solidFill>
              </a:rPr>
              <a:t>So the total is gross: count each incremental deal win once across all three improvement opportunities before committing.</a:t>
            </a:r>
            <a:endParaRPr lang="en-US" sz="1400" dirty="0"/>
          </a:p>
        </p:txBody>
      </p:sp>
      <p:sp>
        <p:nvSpPr>
          <p:cNvPr id="7" name="Checklist heading"/>
          <p:cNvSpPr txBox="1"/>
          <p:nvPr/>
        </p:nvSpPr>
        <p:spPr>
          <a:xfrm>
            <a:off x="6355080" y="4206240"/>
            <a:ext cx="5257800" cy="320040"/>
          </a:xfrm>
          <a:prstGeom prst="rect">
            <a:avLst/>
          </a:prstGeom>
          <a:noFill/>
          <a:ln/>
        </p:spPr>
        <p:txBody>
          <a:bodyPr wrap="square" lIns="0" tIns="0" rIns="0" bIns="0" rtlCol="0" anchor="t"/>
          <a:lstStyle/>
          <a:p>
            <a:pPr indent="0" marL="0">
              <a:buNone/>
            </a:pPr>
            <a:r>
              <a:rPr lang="en-US" sz="1400" b="1" dirty="0">
                <a:solidFill>
                  <a:schemeClr val="tx2"/>
                </a:solidFill>
              </a:rPr>
              <a:t>Before value is committed</a:t>
            </a:r>
            <a:endParaRPr lang="en-US" sz="1400" dirty="0"/>
          </a:p>
        </p:txBody>
      </p:sp>
      <p:sp>
        <p:nvSpPr>
          <p:cNvPr id="8" name="Check 1 box"/>
          <p:cNvSpPr/>
          <p:nvPr/>
        </p:nvSpPr>
        <p:spPr>
          <a:xfrm>
            <a:off x="6355080" y="4645152"/>
            <a:ext cx="219456" cy="219456"/>
          </a:xfrm>
          <a:prstGeom prst="roundRect">
            <a:avLst>
              <a:gd name="adj" fmla="val 16667"/>
            </a:avLst>
          </a:prstGeom>
          <a:solidFill>
            <a:schemeClr val="bg1"/>
          </a:solidFill>
          <a:ln w="19050">
            <a:solidFill>
              <a:schemeClr val="accent1"/>
            </a:solidFill>
            <a:prstDash val="solid"/>
          </a:ln>
        </p:spPr>
      </p:sp>
      <p:sp>
        <p:nvSpPr>
          <p:cNvPr id="9" name="Check 1 text"/>
          <p:cNvSpPr txBox="1"/>
          <p:nvPr/>
        </p:nvSpPr>
        <p:spPr>
          <a:xfrm>
            <a:off x="6693408" y="4590288"/>
            <a:ext cx="4937760" cy="347472"/>
          </a:xfrm>
          <a:prstGeom prst="rect">
            <a:avLst/>
          </a:prstGeom>
          <a:noFill/>
          <a:ln/>
        </p:spPr>
        <p:txBody>
          <a:bodyPr wrap="square" lIns="0" tIns="0" rIns="0" bIns="0" rtlCol="0" anchor="ctr"/>
          <a:lstStyle/>
          <a:p>
            <a:pPr indent="0" marL="0">
              <a:buNone/>
            </a:pPr>
            <a:r>
              <a:rPr lang="en-US" sz="1400" dirty="0">
                <a:solidFill>
                  <a:schemeClr val="tx1"/>
                </a:solidFill>
              </a:rPr>
              <a:t>Deduplicate overlapping deals across opportunities</a:t>
            </a:r>
            <a:endParaRPr lang="en-US" sz="1400" dirty="0"/>
          </a:p>
        </p:txBody>
      </p:sp>
      <p:sp>
        <p:nvSpPr>
          <p:cNvPr id="10" name="Check 2 box"/>
          <p:cNvSpPr/>
          <p:nvPr/>
        </p:nvSpPr>
        <p:spPr>
          <a:xfrm>
            <a:off x="6355080" y="5038344"/>
            <a:ext cx="219456" cy="219456"/>
          </a:xfrm>
          <a:prstGeom prst="roundRect">
            <a:avLst>
              <a:gd name="adj" fmla="val 16667"/>
            </a:avLst>
          </a:prstGeom>
          <a:solidFill>
            <a:schemeClr val="bg1"/>
          </a:solidFill>
          <a:ln w="19050">
            <a:solidFill>
              <a:schemeClr val="accent1"/>
            </a:solidFill>
            <a:prstDash val="solid"/>
          </a:ln>
        </p:spPr>
      </p:sp>
      <p:sp>
        <p:nvSpPr>
          <p:cNvPr id="11" name="Check 2 text"/>
          <p:cNvSpPr txBox="1"/>
          <p:nvPr/>
        </p:nvSpPr>
        <p:spPr>
          <a:xfrm>
            <a:off x="6693408" y="4983480"/>
            <a:ext cx="4937760" cy="347472"/>
          </a:xfrm>
          <a:prstGeom prst="rect">
            <a:avLst/>
          </a:prstGeom>
          <a:noFill/>
          <a:ln/>
        </p:spPr>
        <p:txBody>
          <a:bodyPr wrap="square" lIns="0" tIns="0" rIns="0" bIns="0" rtlCol="0" anchor="ctr"/>
          <a:lstStyle/>
          <a:p>
            <a:pPr indent="0" marL="0">
              <a:buNone/>
            </a:pPr>
            <a:r>
              <a:rPr lang="en-US" sz="1400" dirty="0">
                <a:solidFill>
                  <a:schemeClr val="tx1"/>
                </a:solidFill>
              </a:rPr>
              <a:t>Agree cohort, period and Amount basis</a:t>
            </a:r>
            <a:endParaRPr lang="en-US" sz="1400" dirty="0"/>
          </a:p>
        </p:txBody>
      </p:sp>
      <p:sp>
        <p:nvSpPr>
          <p:cNvPr id="12" name="Check 3 box"/>
          <p:cNvSpPr/>
          <p:nvPr/>
        </p:nvSpPr>
        <p:spPr>
          <a:xfrm>
            <a:off x="6355080" y="5431536"/>
            <a:ext cx="219456" cy="219456"/>
          </a:xfrm>
          <a:prstGeom prst="roundRect">
            <a:avLst>
              <a:gd name="adj" fmla="val 16667"/>
            </a:avLst>
          </a:prstGeom>
          <a:solidFill>
            <a:schemeClr val="bg1"/>
          </a:solidFill>
          <a:ln w="19050">
            <a:solidFill>
              <a:schemeClr val="accent1"/>
            </a:solidFill>
            <a:prstDash val="solid"/>
          </a:ln>
        </p:spPr>
      </p:sp>
      <p:sp>
        <p:nvSpPr>
          <p:cNvPr id="13" name="Check 3 text"/>
          <p:cNvSpPr txBox="1"/>
          <p:nvPr/>
        </p:nvSpPr>
        <p:spPr>
          <a:xfrm>
            <a:off x="6693408" y="5376672"/>
            <a:ext cx="4937760" cy="347472"/>
          </a:xfrm>
          <a:prstGeom prst="rect">
            <a:avLst/>
          </a:prstGeom>
          <a:noFill/>
          <a:ln/>
        </p:spPr>
        <p:txBody>
          <a:bodyPr wrap="square" lIns="0" tIns="0" rIns="0" bIns="0" rtlCol="0" anchor="ctr"/>
          <a:lstStyle/>
          <a:p>
            <a:pPr indent="0" marL="0">
              <a:buNone/>
            </a:pPr>
            <a:r>
              <a:rPr lang="en-US" sz="1400" dirty="0">
                <a:solidFill>
                  <a:schemeClr val="tx1"/>
                </a:solidFill>
              </a:rPr>
              <a:t>Owner signs off KPI definition and improvement assumption</a:t>
            </a:r>
            <a:endParaRPr lang="en-US" sz="1400" dirty="0"/>
          </a:p>
        </p:txBody>
      </p:sp>
      <p:sp>
        <p:nvSpPr>
          <p:cNvPr id="14" name="Check 4 box"/>
          <p:cNvSpPr/>
          <p:nvPr/>
        </p:nvSpPr>
        <p:spPr>
          <a:xfrm>
            <a:off x="6355080" y="5824728"/>
            <a:ext cx="219456" cy="219456"/>
          </a:xfrm>
          <a:prstGeom prst="roundRect">
            <a:avLst>
              <a:gd name="adj" fmla="val 16667"/>
            </a:avLst>
          </a:prstGeom>
          <a:solidFill>
            <a:schemeClr val="bg1"/>
          </a:solidFill>
          <a:ln w="19050">
            <a:solidFill>
              <a:schemeClr val="accent1"/>
            </a:solidFill>
            <a:prstDash val="solid"/>
          </a:ln>
        </p:spPr>
      </p:sp>
      <p:sp>
        <p:nvSpPr>
          <p:cNvPr id="15" name="Check 4 text"/>
          <p:cNvSpPr txBox="1"/>
          <p:nvPr/>
        </p:nvSpPr>
        <p:spPr>
          <a:xfrm>
            <a:off x="6693408" y="5769864"/>
            <a:ext cx="4937760" cy="347472"/>
          </a:xfrm>
          <a:prstGeom prst="rect">
            <a:avLst/>
          </a:prstGeom>
          <a:noFill/>
          <a:ln/>
        </p:spPr>
        <p:txBody>
          <a:bodyPr wrap="square" lIns="0" tIns="0" rIns="0" bIns="0" rtlCol="0" anchor="ctr"/>
          <a:lstStyle/>
          <a:p>
            <a:pPr indent="0" marL="0">
              <a:buNone/>
            </a:pPr>
            <a:r>
              <a:rPr lang="en-US" sz="1400" dirty="0">
                <a:solidFill>
                  <a:schemeClr val="tx1"/>
                </a:solidFill>
              </a:rPr>
              <a:t>Finance signs off the value formula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Value case: reduce re-quotes in quote-to-close</a:t>
            </a:r>
            <a:endParaRPr lang="en-US" sz="3000" dirty="0"/>
          </a:p>
        </p:txBody>
      </p:sp>
      <p:sp>
        <p:nvSpPr>
          <p:cNvPr id="3" name="Filter bar"/>
          <p:cNvSpPr/>
          <p:nvPr/>
        </p:nvSpPr>
        <p:spPr>
          <a:xfrm>
            <a:off x="548640" y="1234440"/>
            <a:ext cx="11064240" cy="411480"/>
          </a:xfrm>
          <a:prstGeom prst="roundRect">
            <a:avLst>
              <a:gd name="adj" fmla="val 26667"/>
            </a:avLst>
          </a:prstGeom>
          <a:solidFill>
            <a:schemeClr val="bg2"/>
          </a:solidFill>
          <a:ln/>
        </p:spPr>
      </p:sp>
      <p:sp>
        <p:nvSpPr>
          <p:cNvPr id="4" name="Filter text"/>
          <p:cNvSpPr txBox="1"/>
          <p:nvPr/>
        </p:nvSpPr>
        <p:spPr>
          <a:xfrm>
            <a:off x="777240" y="1234440"/>
            <a:ext cx="10607040" cy="411480"/>
          </a:xfrm>
          <a:prstGeom prst="rect">
            <a:avLst/>
          </a:prstGeom>
          <a:noFill/>
          <a:ln/>
        </p:spPr>
        <p:txBody>
          <a:bodyPr wrap="square" lIns="0" tIns="0" rIns="0" bIns="0" rtlCol="0" anchor="ctr"/>
          <a:lstStyle/>
          <a:p>
            <a:pPr indent="0" marL="0">
              <a:buNone/>
            </a:pPr>
            <a:r>
              <a:rPr lang="en-US" sz="1200" dirty="0">
                <a:solidFill>
                  <a:schemeClr val="tx2"/>
                </a:solidFill>
              </a:rPr>
              <a:t>2025-10 to 2026-09, annualised  ·  Reached Negotiation/Review  ·  Amount = bookings  ·  Proposed owner: VP Revenue Ops  ·  Simulated data</a:t>
            </a:r>
            <a:endParaRPr lang="en-US" sz="1200" dirty="0"/>
          </a:p>
        </p:txBody>
      </p:sp>
      <p:sp>
        <p:nvSpPr>
          <p:cNvPr id="5" name="Value column 1 heading"/>
          <p:cNvSpPr txBox="1"/>
          <p:nvPr/>
        </p:nvSpPr>
        <p:spPr>
          <a:xfrm>
            <a:off x="548640" y="1828800"/>
            <a:ext cx="3529584" cy="365760"/>
          </a:xfrm>
          <a:prstGeom prst="rect">
            <a:avLst/>
          </a:prstGeom>
          <a:noFill/>
          <a:ln/>
        </p:spPr>
        <p:txBody>
          <a:bodyPr wrap="square" lIns="0" tIns="0" rIns="0" bIns="0" rtlCol="0" anchor="t"/>
          <a:lstStyle/>
          <a:p>
            <a:pPr indent="0" marL="0">
              <a:buNone/>
            </a:pPr>
            <a:r>
              <a:rPr lang="en-US" sz="1600" b="1" dirty="0">
                <a:solidFill>
                  <a:schemeClr val="accent6"/>
                </a:solidFill>
              </a:rPr>
              <a:t>Challenge</a:t>
            </a:r>
            <a:endParaRPr lang="en-US" sz="1600" dirty="0"/>
          </a:p>
        </p:txBody>
      </p:sp>
      <p:sp>
        <p:nvSpPr>
          <p:cNvPr id="6" name="Value column 1 body"/>
          <p:cNvSpPr txBox="1"/>
          <p:nvPr/>
        </p:nvSpPr>
        <p:spPr>
          <a:xfrm>
            <a:off x="548640" y="2240280"/>
            <a:ext cx="3529584"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747 negotiated deals a year; 19% loop back for a re-quote</a:t>
            </a:r>
            <a:endParaRPr lang="en-US" sz="1400" dirty="0"/>
          </a:p>
          <a:p>
            <a:pPr marL="342900" indent="-342900">
              <a:spcAft>
                <a:spcPts val="600"/>
              </a:spcAft>
              <a:buSzPct val="100000"/>
              <a:buChar char="•"/>
            </a:pPr>
            <a:r>
              <a:rPr lang="en-US" sz="1400" dirty="0">
                <a:solidFill>
                  <a:schemeClr val="tx1"/>
                </a:solidFill>
              </a:rPr>
              <a:t>Re-quoted deals win 31% vs 49%</a:t>
            </a:r>
            <a:endParaRPr lang="en-US" sz="1400" dirty="0"/>
          </a:p>
          <a:p>
            <a:pPr marL="342900" indent="-342900">
              <a:spcAft>
                <a:spcPts val="600"/>
              </a:spcAft>
              <a:buSzPct val="100000"/>
              <a:buChar char="•"/>
            </a:pPr>
            <a:r>
              <a:rPr lang="en-US" sz="1400" dirty="0">
                <a:solidFill>
                  <a:schemeClr val="tx1"/>
                </a:solidFill>
              </a:rPr>
              <a:t>EMEA approvals take 7.0 days vs 1.2</a:t>
            </a:r>
            <a:endParaRPr lang="en-US" sz="1400" dirty="0"/>
          </a:p>
        </p:txBody>
      </p:sp>
      <p:sp>
        <p:nvSpPr>
          <p:cNvPr id="7" name="Value column 2 heading"/>
          <p:cNvSpPr txBox="1"/>
          <p:nvPr/>
        </p:nvSpPr>
        <p:spPr>
          <a:xfrm>
            <a:off x="4315968" y="1828800"/>
            <a:ext cx="3529584" cy="365760"/>
          </a:xfrm>
          <a:prstGeom prst="rect">
            <a:avLst/>
          </a:prstGeom>
          <a:noFill/>
          <a:ln/>
        </p:spPr>
        <p:txBody>
          <a:bodyPr wrap="square" lIns="0" tIns="0" rIns="0" bIns="0" rtlCol="0" anchor="t"/>
          <a:lstStyle/>
          <a:p>
            <a:pPr indent="0" marL="0">
              <a:buNone/>
            </a:pPr>
            <a:r>
              <a:rPr lang="en-US" sz="1600" b="1" dirty="0">
                <a:solidFill>
                  <a:schemeClr val="accent6"/>
                </a:solidFill>
              </a:rPr>
              <a:t>Root cause (to capture)</a:t>
            </a:r>
            <a:endParaRPr lang="en-US" sz="1600" dirty="0"/>
          </a:p>
        </p:txBody>
      </p:sp>
      <p:sp>
        <p:nvSpPr>
          <p:cNvPr id="8" name="Value column 2 body"/>
          <p:cNvSpPr txBox="1"/>
          <p:nvPr/>
        </p:nvSpPr>
        <p:spPr>
          <a:xfrm>
            <a:off x="4315968" y="2240280"/>
            <a:ext cx="3529584"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Reason codes: quote expired, discount, scope, pricing error</a:t>
            </a:r>
            <a:endParaRPr lang="en-US" sz="1400" dirty="0"/>
          </a:p>
          <a:p>
            <a:pPr marL="342900" indent="-342900">
              <a:spcAft>
                <a:spcPts val="600"/>
              </a:spcAft>
              <a:buSzPct val="100000"/>
              <a:buChar char="•"/>
            </a:pPr>
            <a:r>
              <a:rPr lang="en-US" sz="1400" dirty="0">
                <a:solidFill>
                  <a:schemeClr val="tx1"/>
                </a:solidFill>
              </a:rPr>
              <a:t>Hotspots by approver queue, region and rep</a:t>
            </a:r>
            <a:endParaRPr lang="en-US" sz="1400" dirty="0"/>
          </a:p>
          <a:p>
            <a:pPr marL="342900" indent="-342900">
              <a:spcAft>
                <a:spcPts val="600"/>
              </a:spcAft>
              <a:buSzPct val="100000"/>
              <a:buChar char="•"/>
            </a:pPr>
            <a:r>
              <a:rPr lang="en-US" sz="1400" dirty="0">
                <a:solidFill>
                  <a:schemeClr val="tx1"/>
                </a:solidFill>
              </a:rPr>
              <a:t>Test whether approval delay causes expiry and re-quotes</a:t>
            </a:r>
            <a:endParaRPr lang="en-US" sz="1400" dirty="0"/>
          </a:p>
        </p:txBody>
      </p:sp>
      <p:sp>
        <p:nvSpPr>
          <p:cNvPr id="9" name="Value column 3 heading"/>
          <p:cNvSpPr txBox="1"/>
          <p:nvPr/>
        </p:nvSpPr>
        <p:spPr>
          <a:xfrm>
            <a:off x="8083296" y="1828800"/>
            <a:ext cx="3529584" cy="365760"/>
          </a:xfrm>
          <a:prstGeom prst="rect">
            <a:avLst/>
          </a:prstGeom>
          <a:noFill/>
          <a:ln/>
        </p:spPr>
        <p:txBody>
          <a:bodyPr wrap="square" lIns="0" tIns="0" rIns="0" bIns="0" rtlCol="0" anchor="t"/>
          <a:lstStyle/>
          <a:p>
            <a:pPr indent="0" marL="0">
              <a:buNone/>
            </a:pPr>
            <a:r>
              <a:rPr lang="en-US" sz="1600" b="1" dirty="0">
                <a:solidFill>
                  <a:schemeClr val="accent6"/>
                </a:solidFill>
              </a:rPr>
              <a:t>Solution with process intelligence</a:t>
            </a:r>
            <a:endParaRPr lang="en-US" sz="1600" dirty="0"/>
          </a:p>
        </p:txBody>
      </p:sp>
      <p:sp>
        <p:nvSpPr>
          <p:cNvPr id="10" name="Value column 3 body"/>
          <p:cNvSpPr txBox="1"/>
          <p:nvPr/>
        </p:nvSpPr>
        <p:spPr>
          <a:xfrm>
            <a:off x="8083296" y="2240280"/>
            <a:ext cx="3529584"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Performance views show where quotes wait and loop</a:t>
            </a:r>
            <a:endParaRPr lang="en-US" sz="1400" dirty="0"/>
          </a:p>
          <a:p>
            <a:pPr marL="342900" indent="-342900">
              <a:spcAft>
                <a:spcPts val="600"/>
              </a:spcAft>
              <a:buSzPct val="100000"/>
              <a:buChar char="•"/>
            </a:pPr>
            <a:r>
              <a:rPr lang="en-US" sz="1400" dirty="0">
                <a:solidFill>
                  <a:schemeClr val="tx1"/>
                </a:solidFill>
              </a:rPr>
              <a:t>Conformance checking flags skipped steps</a:t>
            </a:r>
            <a:endParaRPr lang="en-US" sz="1400" dirty="0"/>
          </a:p>
          <a:p>
            <a:pPr marL="342900" indent="-342900">
              <a:spcAft>
                <a:spcPts val="600"/>
              </a:spcAft>
              <a:buSzPct val="100000"/>
              <a:buChar char="•"/>
            </a:pPr>
            <a:r>
              <a:rPr lang="en-US" sz="1400" dirty="0">
                <a:solidFill>
                  <a:schemeClr val="tx1"/>
                </a:solidFill>
              </a:rPr>
              <a:t>Simulate a pilot before any policy change</a:t>
            </a:r>
            <a:endParaRPr lang="en-US" sz="1400" dirty="0"/>
          </a:p>
        </p:txBody>
      </p:sp>
      <p:sp>
        <p:nvSpPr>
          <p:cNvPr id="11" name="Chain 1 label"/>
          <p:cNvSpPr txBox="1"/>
          <p:nvPr/>
        </p:nvSpPr>
        <p:spPr>
          <a:xfrm>
            <a:off x="54864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Negotiated deals / yr</a:t>
            </a:r>
            <a:endParaRPr lang="en-US" sz="1200" dirty="0"/>
          </a:p>
        </p:txBody>
      </p:sp>
      <p:sp>
        <p:nvSpPr>
          <p:cNvPr id="12" name="Chain 1 box"/>
          <p:cNvSpPr/>
          <p:nvPr/>
        </p:nvSpPr>
        <p:spPr>
          <a:xfrm>
            <a:off x="548640" y="4709160"/>
            <a:ext cx="1508760" cy="777240"/>
          </a:xfrm>
          <a:prstGeom prst="roundRect">
            <a:avLst>
              <a:gd name="adj" fmla="val 14118"/>
            </a:avLst>
          </a:prstGeom>
          <a:solidFill>
            <a:schemeClr val="bg2"/>
          </a:solidFill>
          <a:ln/>
        </p:spPr>
      </p:sp>
      <p:sp>
        <p:nvSpPr>
          <p:cNvPr id="13" name="Chain 1 value"/>
          <p:cNvSpPr txBox="1"/>
          <p:nvPr/>
        </p:nvSpPr>
        <p:spPr>
          <a:xfrm>
            <a:off x="54864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747</a:t>
            </a:r>
            <a:endParaRPr lang="en-US" sz="2200" dirty="0"/>
          </a:p>
        </p:txBody>
      </p:sp>
      <p:sp>
        <p:nvSpPr>
          <p:cNvPr id="14" name="Chain 1 operator"/>
          <p:cNvSpPr txBox="1"/>
          <p:nvPr/>
        </p:nvSpPr>
        <p:spPr>
          <a:xfrm>
            <a:off x="205740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15" name="Chain 2 label"/>
          <p:cNvSpPr txBox="1"/>
          <p:nvPr/>
        </p:nvSpPr>
        <p:spPr>
          <a:xfrm>
            <a:off x="233172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Share re-quoted</a:t>
            </a:r>
            <a:endParaRPr lang="en-US" sz="1200" dirty="0"/>
          </a:p>
        </p:txBody>
      </p:sp>
      <p:sp>
        <p:nvSpPr>
          <p:cNvPr id="16" name="Chain 2 box"/>
          <p:cNvSpPr/>
          <p:nvPr/>
        </p:nvSpPr>
        <p:spPr>
          <a:xfrm>
            <a:off x="2331720" y="4709160"/>
            <a:ext cx="1508760" cy="777240"/>
          </a:xfrm>
          <a:prstGeom prst="roundRect">
            <a:avLst>
              <a:gd name="adj" fmla="val 14118"/>
            </a:avLst>
          </a:prstGeom>
          <a:solidFill>
            <a:schemeClr val="bg2"/>
          </a:solidFill>
          <a:ln/>
        </p:spPr>
      </p:sp>
      <p:sp>
        <p:nvSpPr>
          <p:cNvPr id="17" name="Chain 2 value"/>
          <p:cNvSpPr txBox="1"/>
          <p:nvPr/>
        </p:nvSpPr>
        <p:spPr>
          <a:xfrm>
            <a:off x="233172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19.2%</a:t>
            </a:r>
            <a:endParaRPr lang="en-US" sz="2200" dirty="0"/>
          </a:p>
        </p:txBody>
      </p:sp>
      <p:sp>
        <p:nvSpPr>
          <p:cNvPr id="18" name="Chain 2 operator"/>
          <p:cNvSpPr txBox="1"/>
          <p:nvPr/>
        </p:nvSpPr>
        <p:spPr>
          <a:xfrm>
            <a:off x="384048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19" name="Chain 3 label"/>
          <p:cNvSpPr txBox="1"/>
          <p:nvPr/>
        </p:nvSpPr>
        <p:spPr>
          <a:xfrm>
            <a:off x="411480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Win-rate gap</a:t>
            </a:r>
            <a:endParaRPr lang="en-US" sz="1200" dirty="0"/>
          </a:p>
        </p:txBody>
      </p:sp>
      <p:sp>
        <p:nvSpPr>
          <p:cNvPr id="20" name="Chain 3 box"/>
          <p:cNvSpPr/>
          <p:nvPr/>
        </p:nvSpPr>
        <p:spPr>
          <a:xfrm>
            <a:off x="4114800" y="4709160"/>
            <a:ext cx="1508760" cy="777240"/>
          </a:xfrm>
          <a:prstGeom prst="roundRect">
            <a:avLst>
              <a:gd name="adj" fmla="val 14118"/>
            </a:avLst>
          </a:prstGeom>
          <a:solidFill>
            <a:schemeClr val="bg2"/>
          </a:solidFill>
          <a:ln/>
        </p:spPr>
      </p:sp>
      <p:sp>
        <p:nvSpPr>
          <p:cNvPr id="21" name="Chain 3 value"/>
          <p:cNvSpPr txBox="1"/>
          <p:nvPr/>
        </p:nvSpPr>
        <p:spPr>
          <a:xfrm>
            <a:off x="411480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17.5 pts</a:t>
            </a:r>
            <a:endParaRPr lang="en-US" sz="2200" dirty="0"/>
          </a:p>
        </p:txBody>
      </p:sp>
      <p:sp>
        <p:nvSpPr>
          <p:cNvPr id="22" name="Chain 3 operator"/>
          <p:cNvSpPr txBox="1"/>
          <p:nvPr/>
        </p:nvSpPr>
        <p:spPr>
          <a:xfrm>
            <a:off x="562356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23" name="Chain 4 label"/>
          <p:cNvSpPr txBox="1"/>
          <p:nvPr/>
        </p:nvSpPr>
        <p:spPr>
          <a:xfrm>
            <a:off x="589788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Average won deal</a:t>
            </a:r>
            <a:endParaRPr lang="en-US" sz="1200" dirty="0"/>
          </a:p>
        </p:txBody>
      </p:sp>
      <p:sp>
        <p:nvSpPr>
          <p:cNvPr id="24" name="Chain 4 box"/>
          <p:cNvSpPr/>
          <p:nvPr/>
        </p:nvSpPr>
        <p:spPr>
          <a:xfrm>
            <a:off x="5897880" y="4709160"/>
            <a:ext cx="1508760" cy="777240"/>
          </a:xfrm>
          <a:prstGeom prst="roundRect">
            <a:avLst>
              <a:gd name="adj" fmla="val 14118"/>
            </a:avLst>
          </a:prstGeom>
          <a:solidFill>
            <a:schemeClr val="bg2"/>
          </a:solidFill>
          <a:ln/>
        </p:spPr>
      </p:sp>
      <p:sp>
        <p:nvSpPr>
          <p:cNvPr id="25" name="Chain 4 value"/>
          <p:cNvSpPr txBox="1"/>
          <p:nvPr/>
        </p:nvSpPr>
        <p:spPr>
          <a:xfrm>
            <a:off x="589788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$53.1k</a:t>
            </a:r>
            <a:endParaRPr lang="en-US" sz="2200" dirty="0"/>
          </a:p>
        </p:txBody>
      </p:sp>
      <p:sp>
        <p:nvSpPr>
          <p:cNvPr id="26" name="Chain 4 operator"/>
          <p:cNvSpPr txBox="1"/>
          <p:nvPr/>
        </p:nvSpPr>
        <p:spPr>
          <a:xfrm>
            <a:off x="740664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27" name="Chain 5 label"/>
          <p:cNvSpPr txBox="1"/>
          <p:nvPr/>
        </p:nvSpPr>
        <p:spPr>
          <a:xfrm>
            <a:off x="7680960" y="4251960"/>
            <a:ext cx="1508760" cy="411480"/>
          </a:xfrm>
          <a:prstGeom prst="rect">
            <a:avLst/>
          </a:prstGeom>
          <a:noFill/>
          <a:ln/>
        </p:spPr>
        <p:txBody>
          <a:bodyPr wrap="square" lIns="0" tIns="0" rIns="0" bIns="0" rtlCol="0" anchor="b"/>
          <a:lstStyle/>
          <a:p>
            <a:pPr algn="ctr" indent="0" marL="0">
              <a:buNone/>
            </a:pPr>
            <a:r>
              <a:rPr lang="en-US" sz="1200" b="1" dirty="0">
                <a:solidFill>
                  <a:schemeClr val="tx2"/>
                </a:solidFill>
              </a:rPr>
              <a:t>Re-quotes prevented</a:t>
            </a:r>
            <a:endParaRPr lang="en-US" sz="1200" dirty="0"/>
          </a:p>
        </p:txBody>
      </p:sp>
      <p:sp>
        <p:nvSpPr>
          <p:cNvPr id="28" name="Chain 5 box"/>
          <p:cNvSpPr/>
          <p:nvPr/>
        </p:nvSpPr>
        <p:spPr>
          <a:xfrm>
            <a:off x="7680960" y="4709160"/>
            <a:ext cx="1508760" cy="777240"/>
          </a:xfrm>
          <a:prstGeom prst="roundRect">
            <a:avLst>
              <a:gd name="adj" fmla="val 14118"/>
            </a:avLst>
          </a:prstGeom>
          <a:solidFill>
            <a:schemeClr val="bg2"/>
          </a:solidFill>
          <a:ln/>
        </p:spPr>
      </p:sp>
      <p:sp>
        <p:nvSpPr>
          <p:cNvPr id="29" name="Chain 5 value"/>
          <p:cNvSpPr txBox="1"/>
          <p:nvPr/>
        </p:nvSpPr>
        <p:spPr>
          <a:xfrm>
            <a:off x="7680960" y="4709160"/>
            <a:ext cx="1508760" cy="77724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p:txBody>
      </p:sp>
      <p:sp>
        <p:nvSpPr>
          <p:cNvPr id="30" name="Chain 5 operator"/>
          <p:cNvSpPr txBox="1"/>
          <p:nvPr/>
        </p:nvSpPr>
        <p:spPr>
          <a:xfrm>
            <a:off x="9189720" y="4709160"/>
            <a:ext cx="274320" cy="77724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31" name="Framed value pill"/>
          <p:cNvSpPr/>
          <p:nvPr/>
        </p:nvSpPr>
        <p:spPr>
          <a:xfrm>
            <a:off x="9509760" y="4251960"/>
            <a:ext cx="2103120" cy="1234440"/>
          </a:xfrm>
          <a:prstGeom prst="roundRect">
            <a:avLst>
              <a:gd name="adj" fmla="val 8889"/>
            </a:avLst>
          </a:prstGeom>
          <a:solidFill>
            <a:schemeClr val="tx2"/>
          </a:solidFill>
          <a:ln/>
        </p:spPr>
      </p:sp>
      <p:sp>
        <p:nvSpPr>
          <p:cNvPr id="32" name="Framed value"/>
          <p:cNvSpPr txBox="1"/>
          <p:nvPr/>
        </p:nvSpPr>
        <p:spPr>
          <a:xfrm>
            <a:off x="9509760" y="4251960"/>
            <a:ext cx="2103120" cy="1234440"/>
          </a:xfrm>
          <a:prstGeom prst="rect">
            <a:avLst/>
          </a:prstGeom>
          <a:noFill/>
          <a:ln/>
        </p:spPr>
        <p:txBody>
          <a:bodyPr wrap="square" lIns="0" tIns="0" rIns="0" bIns="0" rtlCol="0" anchor="ctr"/>
          <a:lstStyle/>
          <a:p>
            <a:pPr algn="ctr" indent="0" marL="0">
              <a:buNone/>
            </a:pPr>
            <a:r>
              <a:rPr lang="en-US" sz="3000" b="1" dirty="0">
                <a:solidFill>
                  <a:schemeClr val="bg1"/>
                </a:solidFill>
              </a:rPr>
              <a:t>≈ $667k</a:t>
            </a:r>
            <a:endParaRPr lang="en-US" sz="1400" dirty="0"/>
          </a:p>
          <a:p>
            <a:pPr algn="ctr" indent="0" marL="0">
              <a:buNone/>
            </a:pPr>
            <a:r>
              <a:rPr lang="en-US" sz="1100" dirty="0">
                <a:solidFill>
                  <a:schemeClr val="accent3"/>
                </a:solidFill>
              </a:rPr>
              <a:t>modelled incremental bookings p.a.</a:t>
            </a:r>
            <a:endParaRPr lang="en-US" sz="1400" dirty="0"/>
          </a:p>
        </p:txBody>
      </p:sp>
      <p:sp>
        <p:nvSpPr>
          <p:cNvPr id="33" name="Scenario"/>
          <p:cNvSpPr txBox="1"/>
          <p:nvPr/>
        </p:nvSpPr>
        <p:spPr>
          <a:xfrm>
            <a:off x="548640" y="5596128"/>
            <a:ext cx="11064240" cy="685800"/>
          </a:xfrm>
          <a:prstGeom prst="rect">
            <a:avLst/>
          </a:prstGeom>
          <a:noFill/>
          <a:ln/>
        </p:spPr>
        <p:txBody>
          <a:bodyPr wrap="square" lIns="0" tIns="0" rIns="0" bIns="0" rtlCol="0" anchor="t"/>
          <a:lstStyle/>
          <a:p>
            <a:pPr indent="0" marL="0">
              <a:buNone/>
            </a:pPr>
            <a:r>
              <a:rPr lang="en-US" sz="1400" b="1" dirty="0">
                <a:solidFill>
                  <a:schemeClr val="tx2"/>
                </a:solidFill>
              </a:rPr>
              <a:t>Scenario to test: </a:t>
            </a:r>
            <a:pPr indent="0" marL="0">
              <a:buNone/>
            </a:pPr>
            <a:r>
              <a:rPr lang="en-US" sz="1400" dirty="0">
                <a:solidFill>
                  <a:schemeClr val="tx1"/>
                </a:solidFill>
              </a:rPr>
              <a:t>cut re-quotes from 19.2% to 9.6% of negotiated deals, assuming each prevented re-quote recovers the 17.5-point win-rate gap. Measured against a comparison group; Finance validates incremental bookings, revenue recognition assessed separately.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Decor circle large"/>
          <p:cNvSpPr/>
          <p:nvPr/>
        </p:nvSpPr>
        <p:spPr>
          <a:xfrm>
            <a:off x="9326880" y="4023360"/>
            <a:ext cx="4937760" cy="4937760"/>
          </a:xfrm>
          <a:prstGeom prst="ellipse">
            <a:avLst/>
          </a:prstGeom>
          <a:solidFill>
            <a:schemeClr val="accent1">
              <a:alpha val="25000"/>
            </a:schemeClr>
          </a:solidFill>
          <a:ln/>
        </p:spPr>
      </p:sp>
      <p:sp>
        <p:nvSpPr>
          <p:cNvPr id="3" name="Text 0"/>
          <p:cNvSpPr/>
          <p:nvPr>
            <p:ph idx="100" type="title" hasCustomPrompt="1"/>
          </p:nvPr>
        </p:nvSpPr>
        <p:spPr>
          <a:xfrm>
            <a:off x="731520" y="548640"/>
            <a:ext cx="10698480" cy="914400"/>
          </a:xfrm>
          <a:prstGeom prst="rect">
            <a:avLst/>
          </a:prstGeom>
          <a:noFill/>
          <a:ln/>
        </p:spPr>
        <p:txBody>
          <a:bodyPr wrap="square" lIns="0" tIns="0" rIns="0" bIns="0" rtlCol="0" anchor="ctr"/>
          <a:lstStyle/>
          <a:p>
            <a:pPr algn="l" indent="0" marL="0">
              <a:buNone/>
            </a:pPr>
            <a:r>
              <a:rPr lang="en-US" sz="3600" b="1" dirty="0">
                <a:solidFill>
                  <a:schemeClr val="bg1"/>
                </a:solidFill>
              </a:rPr>
              <a:t>Turning the finding into a decision</a:t>
            </a:r>
            <a:endParaRPr lang="en-US" sz="3600" dirty="0"/>
          </a:p>
        </p:txBody>
      </p:sp>
      <p:sp>
        <p:nvSpPr>
          <p:cNvPr id="4" name="Next 1 card"/>
          <p:cNvSpPr/>
          <p:nvPr/>
        </p:nvSpPr>
        <p:spPr>
          <a:xfrm>
            <a:off x="731520" y="1828800"/>
            <a:ext cx="3337560" cy="2423160"/>
          </a:xfrm>
          <a:prstGeom prst="roundRect">
            <a:avLst>
              <a:gd name="adj" fmla="val 4528"/>
            </a:avLst>
          </a:prstGeom>
          <a:solidFill>
            <a:schemeClr val="accent6"/>
          </a:solidFill>
          <a:ln/>
        </p:spPr>
      </p:sp>
      <p:sp>
        <p:nvSpPr>
          <p:cNvPr id="5" name="Next 1 heading"/>
          <p:cNvSpPr txBox="1"/>
          <p:nvPr/>
        </p:nvSpPr>
        <p:spPr>
          <a:xfrm>
            <a:off x="1005840" y="2103120"/>
            <a:ext cx="2788920" cy="457200"/>
          </a:xfrm>
          <a:prstGeom prst="rect">
            <a:avLst/>
          </a:prstGeom>
          <a:noFill/>
          <a:ln/>
        </p:spPr>
        <p:txBody>
          <a:bodyPr wrap="square" lIns="0" tIns="0" rIns="0" bIns="0" rtlCol="0" anchor="t"/>
          <a:lstStyle/>
          <a:p>
            <a:pPr indent="0" marL="0">
              <a:buNone/>
            </a:pPr>
            <a:r>
              <a:rPr lang="en-US" sz="2200" b="1" dirty="0">
                <a:solidFill>
                  <a:schemeClr val="accent3"/>
                </a:solidFill>
              </a:rPr>
              <a:t>Validate</a:t>
            </a:r>
            <a:endParaRPr lang="en-US" sz="2200" dirty="0"/>
          </a:p>
        </p:txBody>
      </p:sp>
      <p:sp>
        <p:nvSpPr>
          <p:cNvPr id="6" name="Next 1 body"/>
          <p:cNvSpPr txBox="1"/>
          <p:nvPr/>
        </p:nvSpPr>
        <p:spPr>
          <a:xfrm>
            <a:off x="1005840" y="2697480"/>
            <a:ext cx="2788920" cy="1188720"/>
          </a:xfrm>
          <a:prstGeom prst="rect">
            <a:avLst/>
          </a:prstGeom>
          <a:noFill/>
          <a:ln/>
        </p:spPr>
        <p:txBody>
          <a:bodyPr wrap="square" lIns="0" tIns="0" rIns="0" bIns="0" rtlCol="0" anchor="t"/>
          <a:lstStyle/>
          <a:p>
            <a:pPr indent="0" marL="0">
              <a:buNone/>
            </a:pPr>
            <a:r>
              <a:rPr lang="en-US" sz="1600" dirty="0">
                <a:solidFill>
                  <a:schemeClr val="bg1"/>
                </a:solidFill>
              </a:rPr>
              <a:t>Run the extract on the production org; confirm cohorts, causes and overlap.</a:t>
            </a:r>
            <a:endParaRPr lang="en-US" sz="1600" dirty="0"/>
          </a:p>
        </p:txBody>
      </p:sp>
      <p:sp>
        <p:nvSpPr>
          <p:cNvPr id="7" name="Next 1 owner"/>
          <p:cNvSpPr txBox="1"/>
          <p:nvPr/>
        </p:nvSpPr>
        <p:spPr>
          <a:xfrm>
            <a:off x="1005840" y="3657600"/>
            <a:ext cx="2788920" cy="365760"/>
          </a:xfrm>
          <a:prstGeom prst="rect">
            <a:avLst/>
          </a:prstGeom>
          <a:noFill/>
          <a:ln/>
        </p:spPr>
        <p:txBody>
          <a:bodyPr wrap="square" lIns="0" tIns="0" rIns="0" bIns="0" rtlCol="0" anchor="t"/>
          <a:lstStyle/>
          <a:p>
            <a:pPr indent="0" marL="0">
              <a:buNone/>
            </a:pPr>
            <a:r>
              <a:rPr lang="en-US" sz="1200" dirty="0">
                <a:solidFill>
                  <a:schemeClr val="accent3"/>
                </a:solidFill>
              </a:rPr>
              <a:t>RevOps + SE · weeks 1–2</a:t>
            </a:r>
            <a:endParaRPr lang="en-US" sz="1200" dirty="0"/>
          </a:p>
        </p:txBody>
      </p:sp>
      <p:sp>
        <p:nvSpPr>
          <p:cNvPr id="8" name="Next 2 card"/>
          <p:cNvSpPr/>
          <p:nvPr/>
        </p:nvSpPr>
        <p:spPr>
          <a:xfrm>
            <a:off x="4343400" y="1828800"/>
            <a:ext cx="3337560" cy="2423160"/>
          </a:xfrm>
          <a:prstGeom prst="roundRect">
            <a:avLst>
              <a:gd name="adj" fmla="val 4528"/>
            </a:avLst>
          </a:prstGeom>
          <a:solidFill>
            <a:schemeClr val="accent6"/>
          </a:solidFill>
          <a:ln/>
        </p:spPr>
      </p:sp>
      <p:sp>
        <p:nvSpPr>
          <p:cNvPr id="9" name="Next 2 heading"/>
          <p:cNvSpPr txBox="1"/>
          <p:nvPr/>
        </p:nvSpPr>
        <p:spPr>
          <a:xfrm>
            <a:off x="4617720" y="2103120"/>
            <a:ext cx="2788920" cy="457200"/>
          </a:xfrm>
          <a:prstGeom prst="rect">
            <a:avLst/>
          </a:prstGeom>
          <a:noFill/>
          <a:ln/>
        </p:spPr>
        <p:txBody>
          <a:bodyPr wrap="square" lIns="0" tIns="0" rIns="0" bIns="0" rtlCol="0" anchor="t"/>
          <a:lstStyle/>
          <a:p>
            <a:pPr indent="0" marL="0">
              <a:buNone/>
            </a:pPr>
            <a:r>
              <a:rPr lang="en-US" sz="2200" b="1" dirty="0">
                <a:solidFill>
                  <a:schemeClr val="accent3"/>
                </a:solidFill>
              </a:rPr>
              <a:t>Pilot</a:t>
            </a:r>
            <a:endParaRPr lang="en-US" sz="2200" dirty="0"/>
          </a:p>
        </p:txBody>
      </p:sp>
      <p:sp>
        <p:nvSpPr>
          <p:cNvPr id="10" name="Next 2 body"/>
          <p:cNvSpPr txBox="1"/>
          <p:nvPr/>
        </p:nvSpPr>
        <p:spPr>
          <a:xfrm>
            <a:off x="4617720" y="2697480"/>
            <a:ext cx="2788920" cy="1188720"/>
          </a:xfrm>
          <a:prstGeom prst="rect">
            <a:avLst/>
          </a:prstGeom>
          <a:noFill/>
          <a:ln/>
        </p:spPr>
        <p:txBody>
          <a:bodyPr wrap="square" lIns="0" tIns="0" rIns="0" bIns="0" rtlCol="0" anchor="t"/>
          <a:lstStyle/>
          <a:p>
            <a:pPr indent="0" marL="0">
              <a:buNone/>
            </a:pPr>
            <a:r>
              <a:rPr lang="en-US" sz="1600" dirty="0">
                <a:solidFill>
                  <a:schemeClr val="bg1"/>
                </a:solidFill>
              </a:rPr>
              <a:t>Agree a controlled pilot with RevOps and Finance once re-quote causes are validated.</a:t>
            </a:r>
            <a:endParaRPr lang="en-US" sz="1600" dirty="0"/>
          </a:p>
        </p:txBody>
      </p:sp>
      <p:sp>
        <p:nvSpPr>
          <p:cNvPr id="11" name="Next 2 owner"/>
          <p:cNvSpPr txBox="1"/>
          <p:nvPr/>
        </p:nvSpPr>
        <p:spPr>
          <a:xfrm>
            <a:off x="4617720" y="3657600"/>
            <a:ext cx="2788920" cy="365760"/>
          </a:xfrm>
          <a:prstGeom prst="rect">
            <a:avLst/>
          </a:prstGeom>
          <a:noFill/>
          <a:ln/>
        </p:spPr>
        <p:txBody>
          <a:bodyPr wrap="square" lIns="0" tIns="0" rIns="0" bIns="0" rtlCol="0" anchor="t"/>
          <a:lstStyle/>
          <a:p>
            <a:pPr indent="0" marL="0">
              <a:buNone/>
            </a:pPr>
            <a:r>
              <a:rPr lang="en-US" sz="1200" dirty="0">
                <a:solidFill>
                  <a:schemeClr val="accent3"/>
                </a:solidFill>
              </a:rPr>
              <a:t>RevOps + Finance · weeks 3–8</a:t>
            </a:r>
            <a:endParaRPr lang="en-US" sz="1200" dirty="0"/>
          </a:p>
        </p:txBody>
      </p:sp>
      <p:sp>
        <p:nvSpPr>
          <p:cNvPr id="12" name="Next 3 card"/>
          <p:cNvSpPr/>
          <p:nvPr/>
        </p:nvSpPr>
        <p:spPr>
          <a:xfrm>
            <a:off x="7955280" y="1828800"/>
            <a:ext cx="3337560" cy="2423160"/>
          </a:xfrm>
          <a:prstGeom prst="roundRect">
            <a:avLst>
              <a:gd name="adj" fmla="val 4528"/>
            </a:avLst>
          </a:prstGeom>
          <a:solidFill>
            <a:schemeClr val="accent6"/>
          </a:solidFill>
          <a:ln/>
        </p:spPr>
      </p:sp>
      <p:sp>
        <p:nvSpPr>
          <p:cNvPr id="13" name="Next 3 heading"/>
          <p:cNvSpPr txBox="1"/>
          <p:nvPr/>
        </p:nvSpPr>
        <p:spPr>
          <a:xfrm>
            <a:off x="8229600" y="2103120"/>
            <a:ext cx="2788920" cy="457200"/>
          </a:xfrm>
          <a:prstGeom prst="rect">
            <a:avLst/>
          </a:prstGeom>
          <a:noFill/>
          <a:ln/>
        </p:spPr>
        <p:txBody>
          <a:bodyPr wrap="square" lIns="0" tIns="0" rIns="0" bIns="0" rtlCol="0" anchor="t"/>
          <a:lstStyle/>
          <a:p>
            <a:pPr indent="0" marL="0">
              <a:buNone/>
            </a:pPr>
            <a:r>
              <a:rPr lang="en-US" sz="2200" b="1" dirty="0">
                <a:solidFill>
                  <a:schemeClr val="accent3"/>
                </a:solidFill>
              </a:rPr>
              <a:t>Measure</a:t>
            </a:r>
            <a:endParaRPr lang="en-US" sz="2200" dirty="0"/>
          </a:p>
        </p:txBody>
      </p:sp>
      <p:sp>
        <p:nvSpPr>
          <p:cNvPr id="14" name="Next 3 body"/>
          <p:cNvSpPr txBox="1"/>
          <p:nvPr/>
        </p:nvSpPr>
        <p:spPr>
          <a:xfrm>
            <a:off x="8229600" y="2697480"/>
            <a:ext cx="2788920" cy="1188720"/>
          </a:xfrm>
          <a:prstGeom prst="rect">
            <a:avLst/>
          </a:prstGeom>
          <a:noFill/>
          <a:ln/>
        </p:spPr>
        <p:txBody>
          <a:bodyPr wrap="square" lIns="0" tIns="0" rIns="0" bIns="0" rtlCol="0" anchor="t"/>
          <a:lstStyle/>
          <a:p>
            <a:pPr indent="0" marL="0">
              <a:buNone/>
            </a:pPr>
            <a:r>
              <a:rPr lang="en-US" sz="1600" dirty="0">
                <a:solidFill>
                  <a:schemeClr val="bg1"/>
                </a:solidFill>
              </a:rPr>
              <a:t>Track share re-quoted and win rate against a frozen baseline and a comparison group.</a:t>
            </a:r>
            <a:endParaRPr lang="en-US" sz="1600" dirty="0"/>
          </a:p>
        </p:txBody>
      </p:sp>
      <p:sp>
        <p:nvSpPr>
          <p:cNvPr id="15" name="Next 3 owner"/>
          <p:cNvSpPr txBox="1"/>
          <p:nvPr/>
        </p:nvSpPr>
        <p:spPr>
          <a:xfrm>
            <a:off x="8229600" y="3657600"/>
            <a:ext cx="2788920" cy="365760"/>
          </a:xfrm>
          <a:prstGeom prst="rect">
            <a:avLst/>
          </a:prstGeom>
          <a:noFill/>
          <a:ln/>
        </p:spPr>
        <p:txBody>
          <a:bodyPr wrap="square" lIns="0" tIns="0" rIns="0" bIns="0" rtlCol="0" anchor="t"/>
          <a:lstStyle/>
          <a:p>
            <a:pPr indent="0" marL="0">
              <a:buNone/>
            </a:pPr>
            <a:r>
              <a:rPr lang="en-US" sz="1200" dirty="0">
                <a:solidFill>
                  <a:schemeClr val="accent3"/>
                </a:solidFill>
              </a:rPr>
              <a:t>Finance · monthly, signed off quarterly</a:t>
            </a:r>
            <a:endParaRPr lang="en-US" sz="1200" dirty="0"/>
          </a:p>
        </p:txBody>
      </p:sp>
      <p:sp>
        <p:nvSpPr>
          <p:cNvPr id="16" name="Schedule note"/>
          <p:cNvSpPr txBox="1"/>
          <p:nvPr/>
        </p:nvSpPr>
        <p:spPr>
          <a:xfrm>
            <a:off x="731520" y="4343400"/>
            <a:ext cx="7315200" cy="274320"/>
          </a:xfrm>
          <a:prstGeom prst="rect">
            <a:avLst/>
          </a:prstGeom>
          <a:noFill/>
          <a:ln/>
        </p:spPr>
        <p:txBody>
          <a:bodyPr wrap="square" lIns="0" tIns="0" rIns="0" bIns="0" rtlCol="0" anchor="t"/>
          <a:lstStyle/>
          <a:p>
            <a:pPr indent="0" marL="0">
              <a:buNone/>
            </a:pPr>
            <a:r>
              <a:rPr lang="en-US" sz="1200" i="1" dirty="0">
                <a:solidFill>
                  <a:schemeClr val="accent3"/>
                </a:solidFill>
              </a:rPr>
              <a:t>Illustrative schedule; owners are proposed.</a:t>
            </a:r>
            <a:endParaRPr lang="en-US" sz="1200" dirty="0"/>
          </a:p>
        </p:txBody>
      </p:sp>
      <p:sp>
        <p:nvSpPr>
          <p:cNvPr id="17" name="Decision"/>
          <p:cNvSpPr txBox="1"/>
          <p:nvPr/>
        </p:nvSpPr>
        <p:spPr>
          <a:xfrm>
            <a:off x="731520" y="4800600"/>
            <a:ext cx="8412480" cy="548640"/>
          </a:xfrm>
          <a:prstGeom prst="rect">
            <a:avLst/>
          </a:prstGeom>
          <a:noFill/>
          <a:ln/>
        </p:spPr>
        <p:txBody>
          <a:bodyPr wrap="square" lIns="0" tIns="0" rIns="0" bIns="0" rtlCol="0" anchor="t"/>
          <a:lstStyle/>
          <a:p>
            <a:pPr indent="0" marL="0">
              <a:buNone/>
            </a:pPr>
            <a:r>
              <a:rPr lang="en-US" sz="1800" b="1" dirty="0">
                <a:solidFill>
                  <a:schemeClr val="bg1"/>
                </a:solidFill>
              </a:rPr>
              <a:t>Decision today: </a:t>
            </a:r>
            <a:pPr indent="0" marL="0">
              <a:buNone/>
            </a:pPr>
            <a:r>
              <a:rPr lang="en-US" sz="1800" dirty="0">
                <a:solidFill>
                  <a:schemeClr val="accent3"/>
                </a:solidFill>
              </a:rPr>
              <a:t>agree the validation scope, named owners and pilot success criteria.</a:t>
            </a:r>
            <a:endParaRPr lang="en-US" sz="1800" dirty="0"/>
          </a:p>
        </p:txBody>
      </p:sp>
      <p:sp>
        <p:nvSpPr>
          <p:cNvPr id="18" name="Closing contact"/>
          <p:cNvSpPr txBox="1"/>
          <p:nvPr/>
        </p:nvSpPr>
        <p:spPr>
          <a:xfrm>
            <a:off x="731520" y="5943600"/>
            <a:ext cx="7315200" cy="365760"/>
          </a:xfrm>
          <a:prstGeom prst="rect">
            <a:avLst/>
          </a:prstGeom>
          <a:noFill/>
          <a:ln/>
        </p:spPr>
        <p:txBody>
          <a:bodyPr wrap="square" lIns="0" tIns="0" rIns="0" bIns="0" rtlCol="0" anchor="t"/>
          <a:lstStyle/>
          <a:p>
            <a:pPr indent="0" marL="0">
              <a:buNone/>
            </a:pPr>
            <a:r>
              <a:rPr lang="en-US" sz="1400" dirty="0">
                <a:solidFill>
                  <a:schemeClr val="accent3"/>
                </a:solidFill>
              </a:rPr>
              <a:t>salesforce-process-intelligence.vercel.app  ·  Luke Audie</a:t>
            </a:r>
            <a:endParaRPr lang="en-US" sz="1400" dirty="0"/>
          </a:p>
        </p:txBody>
      </p:sp>
    </p:spTree>
  </p:cSld>
  <p:clrMapOvr>
    <a:masterClrMapping/>
  </p:clrMapOvr>
</p:sld>
</file>

<file path=ppt/theme/theme1.xml><?xml version="1.0" encoding="utf-8"?>
<a:theme xmlns:a="http://schemas.openxmlformats.org/drawingml/2006/main" name="Process Intelligence">
  <a:themeElements>
    <a:clrScheme name="Process Intelligence">
      <a:dk1>
        <a:srgbClr val="181818"/>
      </a:dk1>
      <a:lt1>
        <a:srgbClr val="FFFFFF"/>
      </a:lt1>
      <a:dk2>
        <a:srgbClr val="032D60"/>
      </a:dk2>
      <a:lt2>
        <a:srgbClr val="EAF5FE"/>
      </a:lt2>
      <a:accent1>
        <a:srgbClr val="0B9DE0"/>
      </a:accent1>
      <a:accent2>
        <a:srgbClr val="4499D8"/>
      </a:accent2>
      <a:accent3>
        <a:srgbClr val="CFE9FE"/>
      </a:accent3>
      <a:accent4>
        <a:srgbClr val="FE9339"/>
      </a:accent4>
      <a:accent5>
        <a:srgbClr val="2E844A"/>
      </a:accent5>
      <a:accent6>
        <a:srgbClr val="0B5CAB"/>
      </a:accent6>
      <a:hlink>
        <a:srgbClr val="0B5CAB"/>
      </a:hlink>
      <a:folHlink>
        <a:srgbClr val="032D60"/>
      </a:folHlink>
    </a:clrScheme>
    <a:fontScheme name="Process Intellig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Salesforce data to a framed value case</dc:title>
  <dc:subject>PptxGenJS Presentation</dc:subject>
  <dc:creator>Luke Audie</dc:creator>
  <cp:lastModifiedBy>Luke Audie</cp:lastModifiedBy>
  <cp:revision>1</cp:revision>
  <dcterms:created xsi:type="dcterms:W3CDTF">2026-10-14T20:39:30Z</dcterms:created>
  <dcterms:modified xsi:type="dcterms:W3CDTF">2026-10-14T20:39:30Z</dcterms:modified>
</cp:coreProperties>
</file>