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606f73f-5352-0c8a-1b6f-cbb2013955f7}">
          <p14:sldIdLst>
            <p14:sldId id="256"/>
            <p14:sldId id="257"/>
          </p14:sldIdLst>
        </p14:section>
        <p14:section name="Evidence" id="{8cf8c4fc-a79b-9a67-e68f-69c85841a29d}">
          <p14:sldIdLst>
            <p14:sldId id="258"/>
            <p14:sldId id="259"/>
          </p14:sldIdLst>
        </p14:section>
        <p14:section name="Value" id="{0be3f633-c937-c010-eacf-ec605e49bbc5}">
          <p14:sldIdLst>
            <p14:sldId id="260"/>
            <p14:sldId id="261"/>
          </p14:sldIdLst>
        </p14:section>
        <p14:section name="Close" id="{719c482f-b896-b042-f53d-40a1b96093d9}">
          <p14:sldIdLst>
            <p14:sldId id="262"/>
          </p14:sldIdLst>
        </p14:section>
        <p14:section name="Tech setup" id="{fee289be-66a8-9486-f37d-5bb09447e84f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32D6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32D60"/>
                </a:solidFill>
                <a:latin typeface="+mn-lt"/>
              </a:rPr>
              <a:t>Median approval wait (days)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approval wait (days)</c:v>
                </c:pt>
              </c:strCache>
            </c:strRef>
          </c:tx>
          <c:spPr>
            <a:solidFill>
              <a:srgbClr val="9DC9E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32D6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C9E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C9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E933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AMER</c:v>
                  </c:pt>
                  <c:pt idx="1">
                    <c:v>APAC</c:v>
                  </c:pt>
                  <c:pt idx="2">
                    <c:v>EMEA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1.5</c:v>
                </c:pt>
                <c:pt idx="2">
                  <c:v>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032D6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32D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32D6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32D60"/>
                </a:solidFill>
                <a:latin typeface="+mn-lt"/>
              </a:rPr>
              <a:t>Win rate of negotiated deals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rate of negotiated deals</c:v>
                </c:pt>
              </c:strCache>
            </c:strRef>
          </c:tx>
          <c:spPr>
            <a:solidFill>
              <a:srgbClr val="9DC9E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32D6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C9E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E933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Clean path</c:v>
                  </c:pt>
                  <c:pt idx="1">
                    <c:v>Re-quoted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0.49</c:v>
                </c:pt>
                <c:pt idx="1">
                  <c:v>0.31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400" u="none">
                  <a:solidFill>
                    <a:srgbClr val="032D6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32D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32D6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32D60"/>
                </a:solidFill>
                <a:latin typeface="+mn-lt"/>
              </a:rPr>
              <a:t>Win rate by qualification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rate by qualification</c:v>
                </c:pt>
              </c:strCache>
            </c:strRef>
          </c:tx>
          <c:spPr>
            <a:solidFill>
              <a:srgbClr val="9DC9E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32D6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C9E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E933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Qualified</c:v>
                  </c:pt>
                  <c:pt idx="1">
                    <c:v>Skipped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0.39</c:v>
                </c:pt>
                <c:pt idx="1">
                  <c:v>0.18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400" u="none">
                  <a:solidFill>
                    <a:srgbClr val="032D6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32D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wanted to show how I'd open with a Salesforce-heavy prospect: start from their own CRM data, find where the process leaks, and turn it into a number the CRO cares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number, then the three findings. Everything after this slide is how I got there and how you would check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directly-follows map from the hosted dashboard. Fourteen percent conformance is the hook: the CRM shows the stage, process mining shows the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Orange marks the problem cohort in each chart. Win-rate gaps compare like with like, for example only deals that reached Negotiation for re-quotes.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follows my value framing format: challenge, root cause, solution, then a multiplicative value chain. The customer owns the improvement assumption; we own the evidence. Root cause is labelled 'to capture' because it needs reason codes the CRM doesn't hold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of this is hosted. The repo has the pipeline, the seeding script and the README with the setup gotchas I hit on a new trial org.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decision: validate on production data, pilot one policy change, then monitor value realised in Apromore.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technical audience: the pipeline, the data model, and what it took to run it against a brand-new trial org.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Opportunity is the case. Trial orgs can't backdate history, so the 10-month dataset is simulated in the exact Salesforce shape; the extractor runs unchanged against the live org, as the band at the bottom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Opportunity is the case notion. Leads join through the converted opportunity, tasks through WhatId. History tables write a row on any field change, so the transform keeps only real stage transitions.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things that would trip up a customer's first technical session; each one is solved in the repo and written up in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from the trial org. Every record is tagged [Demo] and can be removed with seed.py --cleanup.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stage history is the raw material for the event log: each row becomes an event. The setup screen is the one-click fix for new orgs that block uninstalled connected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8412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Salesforce → event log → process mining → value case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salesforce-process-intelligence.vercel.app" TargetMode="External"/><Relationship Id="rId2" Type="http://schemas.openxmlformats.org/officeDocument/2006/relationships/hyperlink" Target="https://salesforce-process-intelligence.vercel.app/value-case.html" TargetMode="External"/><Relationship Id="rId3" Type="http://schemas.openxmlformats.org/officeDocument/2006/relationships/hyperlink" Target="https://salesforce-process-intelligence.vercel.app/live.html" TargetMode="External"/><Relationship Id="rId4" Type="http://schemas.openxmlformats.org/officeDocument/2006/relationships/hyperlink" Target="https://github.com/ch-lukas/salesforce-process-intelligence" TargetMode="External"/><Relationship Id="rId5" Type="http://schemas.openxmlformats.org/officeDocument/2006/relationships/image" Target="../media/image-6-1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large"/>
          <p:cNvSpPr/>
          <p:nvPr/>
        </p:nvSpPr>
        <p:spPr>
          <a:xfrm>
            <a:off x="8595360" y="3108960"/>
            <a:ext cx="6035040" cy="603504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3" name="Decor circle small"/>
          <p:cNvSpPr/>
          <p:nvPr/>
        </p:nvSpPr>
        <p:spPr>
          <a:xfrm>
            <a:off x="9692640" y="23774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0116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From Salesforce data to a framed value case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9319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Lead-to-close process intelligence: a working demo build</a:t>
            </a:r>
            <a:endParaRPr lang="en-US" sz="2000" dirty="0"/>
          </a:p>
        </p:txBody>
      </p:sp>
      <p:sp>
        <p:nvSpPr>
          <p:cNvPr id="6" name="Byline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Luke Audie  · 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answer first: three process fixes worth $1.4M a year</a:t>
            </a:r>
            <a:endParaRPr lang="en-US" sz="3000" dirty="0"/>
          </a:p>
        </p:txBody>
      </p:sp>
      <p:sp>
        <p:nvSpPr>
          <p:cNvPr id="3" name="Headline value"/>
          <p:cNvSpPr txBox="1"/>
          <p:nvPr/>
        </p:nvSpPr>
        <p:spPr>
          <a:xfrm>
            <a:off x="548640" y="14173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$1.4M</a:t>
            </a:r>
            <a:endParaRPr lang="en-US" sz="7200" dirty="0"/>
          </a:p>
        </p:txBody>
      </p:sp>
      <p:sp>
        <p:nvSpPr>
          <p:cNvPr id="4" name="Headline caption"/>
          <p:cNvSpPr txBox="1"/>
          <p:nvPr/>
        </p:nvSpPr>
        <p:spPr>
          <a:xfrm>
            <a:off x="548640" y="2697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Annual revenue upside if half of the gap is closed on three issues found in the CRM data. Full gap: $2.8M.</a:t>
            </a:r>
            <a:endParaRPr lang="en-US" sz="1600" dirty="0"/>
          </a:p>
        </p:txBody>
      </p:sp>
      <p:sp>
        <p:nvSpPr>
          <p:cNvPr id="5" name="Headline basis"/>
          <p:cNvSpPr txBox="1"/>
          <p:nvPr/>
        </p:nvSpPr>
        <p:spPr>
          <a:xfrm>
            <a:off x="54864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Sized from 800 opportunities over 10.4 months.</a:t>
            </a:r>
            <a:endParaRPr lang="en-US" sz="1400" dirty="0"/>
          </a:p>
        </p:txBody>
      </p:sp>
      <p:sp>
        <p:nvSpPr>
          <p:cNvPr id="6" name="Finding 1"/>
          <p:cNvSpPr/>
          <p:nvPr/>
        </p:nvSpPr>
        <p:spPr>
          <a:xfrm>
            <a:off x="6035040" y="1371600"/>
            <a:ext cx="55778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7" name="Finding 1 chip"/>
          <p:cNvSpPr/>
          <p:nvPr/>
        </p:nvSpPr>
        <p:spPr>
          <a:xfrm>
            <a:off x="6263640" y="1508760"/>
            <a:ext cx="210312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Finding 1 label"/>
          <p:cNvSpPr txBox="1"/>
          <p:nvPr/>
        </p:nvSpPr>
        <p:spPr>
          <a:xfrm>
            <a:off x="6263640" y="15087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Accelerate revenue</a:t>
            </a:r>
            <a:endParaRPr lang="en-US" sz="1200" dirty="0"/>
          </a:p>
        </p:txBody>
      </p:sp>
      <p:sp>
        <p:nvSpPr>
          <p:cNvPr id="9" name="Finding 1 text"/>
          <p:cNvSpPr txBox="1"/>
          <p:nvPr/>
        </p:nvSpPr>
        <p:spPr>
          <a:xfrm>
            <a:off x="6263640" y="1883664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EMEA discount approvals take 7.0 days vs 1.2 in the fastest region.</a:t>
            </a:r>
            <a:endParaRPr lang="en-US" sz="1400" dirty="0"/>
          </a:p>
        </p:txBody>
      </p:sp>
      <p:sp>
        <p:nvSpPr>
          <p:cNvPr id="10" name="Finding 2"/>
          <p:cNvSpPr/>
          <p:nvPr/>
        </p:nvSpPr>
        <p:spPr>
          <a:xfrm>
            <a:off x="6035040" y="2560320"/>
            <a:ext cx="55778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1" name="Finding 2 chip"/>
          <p:cNvSpPr/>
          <p:nvPr/>
        </p:nvSpPr>
        <p:spPr>
          <a:xfrm>
            <a:off x="6263640" y="2697480"/>
            <a:ext cx="210312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Finding 2 label"/>
          <p:cNvSpPr txBox="1"/>
          <p:nvPr/>
        </p:nvSpPr>
        <p:spPr>
          <a:xfrm>
            <a:off x="6263640" y="2697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Improve win rate</a:t>
            </a:r>
            <a:endParaRPr lang="en-US" sz="1200" dirty="0"/>
          </a:p>
        </p:txBody>
      </p:sp>
      <p:sp>
        <p:nvSpPr>
          <p:cNvPr id="13" name="Finding 2 text"/>
          <p:cNvSpPr txBox="1"/>
          <p:nvPr/>
        </p:nvSpPr>
        <p:spPr>
          <a:xfrm>
            <a:off x="6263640" y="3072384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19% of negotiated deals loop back for a re-quote; they win 31% vs 49%.</a:t>
            </a:r>
            <a:endParaRPr lang="en-US" sz="1400" dirty="0"/>
          </a:p>
        </p:txBody>
      </p:sp>
      <p:sp>
        <p:nvSpPr>
          <p:cNvPr id="14" name="Finding 3"/>
          <p:cNvSpPr/>
          <p:nvPr/>
        </p:nvSpPr>
        <p:spPr>
          <a:xfrm>
            <a:off x="6035040" y="3749040"/>
            <a:ext cx="55778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5" name="Finding 3 chip"/>
          <p:cNvSpPr/>
          <p:nvPr/>
        </p:nvSpPr>
        <p:spPr>
          <a:xfrm>
            <a:off x="6263640" y="3886200"/>
            <a:ext cx="210312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Finding 3 label"/>
          <p:cNvSpPr txBox="1"/>
          <p:nvPr/>
        </p:nvSpPr>
        <p:spPr>
          <a:xfrm>
            <a:off x="6263640" y="38862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Sales productivity</a:t>
            </a:r>
            <a:endParaRPr lang="en-US" sz="1200" dirty="0"/>
          </a:p>
        </p:txBody>
      </p:sp>
      <p:sp>
        <p:nvSpPr>
          <p:cNvPr id="17" name="Finding 3 text"/>
          <p:cNvSpPr txBox="1"/>
          <p:nvPr/>
        </p:nvSpPr>
        <p:spPr>
          <a:xfrm>
            <a:off x="6263640" y="4261104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12% of deals skip Qualification and win 18% vs 39%.</a:t>
            </a:r>
            <a:endParaRPr lang="en-US" sz="1400" dirty="0"/>
          </a:p>
        </p:txBody>
      </p:sp>
      <p:sp>
        <p:nvSpPr>
          <p:cNvPr id="18" name="KPI 1"/>
          <p:cNvSpPr/>
          <p:nvPr/>
        </p:nvSpPr>
        <p:spPr>
          <a:xfrm>
            <a:off x="548640" y="5074920"/>
            <a:ext cx="2103120" cy="109728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19" name="KPI 1 value"/>
          <p:cNvSpPr txBox="1"/>
          <p:nvPr/>
        </p:nvSpPr>
        <p:spPr>
          <a:xfrm>
            <a:off x="731520" y="51937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800</a:t>
            </a:r>
            <a:endParaRPr lang="en-US" sz="2800" dirty="0"/>
          </a:p>
        </p:txBody>
      </p:sp>
      <p:sp>
        <p:nvSpPr>
          <p:cNvPr id="20" name="KPI 1 label"/>
          <p:cNvSpPr txBox="1"/>
          <p:nvPr/>
        </p:nvSpPr>
        <p:spPr>
          <a:xfrm>
            <a:off x="731520" y="5715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deals analysed</a:t>
            </a:r>
            <a:endParaRPr lang="en-US" sz="1200" dirty="0"/>
          </a:p>
        </p:txBody>
      </p:sp>
      <p:sp>
        <p:nvSpPr>
          <p:cNvPr id="21" name="KPI 2"/>
          <p:cNvSpPr/>
          <p:nvPr/>
        </p:nvSpPr>
        <p:spPr>
          <a:xfrm>
            <a:off x="2788920" y="5074920"/>
            <a:ext cx="2103120" cy="109728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22" name="KPI 2 value"/>
          <p:cNvSpPr txBox="1"/>
          <p:nvPr/>
        </p:nvSpPr>
        <p:spPr>
          <a:xfrm>
            <a:off x="2971800" y="51937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37%</a:t>
            </a:r>
            <a:endParaRPr lang="en-US" sz="2800" dirty="0"/>
          </a:p>
        </p:txBody>
      </p:sp>
      <p:sp>
        <p:nvSpPr>
          <p:cNvPr id="23" name="KPI 2 label"/>
          <p:cNvSpPr txBox="1"/>
          <p:nvPr/>
        </p:nvSpPr>
        <p:spPr>
          <a:xfrm>
            <a:off x="2971800" y="5715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win rate</a:t>
            </a:r>
            <a:endParaRPr lang="en-US" sz="1200" dirty="0"/>
          </a:p>
        </p:txBody>
      </p:sp>
      <p:sp>
        <p:nvSpPr>
          <p:cNvPr id="24" name="KPI 3"/>
          <p:cNvSpPr/>
          <p:nvPr/>
        </p:nvSpPr>
        <p:spPr>
          <a:xfrm>
            <a:off x="5029200" y="5074920"/>
            <a:ext cx="2103120" cy="109728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25" name="KPI 3 value"/>
          <p:cNvSpPr txBox="1"/>
          <p:nvPr/>
        </p:nvSpPr>
        <p:spPr>
          <a:xfrm>
            <a:off x="5212080" y="51937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33.9d</a:t>
            </a:r>
            <a:endParaRPr lang="en-US" sz="2800" dirty="0"/>
          </a:p>
        </p:txBody>
      </p:sp>
      <p:sp>
        <p:nvSpPr>
          <p:cNvPr id="26" name="KPI 3 label"/>
          <p:cNvSpPr txBox="1"/>
          <p:nvPr/>
        </p:nvSpPr>
        <p:spPr>
          <a:xfrm>
            <a:off x="5212080" y="5715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median cycle time</a:t>
            </a:r>
            <a:endParaRPr lang="en-US" sz="1200" dirty="0"/>
          </a:p>
        </p:txBody>
      </p:sp>
      <p:sp>
        <p:nvSpPr>
          <p:cNvPr id="27" name="KPI 4"/>
          <p:cNvSpPr/>
          <p:nvPr/>
        </p:nvSpPr>
        <p:spPr>
          <a:xfrm>
            <a:off x="7269480" y="5074920"/>
            <a:ext cx="2103120" cy="109728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28" name="KPI 4 value"/>
          <p:cNvSpPr txBox="1"/>
          <p:nvPr/>
        </p:nvSpPr>
        <p:spPr>
          <a:xfrm>
            <a:off x="7452360" y="51937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67</a:t>
            </a:r>
            <a:endParaRPr lang="en-US" sz="2800" dirty="0"/>
          </a:p>
        </p:txBody>
      </p:sp>
      <p:sp>
        <p:nvSpPr>
          <p:cNvPr id="29" name="KPI 4 label"/>
          <p:cNvSpPr txBox="1"/>
          <p:nvPr/>
        </p:nvSpPr>
        <p:spPr>
          <a:xfrm>
            <a:off x="7452360" y="5715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distinct paths</a:t>
            </a:r>
            <a:endParaRPr lang="en-US" sz="1200" dirty="0"/>
          </a:p>
        </p:txBody>
      </p:sp>
      <p:sp>
        <p:nvSpPr>
          <p:cNvPr id="30" name="KPI 5"/>
          <p:cNvSpPr/>
          <p:nvPr/>
        </p:nvSpPr>
        <p:spPr>
          <a:xfrm>
            <a:off x="9509760" y="5074920"/>
            <a:ext cx="2103120" cy="109728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31" name="KPI 5 value"/>
          <p:cNvSpPr txBox="1"/>
          <p:nvPr/>
        </p:nvSpPr>
        <p:spPr>
          <a:xfrm>
            <a:off x="9692640" y="51937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14%</a:t>
            </a:r>
            <a:endParaRPr lang="en-US" sz="2800" dirty="0"/>
          </a:p>
        </p:txBody>
      </p:sp>
      <p:sp>
        <p:nvSpPr>
          <p:cNvPr id="32" name="KPI 5 label"/>
          <p:cNvSpPr txBox="1"/>
          <p:nvPr/>
        </p:nvSpPr>
        <p:spPr>
          <a:xfrm>
            <a:off x="9692640" y="5715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follow the happy path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Discover: the process as it actually runs</a:t>
            </a:r>
            <a:endParaRPr lang="en-US" sz="3000" dirty="0"/>
          </a:p>
        </p:txBody>
      </p:sp>
      <p:sp>
        <p:nvSpPr>
          <p:cNvPr id="3" name="Discover stat 1"/>
          <p:cNvSpPr txBox="1"/>
          <p:nvPr/>
        </p:nvSpPr>
        <p:spPr>
          <a:xfrm>
            <a:off x="548640" y="1508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14%</a:t>
            </a:r>
            <a:endParaRPr lang="en-US" sz="4400" dirty="0"/>
          </a:p>
        </p:txBody>
      </p:sp>
      <p:sp>
        <p:nvSpPr>
          <p:cNvPr id="4" name="Discover label 1"/>
          <p:cNvSpPr txBox="1"/>
          <p:nvPr/>
        </p:nvSpPr>
        <p:spPr>
          <a:xfrm>
            <a:off x="3291840" y="1508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of deals follow the designed happy path</a:t>
            </a:r>
            <a:endParaRPr lang="en-US" sz="1800" dirty="0"/>
          </a:p>
        </p:txBody>
      </p:sp>
      <p:sp>
        <p:nvSpPr>
          <p:cNvPr id="5" name="Discover stat 2"/>
          <p:cNvSpPr txBox="1"/>
          <p:nvPr/>
        </p:nvSpPr>
        <p:spPr>
          <a:xfrm>
            <a:off x="548640" y="2926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67</a:t>
            </a:r>
            <a:endParaRPr lang="en-US" sz="4400" dirty="0"/>
          </a:p>
        </p:txBody>
      </p:sp>
      <p:sp>
        <p:nvSpPr>
          <p:cNvPr id="6" name="Discover label 2"/>
          <p:cNvSpPr txBox="1"/>
          <p:nvPr/>
        </p:nvSpPr>
        <p:spPr>
          <a:xfrm>
            <a:off x="3291840" y="2926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distinct paths across 800 deals</a:t>
            </a:r>
            <a:endParaRPr lang="en-US" sz="1800" dirty="0"/>
          </a:p>
        </p:txBody>
      </p:sp>
      <p:sp>
        <p:nvSpPr>
          <p:cNvPr id="7" name="Discover stat 3"/>
          <p:cNvSpPr txBox="1"/>
          <p:nvPr/>
        </p:nvSpPr>
        <p:spPr>
          <a:xfrm>
            <a:off x="548640" y="4343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7.0 days</a:t>
            </a:r>
            <a:endParaRPr lang="en-US" sz="4400" dirty="0"/>
          </a:p>
        </p:txBody>
      </p:sp>
      <p:sp>
        <p:nvSpPr>
          <p:cNvPr id="8" name="Discover label 3"/>
          <p:cNvSpPr txBox="1"/>
          <p:nvPr/>
        </p:nvSpPr>
        <p:spPr>
          <a:xfrm>
            <a:off x="3291840" y="4343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median EMEA approval wait, the slowest hand-off</a:t>
            </a:r>
            <a:endParaRPr lang="en-US" sz="1800" dirty="0"/>
          </a:p>
        </p:txBody>
      </p:sp>
      <p:sp>
        <p:nvSpPr>
          <p:cNvPr id="9" name="Discover note"/>
          <p:cNvSpPr txBox="1"/>
          <p:nvPr/>
        </p:nvSpPr>
        <p:spPr>
          <a:xfrm>
            <a:off x="548640" y="57150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Approval steps and re-quote loops show up as detours from the designed path.</a:t>
            </a:r>
            <a:endParaRPr lang="en-US" sz="1400" dirty="0"/>
          </a:p>
        </p:txBody>
      </p:sp>
      <p:sp>
        <p:nvSpPr>
          <p:cNvPr id="10" name="Map frame"/>
          <p:cNvSpPr/>
          <p:nvPr/>
        </p:nvSpPr>
        <p:spPr>
          <a:xfrm>
            <a:off x="7419442" y="1280160"/>
            <a:ext cx="4239158" cy="48920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Process map" descr="Process map from the hosted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5162" y="1325880"/>
            <a:ext cx="4147718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Diagnose: three deviations explain most of the lost value</a:t>
            </a:r>
            <a:endParaRPr lang="en-US" sz="3000" dirty="0"/>
          </a:p>
        </p:txBody>
      </p:sp>
      <p:graphicFrame>
        <p:nvGraphicFramePr>
          <p:cNvPr id="3" name="Chart 1" descr=""/>
          <p:cNvGraphicFramePr/>
          <p:nvPr/>
        </p:nvGraphicFramePr>
        <p:xfrm>
          <a:off x="548640" y="1325880"/>
          <a:ext cx="3529584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keaway 1"/>
          <p:cNvSpPr/>
          <p:nvPr/>
        </p:nvSpPr>
        <p:spPr>
          <a:xfrm>
            <a:off x="548640" y="4846320"/>
            <a:ext cx="3529584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5" name="Takeaway 1 text"/>
          <p:cNvSpPr txBox="1"/>
          <p:nvPr/>
        </p:nvSpPr>
        <p:spPr>
          <a:xfrm>
            <a:off x="731520" y="4956048"/>
            <a:ext cx="3163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EMEA's single approver adds about 6 days per discounted deal.</a:t>
            </a:r>
            <a:endParaRPr lang="en-US" sz="1400" dirty="0"/>
          </a:p>
        </p:txBody>
      </p:sp>
      <p:graphicFrame>
        <p:nvGraphicFramePr>
          <p:cNvPr id="6" name="Chart 2" descr=""/>
          <p:cNvGraphicFramePr/>
          <p:nvPr/>
        </p:nvGraphicFramePr>
        <p:xfrm>
          <a:off x="4315968" y="1325880"/>
          <a:ext cx="3529584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akeaway 2"/>
          <p:cNvSpPr/>
          <p:nvPr/>
        </p:nvSpPr>
        <p:spPr>
          <a:xfrm>
            <a:off x="4315968" y="4846320"/>
            <a:ext cx="3529584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8" name="Takeaway 2 text"/>
          <p:cNvSpPr txBox="1"/>
          <p:nvPr/>
        </p:nvSpPr>
        <p:spPr>
          <a:xfrm>
            <a:off x="4498848" y="4956048"/>
            <a:ext cx="3163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19% of negotiated deals are re-quoted, and they win 18 points less often.</a:t>
            </a:r>
            <a:endParaRPr lang="en-US" sz="1400" dirty="0"/>
          </a:p>
        </p:txBody>
      </p:sp>
      <p:graphicFrame>
        <p:nvGraphicFramePr>
          <p:cNvPr id="9" name="Chart 3" descr=""/>
          <p:cNvGraphicFramePr/>
          <p:nvPr/>
        </p:nvGraphicFramePr>
        <p:xfrm>
          <a:off x="8083296" y="1325880"/>
          <a:ext cx="3529584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akeaway 3"/>
          <p:cNvSpPr/>
          <p:nvPr/>
        </p:nvSpPr>
        <p:spPr>
          <a:xfrm>
            <a:off x="8083296" y="4846320"/>
            <a:ext cx="3529584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1" name="Takeaway 3 text"/>
          <p:cNvSpPr txBox="1"/>
          <p:nvPr/>
        </p:nvSpPr>
        <p:spPr>
          <a:xfrm>
            <a:off x="8266176" y="4956048"/>
            <a:ext cx="3163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12% of deals skip Qualification and win less than half as often.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Value case: reduce re-quotes in quote-to-close</a:t>
            </a:r>
            <a:endParaRPr lang="en-US" sz="3000" dirty="0"/>
          </a:p>
        </p:txBody>
      </p:sp>
      <p:sp>
        <p:nvSpPr>
          <p:cNvPr id="3" name="Filter bar"/>
          <p:cNvSpPr/>
          <p:nvPr/>
        </p:nvSpPr>
        <p:spPr>
          <a:xfrm>
            <a:off x="548640" y="1234440"/>
            <a:ext cx="11064240" cy="411480"/>
          </a:xfrm>
          <a:prstGeom prst="roundRect">
            <a:avLst>
              <a:gd name="adj" fmla="val 26667"/>
            </a:avLst>
          </a:prstGeom>
          <a:solidFill>
            <a:schemeClr val="bg2"/>
          </a:solidFill>
          <a:ln/>
        </p:spPr>
      </p:sp>
      <p:sp>
        <p:nvSpPr>
          <p:cNvPr id="4" name="Filter text"/>
          <p:cNvSpPr txBox="1"/>
          <p:nvPr/>
        </p:nvSpPr>
        <p:spPr>
          <a:xfrm>
            <a:off x="777240" y="12344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Time frame: 2025-10 to 2026-09   ·   New business   ·   Deals that reached Negotiation   ·   Owner: VP Revenue Operations</a:t>
            </a:r>
            <a:endParaRPr lang="en-US" sz="1200" dirty="0"/>
          </a:p>
        </p:txBody>
      </p:sp>
      <p:sp>
        <p:nvSpPr>
          <p:cNvPr id="5" name="Value column 1 heading"/>
          <p:cNvSpPr txBox="1"/>
          <p:nvPr/>
        </p:nvSpPr>
        <p:spPr>
          <a:xfrm>
            <a:off x="548640" y="182880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Challenge</a:t>
            </a:r>
            <a:endParaRPr lang="en-US" sz="1600" dirty="0"/>
          </a:p>
        </p:txBody>
      </p:sp>
      <p:sp>
        <p:nvSpPr>
          <p:cNvPr id="6" name="Value column 1 body"/>
          <p:cNvSpPr txBox="1"/>
          <p:nvPr/>
        </p:nvSpPr>
        <p:spPr>
          <a:xfrm>
            <a:off x="548640" y="2240280"/>
            <a:ext cx="3529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750 negotiated deals a year; 19% loop back for a re-quote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Re-quoted deals win 31% vs 49%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EMEA approvals take 7.0 days vs 1.2</a:t>
            </a:r>
            <a:endParaRPr lang="en-US" sz="1400" dirty="0"/>
          </a:p>
        </p:txBody>
      </p:sp>
      <p:sp>
        <p:nvSpPr>
          <p:cNvPr id="7" name="Value column 2 heading"/>
          <p:cNvSpPr txBox="1"/>
          <p:nvPr/>
        </p:nvSpPr>
        <p:spPr>
          <a:xfrm>
            <a:off x="4315968" y="182880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Root cause (to capture)</a:t>
            </a:r>
            <a:endParaRPr lang="en-US" sz="1600" dirty="0"/>
          </a:p>
        </p:txBody>
      </p:sp>
      <p:sp>
        <p:nvSpPr>
          <p:cNvPr id="8" name="Value column 2 body"/>
          <p:cNvSpPr txBox="1"/>
          <p:nvPr/>
        </p:nvSpPr>
        <p:spPr>
          <a:xfrm>
            <a:off x="4315968" y="2240280"/>
            <a:ext cx="3529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Reason codes: quote expired, discount, scope, pricing error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Hotspots by approver queue, region and rep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Confirm: slow approval → expired quote → re-quote</a:t>
            </a:r>
            <a:endParaRPr lang="en-US" sz="1400" dirty="0"/>
          </a:p>
        </p:txBody>
      </p:sp>
      <p:sp>
        <p:nvSpPr>
          <p:cNvPr id="9" name="Value column 3 heading"/>
          <p:cNvSpPr txBox="1"/>
          <p:nvPr/>
        </p:nvSpPr>
        <p:spPr>
          <a:xfrm>
            <a:off x="8083296" y="182880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Solution with Apromore</a:t>
            </a:r>
            <a:endParaRPr lang="en-US" sz="1600" dirty="0"/>
          </a:p>
        </p:txBody>
      </p:sp>
      <p:sp>
        <p:nvSpPr>
          <p:cNvPr id="10" name="Value column 3 body"/>
          <p:cNvSpPr txBox="1"/>
          <p:nvPr/>
        </p:nvSpPr>
        <p:spPr>
          <a:xfrm>
            <a:off x="8083296" y="2240280"/>
            <a:ext cx="3529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Performance views show where quotes wait and loop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Conformance checking flags skipped steps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Simulate a delegated EMEA approval threshold first</a:t>
            </a:r>
            <a:endParaRPr lang="en-US" sz="1400" dirty="0"/>
          </a:p>
        </p:txBody>
      </p:sp>
      <p:sp>
        <p:nvSpPr>
          <p:cNvPr id="11" name="Chain 1 label"/>
          <p:cNvSpPr txBox="1"/>
          <p:nvPr/>
        </p:nvSpPr>
        <p:spPr>
          <a:xfrm>
            <a:off x="548640" y="4251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Negotiated deals / yr</a:t>
            </a:r>
            <a:endParaRPr lang="en-US" sz="1200" dirty="0"/>
          </a:p>
        </p:txBody>
      </p:sp>
      <p:sp>
        <p:nvSpPr>
          <p:cNvPr id="12" name="Chain 1 box"/>
          <p:cNvSpPr/>
          <p:nvPr/>
        </p:nvSpPr>
        <p:spPr>
          <a:xfrm>
            <a:off x="548640" y="4709160"/>
            <a:ext cx="150876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3" name="Chain 1 value"/>
          <p:cNvSpPr txBox="1"/>
          <p:nvPr/>
        </p:nvSpPr>
        <p:spPr>
          <a:xfrm>
            <a:off x="548640" y="47091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750</a:t>
            </a:r>
            <a:endParaRPr lang="en-US" sz="2200" dirty="0"/>
          </a:p>
        </p:txBody>
      </p:sp>
      <p:sp>
        <p:nvSpPr>
          <p:cNvPr id="14" name="Chain 1 operator"/>
          <p:cNvSpPr txBox="1"/>
          <p:nvPr/>
        </p:nvSpPr>
        <p:spPr>
          <a:xfrm>
            <a:off x="2057400" y="470916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×</a:t>
            </a:r>
            <a:endParaRPr lang="en-US" sz="2000" dirty="0"/>
          </a:p>
        </p:txBody>
      </p:sp>
      <p:sp>
        <p:nvSpPr>
          <p:cNvPr id="15" name="Chain 2 label"/>
          <p:cNvSpPr txBox="1"/>
          <p:nvPr/>
        </p:nvSpPr>
        <p:spPr>
          <a:xfrm>
            <a:off x="2331720" y="4251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Re-quotes per deal</a:t>
            </a:r>
            <a:endParaRPr lang="en-US" sz="1200" dirty="0"/>
          </a:p>
        </p:txBody>
      </p:sp>
      <p:sp>
        <p:nvSpPr>
          <p:cNvPr id="16" name="Chain 2 box"/>
          <p:cNvSpPr/>
          <p:nvPr/>
        </p:nvSpPr>
        <p:spPr>
          <a:xfrm>
            <a:off x="2331720" y="4709160"/>
            <a:ext cx="150876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7" name="Chain 2 value"/>
          <p:cNvSpPr txBox="1"/>
          <p:nvPr/>
        </p:nvSpPr>
        <p:spPr>
          <a:xfrm>
            <a:off x="2331720" y="47091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0.19</a:t>
            </a:r>
            <a:endParaRPr lang="en-US" sz="2200" dirty="0"/>
          </a:p>
        </p:txBody>
      </p:sp>
      <p:sp>
        <p:nvSpPr>
          <p:cNvPr id="18" name="Chain 2 operator"/>
          <p:cNvSpPr txBox="1"/>
          <p:nvPr/>
        </p:nvSpPr>
        <p:spPr>
          <a:xfrm>
            <a:off x="3840480" y="470916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×</a:t>
            </a:r>
            <a:endParaRPr lang="en-US" sz="2000" dirty="0"/>
          </a:p>
        </p:txBody>
      </p:sp>
      <p:sp>
        <p:nvSpPr>
          <p:cNvPr id="19" name="Chain 3 label"/>
          <p:cNvSpPr txBox="1"/>
          <p:nvPr/>
        </p:nvSpPr>
        <p:spPr>
          <a:xfrm>
            <a:off x="4114800" y="4251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Win-rate gap</a:t>
            </a:r>
            <a:endParaRPr lang="en-US" sz="1200" dirty="0"/>
          </a:p>
        </p:txBody>
      </p:sp>
      <p:sp>
        <p:nvSpPr>
          <p:cNvPr id="20" name="Chain 3 box"/>
          <p:cNvSpPr/>
          <p:nvPr/>
        </p:nvSpPr>
        <p:spPr>
          <a:xfrm>
            <a:off x="4114800" y="4709160"/>
            <a:ext cx="150876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1" name="Chain 3 value"/>
          <p:cNvSpPr txBox="1"/>
          <p:nvPr/>
        </p:nvSpPr>
        <p:spPr>
          <a:xfrm>
            <a:off x="4114800" y="47091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17.5 pts</a:t>
            </a:r>
            <a:endParaRPr lang="en-US" sz="2200" dirty="0"/>
          </a:p>
        </p:txBody>
      </p:sp>
      <p:sp>
        <p:nvSpPr>
          <p:cNvPr id="22" name="Chain 3 operator"/>
          <p:cNvSpPr txBox="1"/>
          <p:nvPr/>
        </p:nvSpPr>
        <p:spPr>
          <a:xfrm>
            <a:off x="5623560" y="470916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×</a:t>
            </a:r>
            <a:endParaRPr lang="en-US" sz="2000" dirty="0"/>
          </a:p>
        </p:txBody>
      </p:sp>
      <p:sp>
        <p:nvSpPr>
          <p:cNvPr id="23" name="Chain 4 label"/>
          <p:cNvSpPr txBox="1"/>
          <p:nvPr/>
        </p:nvSpPr>
        <p:spPr>
          <a:xfrm>
            <a:off x="5897880" y="4251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Average won deal</a:t>
            </a:r>
            <a:endParaRPr lang="en-US" sz="1200" dirty="0"/>
          </a:p>
        </p:txBody>
      </p:sp>
      <p:sp>
        <p:nvSpPr>
          <p:cNvPr id="24" name="Chain 4 box"/>
          <p:cNvSpPr/>
          <p:nvPr/>
        </p:nvSpPr>
        <p:spPr>
          <a:xfrm>
            <a:off x="5897880" y="4709160"/>
            <a:ext cx="150876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5" name="Chain 4 value"/>
          <p:cNvSpPr txBox="1"/>
          <p:nvPr/>
        </p:nvSpPr>
        <p:spPr>
          <a:xfrm>
            <a:off x="5897880" y="47091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$53k</a:t>
            </a:r>
            <a:endParaRPr lang="en-US" sz="2200" dirty="0"/>
          </a:p>
        </p:txBody>
      </p:sp>
      <p:sp>
        <p:nvSpPr>
          <p:cNvPr id="26" name="Chain 4 operator"/>
          <p:cNvSpPr txBox="1"/>
          <p:nvPr/>
        </p:nvSpPr>
        <p:spPr>
          <a:xfrm>
            <a:off x="7406640" y="470916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×</a:t>
            </a:r>
            <a:endParaRPr lang="en-US" sz="2000" dirty="0"/>
          </a:p>
        </p:txBody>
      </p:sp>
      <p:sp>
        <p:nvSpPr>
          <p:cNvPr id="27" name="Chain 5 label"/>
          <p:cNvSpPr txBox="1"/>
          <p:nvPr/>
        </p:nvSpPr>
        <p:spPr>
          <a:xfrm>
            <a:off x="7680960" y="4251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Improvement</a:t>
            </a:r>
            <a:endParaRPr lang="en-US" sz="1200" dirty="0"/>
          </a:p>
        </p:txBody>
      </p:sp>
      <p:sp>
        <p:nvSpPr>
          <p:cNvPr id="28" name="Chain 5 box"/>
          <p:cNvSpPr/>
          <p:nvPr/>
        </p:nvSpPr>
        <p:spPr>
          <a:xfrm>
            <a:off x="7680960" y="4709160"/>
            <a:ext cx="150876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9" name="Chain 5 value"/>
          <p:cNvSpPr txBox="1"/>
          <p:nvPr/>
        </p:nvSpPr>
        <p:spPr>
          <a:xfrm>
            <a:off x="7680960" y="47091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50%</a:t>
            </a:r>
            <a:endParaRPr lang="en-US" sz="2200" dirty="0"/>
          </a:p>
        </p:txBody>
      </p:sp>
      <p:sp>
        <p:nvSpPr>
          <p:cNvPr id="30" name="Chain 5 operator"/>
          <p:cNvSpPr txBox="1"/>
          <p:nvPr/>
        </p:nvSpPr>
        <p:spPr>
          <a:xfrm>
            <a:off x="9189720" y="470916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=</a:t>
            </a:r>
            <a:endParaRPr lang="en-US" sz="2000" dirty="0"/>
          </a:p>
        </p:txBody>
      </p:sp>
      <p:sp>
        <p:nvSpPr>
          <p:cNvPr id="31" name="Framed value pill"/>
          <p:cNvSpPr/>
          <p:nvPr/>
        </p:nvSpPr>
        <p:spPr>
          <a:xfrm>
            <a:off x="9509760" y="4251960"/>
            <a:ext cx="210312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32" name="Framed value"/>
          <p:cNvSpPr txBox="1"/>
          <p:nvPr/>
        </p:nvSpPr>
        <p:spPr>
          <a:xfrm>
            <a:off x="9509760" y="42519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≈ $669k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revenue upside p.a.</a:t>
            </a:r>
            <a:endParaRPr lang="en-US" sz="1400" dirty="0"/>
          </a:p>
        </p:txBody>
      </p:sp>
      <p:sp>
        <p:nvSpPr>
          <p:cNvPr id="33" name="Assumptions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Assumptions: annualised from 10 months of history; win-rate gap compares only deals that reached Negotiation; cycle-time gains not counted; half of the gap closed.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Everything is live and open to inspect</a:t>
            </a:r>
            <a:endParaRPr lang="en-US" sz="3000" dirty="0"/>
          </a:p>
        </p:txBody>
      </p:sp>
      <p:sp>
        <p:nvSpPr>
          <p:cNvPr id="3" name="Proof 1"/>
          <p:cNvSpPr/>
          <p:nvPr/>
        </p:nvSpPr>
        <p:spPr>
          <a:xfrm>
            <a:off x="548640" y="1417320"/>
            <a:ext cx="60350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4" name="Proof 1 marker"/>
          <p:cNvSpPr/>
          <p:nvPr/>
        </p:nvSpPr>
        <p:spPr>
          <a:xfrm>
            <a:off x="749808" y="16916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roof 1 glyph"/>
          <p:cNvSpPr txBox="1"/>
          <p:nvPr/>
        </p:nvSpPr>
        <p:spPr>
          <a:xfrm>
            <a:off x="749808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→</a:t>
            </a:r>
            <a:endParaRPr lang="en-US" sz="1600" dirty="0"/>
          </a:p>
        </p:txBody>
      </p:sp>
      <p:sp>
        <p:nvSpPr>
          <p:cNvPr id="6" name="Proof 1 label"/>
          <p:cNvSpPr txBox="1"/>
          <p:nvPr/>
        </p:nvSpPr>
        <p:spPr>
          <a:xfrm>
            <a:off x="1325880" y="154533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Process dashboard</a:t>
            </a:r>
            <a:endParaRPr lang="en-US" sz="1600" dirty="0"/>
          </a:p>
        </p:txBody>
      </p:sp>
      <p:sp>
        <p:nvSpPr>
          <p:cNvPr id="7" name="Proof 1 link"/>
          <p:cNvSpPr txBox="1"/>
          <p:nvPr/>
        </p:nvSpPr>
        <p:spPr>
          <a:xfrm>
            <a:off x="1325880" y="191109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salesforce-process-intelligence.vercel.app</a:t>
            </a:r>
            <a:endParaRPr lang="en-US" sz="1400" dirty="0"/>
          </a:p>
        </p:txBody>
      </p:sp>
      <p:sp>
        <p:nvSpPr>
          <p:cNvPr id="8" name="Proof 2"/>
          <p:cNvSpPr/>
          <p:nvPr/>
        </p:nvSpPr>
        <p:spPr>
          <a:xfrm>
            <a:off x="548640" y="2532888"/>
            <a:ext cx="60350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9" name="Proof 2 marker"/>
          <p:cNvSpPr/>
          <p:nvPr/>
        </p:nvSpPr>
        <p:spPr>
          <a:xfrm>
            <a:off x="749808" y="28072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of 2 glyph"/>
          <p:cNvSpPr txBox="1"/>
          <p:nvPr/>
        </p:nvSpPr>
        <p:spPr>
          <a:xfrm>
            <a:off x="749808" y="2807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Proof 2 label"/>
          <p:cNvSpPr txBox="1"/>
          <p:nvPr/>
        </p:nvSpPr>
        <p:spPr>
          <a:xfrm>
            <a:off x="1325880" y="266090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Value case one-pager</a:t>
            </a:r>
            <a:endParaRPr lang="en-US" sz="1600" dirty="0"/>
          </a:p>
        </p:txBody>
      </p:sp>
      <p:sp>
        <p:nvSpPr>
          <p:cNvPr id="12" name="Proof 2 link"/>
          <p:cNvSpPr txBox="1"/>
          <p:nvPr/>
        </p:nvSpPr>
        <p:spPr>
          <a:xfrm>
            <a:off x="1325880" y="30266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salesforce-process-intelligence.vercel.app/value-case.html</a:t>
            </a:r>
            <a:endParaRPr lang="en-US" sz="1400" dirty="0"/>
          </a:p>
        </p:txBody>
      </p:sp>
      <p:sp>
        <p:nvSpPr>
          <p:cNvPr id="13" name="Proof 3"/>
          <p:cNvSpPr/>
          <p:nvPr/>
        </p:nvSpPr>
        <p:spPr>
          <a:xfrm>
            <a:off x="548640" y="3648456"/>
            <a:ext cx="60350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4" name="Proof 3 marker"/>
          <p:cNvSpPr/>
          <p:nvPr/>
        </p:nvSpPr>
        <p:spPr>
          <a:xfrm>
            <a:off x="749808" y="392277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Proof 3 glyph"/>
          <p:cNvSpPr txBox="1"/>
          <p:nvPr/>
        </p:nvSpPr>
        <p:spPr>
          <a:xfrm>
            <a:off x="749808" y="3922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Proof 3 label"/>
          <p:cNvSpPr txBox="1"/>
          <p:nvPr/>
        </p:nvSpPr>
        <p:spPr>
          <a:xfrm>
            <a:off x="1325880" y="377647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Live Salesforce extract</a:t>
            </a:r>
            <a:endParaRPr lang="en-US" sz="1600" dirty="0"/>
          </a:p>
        </p:txBody>
      </p:sp>
      <p:sp>
        <p:nvSpPr>
          <p:cNvPr id="17" name="Proof 3 link"/>
          <p:cNvSpPr txBox="1"/>
          <p:nvPr/>
        </p:nvSpPr>
        <p:spPr>
          <a:xfrm>
            <a:off x="1325880" y="41422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6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salesforce-process-intelligence.vercel.app/live.html</a:t>
            </a:r>
            <a:endParaRPr lang="en-US" sz="1400" dirty="0"/>
          </a:p>
        </p:txBody>
      </p:sp>
      <p:sp>
        <p:nvSpPr>
          <p:cNvPr id="18" name="Proof 4"/>
          <p:cNvSpPr/>
          <p:nvPr/>
        </p:nvSpPr>
        <p:spPr>
          <a:xfrm>
            <a:off x="548640" y="4764024"/>
            <a:ext cx="60350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9" name="Proof 4 marker"/>
          <p:cNvSpPr/>
          <p:nvPr/>
        </p:nvSpPr>
        <p:spPr>
          <a:xfrm>
            <a:off x="749808" y="5038344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Proof 4 glyph"/>
          <p:cNvSpPr txBox="1"/>
          <p:nvPr/>
        </p:nvSpPr>
        <p:spPr>
          <a:xfrm>
            <a:off x="749808" y="5038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Proof 4 label"/>
          <p:cNvSpPr txBox="1"/>
          <p:nvPr/>
        </p:nvSpPr>
        <p:spPr>
          <a:xfrm>
            <a:off x="1325880" y="48920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Source code and event logs</a:t>
            </a:r>
            <a:endParaRPr lang="en-US" sz="1600" dirty="0"/>
          </a:p>
        </p:txBody>
      </p:sp>
      <p:sp>
        <p:nvSpPr>
          <p:cNvPr id="22" name="Proof 4 link"/>
          <p:cNvSpPr txBox="1"/>
          <p:nvPr/>
        </p:nvSpPr>
        <p:spPr>
          <a:xfrm>
            <a:off x="1325880" y="52578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6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github.com/ch-lukas/salesforce-process-intelligence</a:t>
            </a:r>
            <a:endParaRPr lang="en-US" sz="1400" dirty="0"/>
          </a:p>
        </p:txBody>
      </p:sp>
      <p:sp>
        <p:nvSpPr>
          <p:cNvPr id="23" name="Screenshot frame"/>
          <p:cNvSpPr/>
          <p:nvPr/>
        </p:nvSpPr>
        <p:spPr>
          <a:xfrm>
            <a:off x="6903720" y="1371600"/>
            <a:ext cx="4802925" cy="4434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4" name="Value case screenshot" descr="Value case one-pager on the hosted si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417320"/>
            <a:ext cx="4711485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large"/>
          <p:cNvSpPr/>
          <p:nvPr/>
        </p:nvSpPr>
        <p:spPr>
          <a:xfrm>
            <a:off x="9326880" y="4023360"/>
            <a:ext cx="4937760" cy="4937760"/>
          </a:xfrm>
          <a:prstGeom prst="ellipse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Turning the finding into a decision</a:t>
            </a:r>
            <a:endParaRPr lang="en-US" sz="3600" dirty="0"/>
          </a:p>
        </p:txBody>
      </p:sp>
      <p:sp>
        <p:nvSpPr>
          <p:cNvPr id="4" name="Next 1 card"/>
          <p:cNvSpPr/>
          <p:nvPr/>
        </p:nvSpPr>
        <p:spPr>
          <a:xfrm>
            <a:off x="731520" y="1828800"/>
            <a:ext cx="3337560" cy="2286000"/>
          </a:xfrm>
          <a:prstGeom prst="roundRect">
            <a:avLst>
              <a:gd name="adj" fmla="val 4800"/>
            </a:avLst>
          </a:prstGeom>
          <a:solidFill>
            <a:schemeClr val="accent6"/>
          </a:solidFill>
          <a:ln/>
        </p:spPr>
      </p:sp>
      <p:sp>
        <p:nvSpPr>
          <p:cNvPr id="5" name="Next 1 heading"/>
          <p:cNvSpPr txBox="1"/>
          <p:nvPr/>
        </p:nvSpPr>
        <p:spPr>
          <a:xfrm>
            <a:off x="1005840" y="2103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Validate</a:t>
            </a:r>
            <a:endParaRPr lang="en-US" sz="2200" dirty="0"/>
          </a:p>
        </p:txBody>
      </p:sp>
      <p:sp>
        <p:nvSpPr>
          <p:cNvPr id="6" name="Next 1 body"/>
          <p:cNvSpPr txBox="1"/>
          <p:nvPr/>
        </p:nvSpPr>
        <p:spPr>
          <a:xfrm>
            <a:off x="1005840" y="26974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Run the same extract on the production org and confirm approval waits and re-quote rates with RevOps.</a:t>
            </a:r>
            <a:endParaRPr lang="en-US" sz="1600" dirty="0"/>
          </a:p>
        </p:txBody>
      </p:sp>
      <p:sp>
        <p:nvSpPr>
          <p:cNvPr id="7" name="Next 2 card"/>
          <p:cNvSpPr/>
          <p:nvPr/>
        </p:nvSpPr>
        <p:spPr>
          <a:xfrm>
            <a:off x="4343400" y="1828800"/>
            <a:ext cx="3337560" cy="2286000"/>
          </a:xfrm>
          <a:prstGeom prst="roundRect">
            <a:avLst>
              <a:gd name="adj" fmla="val 4800"/>
            </a:avLst>
          </a:prstGeom>
          <a:solidFill>
            <a:schemeClr val="accent6"/>
          </a:solidFill>
          <a:ln/>
        </p:spPr>
      </p:sp>
      <p:sp>
        <p:nvSpPr>
          <p:cNvPr id="8" name="Next 2 heading"/>
          <p:cNvSpPr txBox="1"/>
          <p:nvPr/>
        </p:nvSpPr>
        <p:spPr>
          <a:xfrm>
            <a:off x="4617720" y="2103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Act</a:t>
            </a:r>
            <a:endParaRPr lang="en-US" sz="2200" dirty="0"/>
          </a:p>
        </p:txBody>
      </p:sp>
      <p:sp>
        <p:nvSpPr>
          <p:cNvPr id="9" name="Next 2 body"/>
          <p:cNvSpPr txBox="1"/>
          <p:nvPr/>
        </p:nvSpPr>
        <p:spPr>
          <a:xfrm>
            <a:off x="4617720" y="26974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Pilot a delegated approval threshold for EMEA discounts up to 30% and make Qualification a required gate.</a:t>
            </a:r>
            <a:endParaRPr lang="en-US" sz="1600" dirty="0"/>
          </a:p>
        </p:txBody>
      </p:sp>
      <p:sp>
        <p:nvSpPr>
          <p:cNvPr id="10" name="Next 3 card"/>
          <p:cNvSpPr/>
          <p:nvPr/>
        </p:nvSpPr>
        <p:spPr>
          <a:xfrm>
            <a:off x="7955280" y="1828800"/>
            <a:ext cx="3337560" cy="2286000"/>
          </a:xfrm>
          <a:prstGeom prst="roundRect">
            <a:avLst>
              <a:gd name="adj" fmla="val 4800"/>
            </a:avLst>
          </a:prstGeom>
          <a:solidFill>
            <a:schemeClr val="accent6"/>
          </a:solidFill>
          <a:ln/>
        </p:spPr>
      </p:sp>
      <p:sp>
        <p:nvSpPr>
          <p:cNvPr id="11" name="Next 3 heading"/>
          <p:cNvSpPr txBox="1"/>
          <p:nvPr/>
        </p:nvSpPr>
        <p:spPr>
          <a:xfrm>
            <a:off x="8229600" y="2103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Monitor</a:t>
            </a:r>
            <a:endParaRPr lang="en-US" sz="2200" dirty="0"/>
          </a:p>
        </p:txBody>
      </p:sp>
      <p:sp>
        <p:nvSpPr>
          <p:cNvPr id="12" name="Next 3 body"/>
          <p:cNvSpPr txBox="1"/>
          <p:nvPr/>
        </p:nvSpPr>
        <p:spPr>
          <a:xfrm>
            <a:off x="8229600" y="26974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Schedule the extract into Apromore, track the KPIs against target and report value realised quarterly.</a:t>
            </a:r>
            <a:endParaRPr lang="en-US" sz="1600" dirty="0"/>
          </a:p>
        </p:txBody>
      </p:sp>
      <p:sp>
        <p:nvSpPr>
          <p:cNvPr id="13" name="Closing contact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salesforce-process-intelligence.vercel.app  ·  Luke Audie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large"/>
          <p:cNvSpPr/>
          <p:nvPr/>
        </p:nvSpPr>
        <p:spPr>
          <a:xfrm>
            <a:off x="8595360" y="3108960"/>
            <a:ext cx="6035040" cy="603504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3" name="Decor circle small"/>
          <p:cNvSpPr/>
          <p:nvPr/>
        </p:nvSpPr>
        <p:spPr>
          <a:xfrm>
            <a:off x="9692640" y="23774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3774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Tech setup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657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How the data gets from a Salesforce org into an Apromore-ready event log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From Salesforce to Process Intelligence in four steps</a:t>
            </a:r>
            <a:endParaRPr lang="en-US" sz="3000" dirty="0"/>
          </a:p>
        </p:txBody>
      </p:sp>
      <p:sp>
        <p:nvSpPr>
          <p:cNvPr id="3" name="Step 1 card"/>
          <p:cNvSpPr/>
          <p:nvPr/>
        </p:nvSpPr>
        <p:spPr>
          <a:xfrm>
            <a:off x="548640" y="1371600"/>
            <a:ext cx="2514600" cy="329184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4" name="Step 1 marker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 1 number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tep 1 label"/>
          <p:cNvSpPr txBox="1"/>
          <p:nvPr/>
        </p:nvSpPr>
        <p:spPr>
          <a:xfrm>
            <a:off x="77724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Extract</a:t>
            </a:r>
            <a:endParaRPr lang="en-US" sz="1200" dirty="0"/>
          </a:p>
        </p:txBody>
      </p:sp>
      <p:sp>
        <p:nvSpPr>
          <p:cNvPr id="7" name="Step 1 title"/>
          <p:cNvSpPr txBox="1"/>
          <p:nvPr/>
        </p:nvSpPr>
        <p:spPr>
          <a:xfrm>
            <a:off x="777240" y="25786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SOQL over REST</a:t>
            </a:r>
            <a:endParaRPr lang="en-US" sz="1800" dirty="0"/>
          </a:p>
        </p:txBody>
      </p:sp>
      <p:sp>
        <p:nvSpPr>
          <p:cNvPr id="8" name="Step 1 body"/>
          <p:cNvSpPr txBox="1"/>
          <p:nvPr/>
        </p:nvSpPr>
        <p:spPr>
          <a:xfrm>
            <a:off x="777240" y="306324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Lead, Opportunity, OpportunityHistory and Task, signed by the Salesforce CLI session. No stored credentials.</a:t>
            </a:r>
            <a:endParaRPr lang="en-US" sz="1400" dirty="0"/>
          </a:p>
        </p:txBody>
      </p:sp>
      <p:sp>
        <p:nvSpPr>
          <p:cNvPr id="9" name="Step 1 arrow"/>
          <p:cNvSpPr/>
          <p:nvPr/>
        </p:nvSpPr>
        <p:spPr>
          <a:xfrm>
            <a:off x="3127248" y="2852928"/>
            <a:ext cx="219456" cy="329184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0" name="Step 2 card"/>
          <p:cNvSpPr/>
          <p:nvPr/>
        </p:nvSpPr>
        <p:spPr>
          <a:xfrm>
            <a:off x="3401568" y="1371600"/>
            <a:ext cx="2514600" cy="329184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1" name="Step 2 marker"/>
          <p:cNvSpPr/>
          <p:nvPr/>
        </p:nvSpPr>
        <p:spPr>
          <a:xfrm>
            <a:off x="3630168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tep 2 number"/>
          <p:cNvSpPr txBox="1"/>
          <p:nvPr/>
        </p:nvSpPr>
        <p:spPr>
          <a:xfrm>
            <a:off x="363016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tep 2 label"/>
          <p:cNvSpPr txBox="1"/>
          <p:nvPr/>
        </p:nvSpPr>
        <p:spPr>
          <a:xfrm>
            <a:off x="3630168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Correlate</a:t>
            </a:r>
            <a:endParaRPr lang="en-US" sz="1200" dirty="0"/>
          </a:p>
        </p:txBody>
      </p:sp>
      <p:sp>
        <p:nvSpPr>
          <p:cNvPr id="14" name="Step 2 title"/>
          <p:cNvSpPr txBox="1"/>
          <p:nvPr/>
        </p:nvSpPr>
        <p:spPr>
          <a:xfrm>
            <a:off x="3630168" y="25786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One case per deal</a:t>
            </a:r>
            <a:endParaRPr lang="en-US" sz="1800" dirty="0"/>
          </a:p>
        </p:txBody>
      </p:sp>
      <p:sp>
        <p:nvSpPr>
          <p:cNvPr id="15" name="Step 2 body"/>
          <p:cNvSpPr txBox="1"/>
          <p:nvPr/>
        </p:nvSpPr>
        <p:spPr>
          <a:xfrm>
            <a:off x="3630168" y="306324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Case ID = Opportunity Id. Tasks join on WhatId, Leads on ConvertedOpportunityId.</a:t>
            </a:r>
            <a:endParaRPr lang="en-US" sz="1400" dirty="0"/>
          </a:p>
        </p:txBody>
      </p:sp>
      <p:sp>
        <p:nvSpPr>
          <p:cNvPr id="16" name="Step 2 arrow"/>
          <p:cNvSpPr/>
          <p:nvPr/>
        </p:nvSpPr>
        <p:spPr>
          <a:xfrm>
            <a:off x="5980176" y="2852928"/>
            <a:ext cx="219456" cy="329184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7" name="Step 3 card"/>
          <p:cNvSpPr/>
          <p:nvPr/>
        </p:nvSpPr>
        <p:spPr>
          <a:xfrm>
            <a:off x="6254496" y="1371600"/>
            <a:ext cx="2514600" cy="329184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8" name="Step 3 marker"/>
          <p:cNvSpPr/>
          <p:nvPr/>
        </p:nvSpPr>
        <p:spPr>
          <a:xfrm>
            <a:off x="6483096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3 number"/>
          <p:cNvSpPr txBox="1"/>
          <p:nvPr/>
        </p:nvSpPr>
        <p:spPr>
          <a:xfrm>
            <a:off x="648309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tep 3 label"/>
          <p:cNvSpPr txBox="1"/>
          <p:nvPr/>
        </p:nvSpPr>
        <p:spPr>
          <a:xfrm>
            <a:off x="6483096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Load</a:t>
            </a:r>
            <a:endParaRPr lang="en-US" sz="1200" dirty="0"/>
          </a:p>
        </p:txBody>
      </p:sp>
      <p:sp>
        <p:nvSpPr>
          <p:cNvPr id="21" name="Step 3 title"/>
          <p:cNvSpPr txBox="1"/>
          <p:nvPr/>
        </p:nvSpPr>
        <p:spPr>
          <a:xfrm>
            <a:off x="6483096" y="25786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Event log</a:t>
            </a:r>
            <a:endParaRPr lang="en-US" sz="1800" dirty="0"/>
          </a:p>
        </p:txBody>
      </p:sp>
      <p:sp>
        <p:nvSpPr>
          <p:cNvPr id="22" name="Step 3 body"/>
          <p:cNvSpPr txBox="1"/>
          <p:nvPr/>
        </p:nvSpPr>
        <p:spPr>
          <a:xfrm>
            <a:off x="6483096" y="306324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CSV and IEEE XES with activity, timestamps, resource and case attributes, ready for Apromore.</a:t>
            </a:r>
            <a:endParaRPr lang="en-US" sz="1400" dirty="0"/>
          </a:p>
        </p:txBody>
      </p:sp>
      <p:sp>
        <p:nvSpPr>
          <p:cNvPr id="23" name="Step 3 arrow"/>
          <p:cNvSpPr/>
          <p:nvPr/>
        </p:nvSpPr>
        <p:spPr>
          <a:xfrm>
            <a:off x="8833104" y="2852928"/>
            <a:ext cx="219456" cy="329184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4" name="Step 4 card"/>
          <p:cNvSpPr/>
          <p:nvPr/>
        </p:nvSpPr>
        <p:spPr>
          <a:xfrm>
            <a:off x="9107424" y="1371600"/>
            <a:ext cx="2514600" cy="329184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25" name="Step 4 marker"/>
          <p:cNvSpPr/>
          <p:nvPr/>
        </p:nvSpPr>
        <p:spPr>
          <a:xfrm>
            <a:off x="9336024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Step 4 number"/>
          <p:cNvSpPr txBox="1"/>
          <p:nvPr/>
        </p:nvSpPr>
        <p:spPr>
          <a:xfrm>
            <a:off x="933602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Step 4 label"/>
          <p:cNvSpPr txBox="1"/>
          <p:nvPr/>
        </p:nvSpPr>
        <p:spPr>
          <a:xfrm>
            <a:off x="9336024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Mine and size</a:t>
            </a:r>
            <a:endParaRPr lang="en-US" sz="1200" dirty="0"/>
          </a:p>
        </p:txBody>
      </p:sp>
      <p:sp>
        <p:nvSpPr>
          <p:cNvPr id="28" name="Step 4 title"/>
          <p:cNvSpPr txBox="1"/>
          <p:nvPr/>
        </p:nvSpPr>
        <p:spPr>
          <a:xfrm>
            <a:off x="9336024" y="25786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Map and value</a:t>
            </a:r>
            <a:endParaRPr lang="en-US" sz="1800" dirty="0"/>
          </a:p>
        </p:txBody>
      </p:sp>
      <p:sp>
        <p:nvSpPr>
          <p:cNvPr id="29" name="Step 4 body"/>
          <p:cNvSpPr txBox="1"/>
          <p:nvPr/>
        </p:nvSpPr>
        <p:spPr>
          <a:xfrm>
            <a:off x="9336024" y="306324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Directly-follows graph, variant analysis, cohort win rates and a driver-based value model.</a:t>
            </a:r>
            <a:endParaRPr lang="en-US" sz="1400" dirty="0"/>
          </a:p>
        </p:txBody>
      </p:sp>
      <p:sp>
        <p:nvSpPr>
          <p:cNvPr id="30" name="Live run band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/>
        </p:spPr>
      </p:sp>
      <p:sp>
        <p:nvSpPr>
          <p:cNvPr id="31" name="Live run text"/>
          <p:cNvSpPr txBox="1"/>
          <p:nvPr/>
        </p:nvSpPr>
        <p:spPr>
          <a:xfrm>
            <a:off x="822960" y="49834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Live run on a Salesforce trial org: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40 opportunities  ·  351 events  ·  2 objects joined  ·  CSV + XES for Apromore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 model: Salesforce objects to an event log</a:t>
            </a:r>
            <a:endParaRPr lang="en-US" sz="3000" dirty="0"/>
          </a:p>
        </p:txBody>
      </p:sp>
      <p:graphicFrame>
        <p:nvGraphicFramePr>
          <p:cNvPr id="11" name="Data mode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Event log field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Salesforce source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Case ID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Opportunity.Id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Lead Created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Lead.CreatedDate, joined on Lead.ConvertedOpportunityId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Stage activities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OpportunityHistory.StageName and CreatedDate; repeated rows collapse to real stage changes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Task activities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Task.Subject, CreatedDate → CompletedDateTime, joined on Task.WhatId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Resource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CreatedBy.Name (stage changes), Owner.Name (tasks)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Case attributes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Opportunity.Amount, LeadSource, IsWon; Account.Industry, BillingCountry → region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Output card"/>
          <p:cNvSpPr/>
          <p:nvPr/>
        </p:nvSpPr>
        <p:spPr>
          <a:xfrm>
            <a:off x="7863840" y="1371600"/>
            <a:ext cx="374904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/>
        </p:spPr>
      </p:sp>
      <p:sp>
        <p:nvSpPr>
          <p:cNvPr id="5" name="Output heading"/>
          <p:cNvSpPr txBox="1"/>
          <p:nvPr/>
        </p:nvSpPr>
        <p:spPr>
          <a:xfrm>
            <a:off x="809244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Output: one row per event</a:t>
            </a:r>
            <a:endParaRPr lang="en-US" sz="1600" dirty="0"/>
          </a:p>
        </p:txBody>
      </p:sp>
      <p:sp>
        <p:nvSpPr>
          <p:cNvPr id="6" name="Output columns"/>
          <p:cNvSpPr txBox="1"/>
          <p:nvPr/>
        </p:nvSpPr>
        <p:spPr>
          <a:xfrm>
            <a:off x="8092440" y="1965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case_id, activity, start_time, end_time, resource, source_object, region, industry, lead_source, amount, outcome</a:t>
            </a:r>
            <a:endParaRPr lang="en-US" sz="1200" dirty="0"/>
          </a:p>
        </p:txBody>
      </p:sp>
      <p:sp>
        <p:nvSpPr>
          <p:cNvPr id="7" name="Output sample"/>
          <p:cNvSpPr txBox="1"/>
          <p:nvPr/>
        </p:nvSpPr>
        <p:spPr>
          <a:xfrm>
            <a:off x="8092440" y="27889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006WV…YAB  Qualify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006WV…YAB  Discovery Call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006WV…YAB  Closed Lost</a:t>
            </a:r>
            <a:endParaRPr lang="en-US" sz="1200" dirty="0"/>
          </a:p>
        </p:txBody>
      </p:sp>
      <p:sp>
        <p:nvSpPr>
          <p:cNvPr id="8" name="Output formats"/>
          <p:cNvSpPr txBox="1"/>
          <p:nvPr/>
        </p:nvSpPr>
        <p:spPr>
          <a:xfrm>
            <a:off x="8092440" y="3657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Written as CSV for Apromore's import and as IEEE XES with start/complete lifecycle events.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Running it against a brand-new trial org</a:t>
            </a:r>
            <a:endParaRPr lang="en-US" sz="3000" dirty="0"/>
          </a:p>
        </p:txBody>
      </p:sp>
      <p:sp>
        <p:nvSpPr>
          <p:cNvPr id="3" name="Steps heading"/>
          <p:cNvSpPr txBox="1"/>
          <p:nvPr/>
        </p:nvSpPr>
        <p:spPr>
          <a:xfrm>
            <a:off x="54864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Steps</a:t>
            </a:r>
            <a:endParaRPr lang="en-US" sz="1600" dirty="0"/>
          </a:p>
        </p:txBody>
      </p:sp>
      <p:sp>
        <p:nvSpPr>
          <p:cNvPr id="4" name="Run step 1 marker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Run step 1 number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Run step 1 title"/>
          <p:cNvSpPr txBox="1"/>
          <p:nvPr/>
        </p:nvSpPr>
        <p:spPr>
          <a:xfrm>
            <a:off x="118872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Authenticate</a:t>
            </a:r>
            <a:endParaRPr lang="en-US" sz="1600" dirty="0"/>
          </a:p>
        </p:txBody>
      </p:sp>
      <p:sp>
        <p:nvSpPr>
          <p:cNvPr id="7" name="Run step 1 body"/>
          <p:cNvSpPr txBox="1"/>
          <p:nvPr/>
        </p:nvSpPr>
        <p:spPr>
          <a:xfrm>
            <a:off x="1188720" y="213055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sf org login web: the CLI session signs every API call; no stored passwords.</a:t>
            </a:r>
            <a:endParaRPr lang="en-US" sz="1400" dirty="0"/>
          </a:p>
        </p:txBody>
      </p:sp>
      <p:sp>
        <p:nvSpPr>
          <p:cNvPr id="8" name="Run step 2 marker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Run step 2 number"/>
          <p:cNvSpPr txBox="1"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Run step 2 title"/>
          <p:cNvSpPr txBox="1"/>
          <p:nvPr/>
        </p:nvSpPr>
        <p:spPr>
          <a:xfrm>
            <a:off x="1188720" y="2834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Seed</a:t>
            </a:r>
            <a:endParaRPr lang="en-US" sz="1600" dirty="0"/>
          </a:p>
        </p:txBody>
      </p:sp>
      <p:sp>
        <p:nvSpPr>
          <p:cNvPr id="11" name="Run step 2 body"/>
          <p:cNvSpPr txBox="1"/>
          <p:nvPr/>
        </p:nvSpPr>
        <p:spPr>
          <a:xfrm>
            <a:off x="1188720" y="318211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seed.py loads 40 [Demo] deals and walks them through stages via the Composite API.</a:t>
            </a:r>
            <a:endParaRPr lang="en-US" sz="1400" dirty="0"/>
          </a:p>
        </p:txBody>
      </p:sp>
      <p:sp>
        <p:nvSpPr>
          <p:cNvPr id="12" name="Run step 3 marker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Run step 3 number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Run step 3 title"/>
          <p:cNvSpPr txBox="1"/>
          <p:nvPr/>
        </p:nvSpPr>
        <p:spPr>
          <a:xfrm>
            <a:off x="1188720" y="3886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Extract and mine</a:t>
            </a:r>
            <a:endParaRPr lang="en-US" sz="1600" dirty="0"/>
          </a:p>
        </p:txBody>
      </p:sp>
      <p:sp>
        <p:nvSpPr>
          <p:cNvPr id="15" name="Run step 3 body"/>
          <p:cNvSpPr txBox="1"/>
          <p:nvPr/>
        </p:nvSpPr>
        <p:spPr>
          <a:xfrm>
            <a:off x="1188720" y="423367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extract.py → transform.py → mine.py write the event log and insights.</a:t>
            </a:r>
            <a:endParaRPr lang="en-US" sz="1400" dirty="0"/>
          </a:p>
        </p:txBody>
      </p:sp>
      <p:sp>
        <p:nvSpPr>
          <p:cNvPr id="16" name="Run step 4 marker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Run step 4 number"/>
          <p:cNvSpPr txBox="1"/>
          <p:nvPr/>
        </p:nvSpPr>
        <p:spPr>
          <a:xfrm>
            <a:off x="54864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Run step 4 title"/>
          <p:cNvSpPr txBox="1"/>
          <p:nvPr/>
        </p:nvSpPr>
        <p:spPr>
          <a:xfrm>
            <a:off x="1188720" y="4937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Publish</a:t>
            </a:r>
            <a:endParaRPr lang="en-US" sz="1600" dirty="0"/>
          </a:p>
        </p:txBody>
      </p:sp>
      <p:sp>
        <p:nvSpPr>
          <p:cNvPr id="19" name="Run step 4 body"/>
          <p:cNvSpPr txBox="1"/>
          <p:nvPr/>
        </p:nvSpPr>
        <p:spPr>
          <a:xfrm>
            <a:off x="1188720" y="528523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build_site.py renders the dashboard and value case; deployed to Vercel.</a:t>
            </a:r>
            <a:endParaRPr lang="en-US" sz="1400" dirty="0"/>
          </a:p>
        </p:txBody>
      </p:sp>
      <p:sp>
        <p:nvSpPr>
          <p:cNvPr id="20" name="Gotchas heading"/>
          <p:cNvSpPr txBox="1"/>
          <p:nvPr/>
        </p:nvSpPr>
        <p:spPr>
          <a:xfrm>
            <a:off x="6309360" y="1325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Problems solved along the way</a:t>
            </a:r>
            <a:endParaRPr lang="en-US" sz="1600" dirty="0"/>
          </a:p>
        </p:txBody>
      </p:sp>
      <p:sp>
        <p:nvSpPr>
          <p:cNvPr id="21" name="Gotcha 1"/>
          <p:cNvSpPr/>
          <p:nvPr/>
        </p:nvSpPr>
        <p:spPr>
          <a:xfrm>
            <a:off x="6309360" y="1783080"/>
            <a:ext cx="5303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2" name="Gotcha 1 title"/>
          <p:cNvSpPr txBox="1"/>
          <p:nvPr/>
        </p:nvSpPr>
        <p:spPr>
          <a:xfrm>
            <a:off x="6537960" y="18745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New orgs block uninstalled connected apps</a:t>
            </a:r>
            <a:endParaRPr lang="en-US" sz="1400" dirty="0"/>
          </a:p>
        </p:txBody>
      </p:sp>
      <p:sp>
        <p:nvSpPr>
          <p:cNvPr id="23" name="Gotcha 1 fix"/>
          <p:cNvSpPr txBox="1"/>
          <p:nvPr/>
        </p:nvSpPr>
        <p:spPr>
          <a:xfrm>
            <a:off x="6537960" y="22402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Installed Salesforce CLI under Connected Apps OAuth Usage.</a:t>
            </a:r>
            <a:endParaRPr lang="en-US" sz="1400" dirty="0"/>
          </a:p>
        </p:txBody>
      </p:sp>
      <p:sp>
        <p:nvSpPr>
          <p:cNvPr id="24" name="Gotcha 2"/>
          <p:cNvSpPr/>
          <p:nvPr/>
        </p:nvSpPr>
        <p:spPr>
          <a:xfrm>
            <a:off x="6309360" y="2834640"/>
            <a:ext cx="5303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5" name="Gotcha 2 title"/>
          <p:cNvSpPr txBox="1"/>
          <p:nvPr/>
        </p:nvSpPr>
        <p:spPr>
          <a:xfrm>
            <a:off x="6537960" y="2926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Starter orgs use a shorter sales process</a:t>
            </a:r>
            <a:endParaRPr lang="en-US" sz="1400" dirty="0"/>
          </a:p>
        </p:txBody>
      </p:sp>
      <p:sp>
        <p:nvSpPr>
          <p:cNvPr id="26" name="Gotcha 2 fix"/>
          <p:cNvSpPr txBox="1"/>
          <p:nvPr/>
        </p:nvSpPr>
        <p:spPr>
          <a:xfrm>
            <a:off x="6537960" y="32918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Stages auto-map to Qualify → Propose → Negotiate.</a:t>
            </a:r>
            <a:endParaRPr lang="en-US" sz="1400" dirty="0"/>
          </a:p>
        </p:txBody>
      </p:sp>
      <p:sp>
        <p:nvSpPr>
          <p:cNvPr id="27" name="Gotcha 3"/>
          <p:cNvSpPr/>
          <p:nvPr/>
        </p:nvSpPr>
        <p:spPr>
          <a:xfrm>
            <a:off x="6309360" y="3886200"/>
            <a:ext cx="5303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8" name="Gotcha 3 title"/>
          <p:cNvSpPr txBox="1"/>
          <p:nvPr/>
        </p:nvSpPr>
        <p:spPr>
          <a:xfrm>
            <a:off x="6537960" y="39776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 CLI redacts access tokens</a:t>
            </a:r>
            <a:endParaRPr lang="en-US" sz="1400" dirty="0"/>
          </a:p>
        </p:txBody>
      </p:sp>
      <p:sp>
        <p:nvSpPr>
          <p:cNvPr id="29" name="Gotcha 3 fix"/>
          <p:cNvSpPr txBox="1"/>
          <p:nvPr/>
        </p:nvSpPr>
        <p:spPr>
          <a:xfrm>
            <a:off x="6537960" y="4343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Calls go through sf api request rest instead.</a:t>
            </a:r>
            <a:endParaRPr lang="en-US" sz="1400" dirty="0"/>
          </a:p>
        </p:txBody>
      </p:sp>
      <p:sp>
        <p:nvSpPr>
          <p:cNvPr id="30" name="Gotcha 4"/>
          <p:cNvSpPr/>
          <p:nvPr/>
        </p:nvSpPr>
        <p:spPr>
          <a:xfrm>
            <a:off x="6309360" y="4937760"/>
            <a:ext cx="5303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31" name="Gotcha 4 title"/>
          <p:cNvSpPr txBox="1"/>
          <p:nvPr/>
        </p:nvSpPr>
        <p:spPr>
          <a:xfrm>
            <a:off x="6537960" y="50292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History can't be backdated</a:t>
            </a:r>
            <a:endParaRPr lang="en-US" sz="1400" dirty="0"/>
          </a:p>
        </p:txBody>
      </p:sp>
      <p:sp>
        <p:nvSpPr>
          <p:cNvPr id="32" name="Gotcha 4 fix"/>
          <p:cNvSpPr txBox="1"/>
          <p:nvPr/>
        </p:nvSpPr>
        <p:spPr>
          <a:xfrm>
            <a:off x="6537960" y="53949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10-month dataset is simulated in the same object shape.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Evidence: the seeded deals live in Salesforce</a:t>
            </a:r>
            <a:endParaRPr lang="en-US" sz="3000" dirty="0"/>
          </a:p>
        </p:txBody>
      </p:sp>
      <p:sp>
        <p:nvSpPr>
          <p:cNvPr id="3" name="Accounts list frame"/>
          <p:cNvSpPr/>
          <p:nvPr/>
        </p:nvSpPr>
        <p:spPr>
          <a:xfrm>
            <a:off x="512064" y="1335024"/>
            <a:ext cx="5786737" cy="341071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Accounts list" descr="40 [Demo] accounts created through the Composite API, each with an industry and country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713585" cy="3337560"/>
          </a:xfrm>
          <a:prstGeom prst="rect">
            <a:avLst/>
          </a:prstGeom>
        </p:spPr>
      </p:pic>
      <p:sp>
        <p:nvSpPr>
          <p:cNvPr id="5" name="Accounts list caption"/>
          <p:cNvSpPr txBox="1"/>
          <p:nvPr/>
        </p:nvSpPr>
        <p:spPr>
          <a:xfrm>
            <a:off x="548640" y="4892040"/>
            <a:ext cx="57135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40 [Demo] accounts created through the Composite API, each with an industry and country.</a:t>
            </a:r>
            <a:endParaRPr lang="en-US" sz="1400" dirty="0"/>
          </a:p>
        </p:txBody>
      </p:sp>
      <p:sp>
        <p:nvSpPr>
          <p:cNvPr id="6" name="Opportunities list frame"/>
          <p:cNvSpPr/>
          <p:nvPr/>
        </p:nvSpPr>
        <p:spPr>
          <a:xfrm>
            <a:off x="6499969" y="1335024"/>
            <a:ext cx="5036066" cy="341071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Opportunities list" descr="40 opportunities walked through the org's own sales stage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545" y="1371600"/>
            <a:ext cx="4962914" cy="3337560"/>
          </a:xfrm>
          <a:prstGeom prst="rect">
            <a:avLst/>
          </a:prstGeom>
        </p:spPr>
      </p:pic>
      <p:sp>
        <p:nvSpPr>
          <p:cNvPr id="8" name="Opportunities list caption"/>
          <p:cNvSpPr txBox="1"/>
          <p:nvPr/>
        </p:nvSpPr>
        <p:spPr>
          <a:xfrm>
            <a:off x="6536545" y="4892040"/>
            <a:ext cx="4962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40 opportunities walked through the org's own sales stages.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Evidence: what the extract reads</a:t>
            </a:r>
            <a:endParaRPr lang="en-US" sz="3000" dirty="0"/>
          </a:p>
        </p:txBody>
      </p:sp>
      <p:sp>
        <p:nvSpPr>
          <p:cNvPr id="3" name="Stage history frame"/>
          <p:cNvSpPr/>
          <p:nvPr/>
        </p:nvSpPr>
        <p:spPr>
          <a:xfrm>
            <a:off x="512064" y="1335024"/>
            <a:ext cx="5898118" cy="318211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Stage history" descr="OpportunityHistory for one deal: Propose → Negotiate twice before Closed Won. This is the re-quote loop the dashboard measur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824966" cy="3108960"/>
          </a:xfrm>
          <a:prstGeom prst="rect">
            <a:avLst/>
          </a:prstGeom>
        </p:spPr>
      </p:pic>
      <p:sp>
        <p:nvSpPr>
          <p:cNvPr id="5" name="Stage history caption"/>
          <p:cNvSpPr txBox="1"/>
          <p:nvPr/>
        </p:nvSpPr>
        <p:spPr>
          <a:xfrm>
            <a:off x="548640" y="4663440"/>
            <a:ext cx="582496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OpportunityHistory for one deal: Propose → Negotiate twice before Closed Won. This is the re-quote loop the dashboard measures.</a:t>
            </a:r>
            <a:endParaRPr lang="en-US" sz="1400" dirty="0"/>
          </a:p>
        </p:txBody>
      </p:sp>
      <p:sp>
        <p:nvSpPr>
          <p:cNvPr id="6" name="Connected apps frame"/>
          <p:cNvSpPr/>
          <p:nvPr/>
        </p:nvSpPr>
        <p:spPr>
          <a:xfrm>
            <a:off x="6611350" y="1335024"/>
            <a:ext cx="4722713" cy="318211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Connected apps" descr="Setup: Salesforce CLI installed and allowed, which unblocked API access on the new org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926" y="1371600"/>
            <a:ext cx="4649561" cy="3108960"/>
          </a:xfrm>
          <a:prstGeom prst="rect">
            <a:avLst/>
          </a:prstGeom>
        </p:spPr>
      </p:pic>
      <p:sp>
        <p:nvSpPr>
          <p:cNvPr id="8" name="Connected apps caption"/>
          <p:cNvSpPr txBox="1"/>
          <p:nvPr/>
        </p:nvSpPr>
        <p:spPr>
          <a:xfrm>
            <a:off x="6647926" y="4663440"/>
            <a:ext cx="46495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Setup: Salesforce CLI installed and allowed, which unblocked API access on the new org.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lesforce Handbook">
  <a:themeElements>
    <a:clrScheme name="Salesforce Handbook">
      <a:dk1>
        <a:srgbClr val="181818"/>
      </a:dk1>
      <a:lt1>
        <a:srgbClr val="FFFFFF"/>
      </a:lt1>
      <a:dk2>
        <a:srgbClr val="032D60"/>
      </a:dk2>
      <a:lt2>
        <a:srgbClr val="EAF5FE"/>
      </a:lt2>
      <a:accent1>
        <a:srgbClr val="0B9DE0"/>
      </a:accent1>
      <a:accent2>
        <a:srgbClr val="4499D8"/>
      </a:accent2>
      <a:accent3>
        <a:srgbClr val="CFE9FE"/>
      </a:accent3>
      <a:accent4>
        <a:srgbClr val="FE9339"/>
      </a:accent4>
      <a:accent5>
        <a:srgbClr val="2E844A"/>
      </a:accent5>
      <a:accent6>
        <a:srgbClr val="0B5CAB"/>
      </a:accent6>
      <a:hlink>
        <a:srgbClr val="0B5CAB"/>
      </a:hlink>
      <a:folHlink>
        <a:srgbClr val="032D60"/>
      </a:folHlink>
    </a:clrScheme>
    <a:fontScheme name="Salesforce Handboo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Salesforce data to a framed value case</dc:title>
  <dc:subject>PptxGenJS Presentation</dc:subject>
  <dc:creator>Luke Audie</dc:creator>
  <cp:lastModifiedBy>Luke Audie</cp:lastModifiedBy>
  <cp:revision>1</cp:revision>
  <dcterms:created xsi:type="dcterms:W3CDTF">2026-10-14T18:44:20Z</dcterms:created>
  <dcterms:modified xsi:type="dcterms:W3CDTF">2026-10-14T18:44:20Z</dcterms:modified>
</cp:coreProperties>
</file>