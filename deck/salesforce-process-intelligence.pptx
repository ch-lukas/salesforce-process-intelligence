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d4e9b07-343f-868e-eeea-517fcf0838c2}">
          <p14:sldIdLst>
            <p14:sldId id="256"/>
            <p14:sldId id="257"/>
          </p14:sldIdLst>
        </p14:section>
        <p14:section name="Evidence" id="{1dd6c548-78cb-5c1c-5b65-d0d9a3c71872}">
          <p14:sldIdLst>
            <p14:sldId id="258"/>
            <p14:sldId id="259"/>
          </p14:sldIdLst>
        </p14:section>
        <p14:section name="Value" id="{c8cb17a7-d113-2aac-648b-11b8cd1aa483}">
          <p14:sldIdLst>
            <p14:sldId id="260"/>
          </p14:sldIdLst>
        </p14:section>
        <p14:section name="Tech setup" id="{88a7235b-cfa3-08a1-0eb0-c01130c35b4e}">
          <p14:sldIdLst>
            <p14:sldId id="261"/>
            <p14:sldId id="262"/>
          </p14:sldIdLst>
        </p14:section>
        <p14:section name="Close" id="{08e747ec-fce7-5748-f1b8-2b3585baebcf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step is real: the CLI fix in Setup, the seeded deals, the raw stage history the extract reads, and the published output. Opportunity is the case; leads join via ConvertedOpportunityId and tasks via WhatId. Trial orgs can't backdate history, so the 10-month dataset is simulated in the same object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pilot one policy change, then monitor value realised in Apromore.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value-case.html" TargetMode="External"/><Relationship Id="rId3" Type="http://schemas.openxmlformats.org/officeDocument/2006/relationships/hyperlink" Target="https://salesforce-process-intelligence.vercel.app/live.html" TargetMode="External"/><Relationship Id="rId4" Type="http://schemas.openxmlformats.org/officeDocument/2006/relationships/hyperlink" Target="https://github.com/ch-lukas/salesforce-process-intelligence" TargetMode="External"/><Relationship Id="rId5" Type="http://schemas.openxmlformats.org/officeDocument/2006/relationships/image" Target="../media/image-7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Lead-to-close process intelligence: a working demo build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answer first: three process fixes worth $1.4M a year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Annual revenue upside if half of the gap is closed on three issues found in the CRM data. Full gap: $2.8M.</a:t>
            </a:r>
            <a:endParaRPr lang="en-US" sz="1600" dirty="0"/>
          </a:p>
        </p:txBody>
      </p:sp>
      <p:sp>
        <p:nvSpPr>
          <p:cNvPr id="5" name="Headline basis"/>
          <p:cNvSpPr txBox="1"/>
          <p:nvPr/>
        </p:nvSpPr>
        <p:spPr>
          <a:xfrm>
            <a:off x="5486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Sized from 800 opportunities over 10.4 months.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9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0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3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4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5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7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8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9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0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1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2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3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4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5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6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7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8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29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0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1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2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follow the happy path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the process as it actually runs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5087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508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of deals follow the designed happy path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4343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4343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57150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designed path.</a:t>
            </a:r>
            <a:endParaRPr lang="en-US" sz="1400" dirty="0"/>
          </a:p>
        </p:txBody>
      </p:sp>
      <p:sp>
        <p:nvSpPr>
          <p:cNvPr id="10" name="Map frame"/>
          <p:cNvSpPr/>
          <p:nvPr/>
        </p:nvSpPr>
        <p:spPr>
          <a:xfrm>
            <a:off x="7419442" y="1280160"/>
            <a:ext cx="4239158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rocess map" descr="Process map from the hosted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162" y="1325880"/>
            <a:ext cx="4147718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deviations explain most of the lost value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EMEA's single approver adds about 6 days per discounted deal.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are re-quoted, and they win 18 points less often.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less than half as often.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New business   ·   Deals that reached Negotiation   ·   Owner: VP Revenue Operations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750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Confirm: slow approval → expired quote → re-quote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Apromore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delegated EMEA approval threshold first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750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Re-quotes per deal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0.19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$669k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revenue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annualised from 10 months of history; win-rate gap compares only deals that reached Negotiation; cycle-time gains not counted; half of the gap closed.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 setup: the key steps, as they ran</a:t>
            </a:r>
            <a:endParaRPr lang="en-US" sz="3000" dirty="0"/>
          </a:p>
        </p:txBody>
      </p:sp>
      <p:sp>
        <p:nvSpPr>
          <p:cNvPr id="3" name="Key step 1 card"/>
          <p:cNvSpPr/>
          <p:nvPr/>
        </p:nvSpPr>
        <p:spPr>
          <a:xfrm>
            <a:off x="548640" y="1280160"/>
            <a:ext cx="54406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Key step 1 frame"/>
          <p:cNvSpPr/>
          <p:nvPr/>
        </p:nvSpPr>
        <p:spPr>
          <a:xfrm>
            <a:off x="658368" y="1440316"/>
            <a:ext cx="2980944" cy="2011407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Key step 1 image" descr="Salesforce CLI allowed under Connected Apps OAuth Usage; the CLI session signs every API cal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7748"/>
            <a:ext cx="2926080" cy="1956543"/>
          </a:xfrm>
          <a:prstGeom prst="rect">
            <a:avLst/>
          </a:prstGeom>
        </p:spPr>
      </p:pic>
      <p:sp>
        <p:nvSpPr>
          <p:cNvPr id="6" name="Key step 1 marker"/>
          <p:cNvSpPr/>
          <p:nvPr/>
        </p:nvSpPr>
        <p:spPr>
          <a:xfrm>
            <a:off x="3794760" y="150876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Key step 1 number"/>
          <p:cNvSpPr txBox="1"/>
          <p:nvPr/>
        </p:nvSpPr>
        <p:spPr>
          <a:xfrm>
            <a:off x="379476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Key step 1 title"/>
          <p:cNvSpPr txBox="1"/>
          <p:nvPr/>
        </p:nvSpPr>
        <p:spPr>
          <a:xfrm>
            <a:off x="3794760" y="20116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Connect</a:t>
            </a:r>
            <a:endParaRPr lang="en-US" sz="1600" dirty="0"/>
          </a:p>
        </p:txBody>
      </p:sp>
      <p:sp>
        <p:nvSpPr>
          <p:cNvPr id="9" name="Key step 1 body"/>
          <p:cNvSpPr txBox="1"/>
          <p:nvPr/>
        </p:nvSpPr>
        <p:spPr>
          <a:xfrm>
            <a:off x="3794760" y="237744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Salesforce CLI allowed under Connected Apps OAuth Usage; the CLI session signs every API call.</a:t>
            </a:r>
            <a:endParaRPr lang="en-US" sz="1400" dirty="0"/>
          </a:p>
        </p:txBody>
      </p:sp>
      <p:sp>
        <p:nvSpPr>
          <p:cNvPr id="10" name="Key step 2 card"/>
          <p:cNvSpPr/>
          <p:nvPr/>
        </p:nvSpPr>
        <p:spPr>
          <a:xfrm>
            <a:off x="6172200" y="1280160"/>
            <a:ext cx="54406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1" name="Key step 2 frame"/>
          <p:cNvSpPr/>
          <p:nvPr/>
        </p:nvSpPr>
        <p:spPr>
          <a:xfrm>
            <a:off x="6281928" y="1434694"/>
            <a:ext cx="2980944" cy="2022653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Key step 2 image" descr="seed.py loads 40 [Demo] deals and walks them through the org's own stage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2126"/>
            <a:ext cx="2926080" cy="1967789"/>
          </a:xfrm>
          <a:prstGeom prst="rect">
            <a:avLst/>
          </a:prstGeom>
        </p:spPr>
      </p:pic>
      <p:sp>
        <p:nvSpPr>
          <p:cNvPr id="13" name="Key step 2 marker"/>
          <p:cNvSpPr/>
          <p:nvPr/>
        </p:nvSpPr>
        <p:spPr>
          <a:xfrm>
            <a:off x="9418320" y="150876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Key step 2 number"/>
          <p:cNvSpPr txBox="1"/>
          <p:nvPr/>
        </p:nvSpPr>
        <p:spPr>
          <a:xfrm>
            <a:off x="941832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Key step 2 title"/>
          <p:cNvSpPr txBox="1"/>
          <p:nvPr/>
        </p:nvSpPr>
        <p:spPr>
          <a:xfrm>
            <a:off x="9418320" y="20116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Seed</a:t>
            </a:r>
            <a:endParaRPr lang="en-US" sz="1600" dirty="0"/>
          </a:p>
        </p:txBody>
      </p:sp>
      <p:sp>
        <p:nvSpPr>
          <p:cNvPr id="16" name="Key step 2 body"/>
          <p:cNvSpPr txBox="1"/>
          <p:nvPr/>
        </p:nvSpPr>
        <p:spPr>
          <a:xfrm>
            <a:off x="9418320" y="237744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seed.py loads 40 [Demo] deals and walks them through the org's own stages.</a:t>
            </a:r>
            <a:endParaRPr lang="en-US" sz="1400" dirty="0"/>
          </a:p>
        </p:txBody>
      </p:sp>
      <p:sp>
        <p:nvSpPr>
          <p:cNvPr id="17" name="Key step 3 card"/>
          <p:cNvSpPr/>
          <p:nvPr/>
        </p:nvSpPr>
        <p:spPr>
          <a:xfrm>
            <a:off x="548640" y="3794760"/>
            <a:ext cx="54406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8" name="Key step 3 frame"/>
          <p:cNvSpPr/>
          <p:nvPr/>
        </p:nvSpPr>
        <p:spPr>
          <a:xfrm>
            <a:off x="658368" y="4152319"/>
            <a:ext cx="2980944" cy="161660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Key step 3 image" descr="OpportunityHistory and Task become events, one case per Opportunity. Shown: a re-quote loop.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79751"/>
            <a:ext cx="2926080" cy="1561737"/>
          </a:xfrm>
          <a:prstGeom prst="rect">
            <a:avLst/>
          </a:prstGeom>
        </p:spPr>
      </p:pic>
      <p:sp>
        <p:nvSpPr>
          <p:cNvPr id="20" name="Key step 3 marker"/>
          <p:cNvSpPr/>
          <p:nvPr/>
        </p:nvSpPr>
        <p:spPr>
          <a:xfrm>
            <a:off x="3794760" y="402336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Key step 3 number"/>
          <p:cNvSpPr txBox="1"/>
          <p:nvPr/>
        </p:nvSpPr>
        <p:spPr>
          <a:xfrm>
            <a:off x="379476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2" name="Key step 3 title"/>
          <p:cNvSpPr txBox="1"/>
          <p:nvPr/>
        </p:nvSpPr>
        <p:spPr>
          <a:xfrm>
            <a:off x="3794760" y="45262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Extract</a:t>
            </a:r>
            <a:endParaRPr lang="en-US" sz="1600" dirty="0"/>
          </a:p>
        </p:txBody>
      </p:sp>
      <p:sp>
        <p:nvSpPr>
          <p:cNvPr id="23" name="Key step 3 body"/>
          <p:cNvSpPr txBox="1"/>
          <p:nvPr/>
        </p:nvSpPr>
        <p:spPr>
          <a:xfrm>
            <a:off x="3794760" y="489204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OpportunityHistory and Task become events, one case per Opportunity. Shown: a re-quote loop.</a:t>
            </a:r>
            <a:endParaRPr lang="en-US" sz="1400" dirty="0"/>
          </a:p>
        </p:txBody>
      </p:sp>
      <p:sp>
        <p:nvSpPr>
          <p:cNvPr id="24" name="Key step 4 card"/>
          <p:cNvSpPr/>
          <p:nvPr/>
        </p:nvSpPr>
        <p:spPr>
          <a:xfrm>
            <a:off x="6172200" y="3794760"/>
            <a:ext cx="54406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5" name="Key step 4 frame"/>
          <p:cNvSpPr/>
          <p:nvPr/>
        </p:nvSpPr>
        <p:spPr>
          <a:xfrm>
            <a:off x="6281928" y="3949420"/>
            <a:ext cx="2980944" cy="202240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6" name="Key step 4 image" descr="The event log (CSV / XES) feeds the hosted dashboard and value case.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976852"/>
            <a:ext cx="2926080" cy="1967537"/>
          </a:xfrm>
          <a:prstGeom prst="rect">
            <a:avLst/>
          </a:prstGeom>
        </p:spPr>
      </p:pic>
      <p:sp>
        <p:nvSpPr>
          <p:cNvPr id="27" name="Key step 4 marker"/>
          <p:cNvSpPr/>
          <p:nvPr/>
        </p:nvSpPr>
        <p:spPr>
          <a:xfrm>
            <a:off x="9418320" y="402336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Key step 4 number"/>
          <p:cNvSpPr txBox="1"/>
          <p:nvPr/>
        </p:nvSpPr>
        <p:spPr>
          <a:xfrm>
            <a:off x="941832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9" name="Key step 4 title"/>
          <p:cNvSpPr txBox="1"/>
          <p:nvPr/>
        </p:nvSpPr>
        <p:spPr>
          <a:xfrm>
            <a:off x="9418320" y="45262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Mine and publish</a:t>
            </a:r>
            <a:endParaRPr lang="en-US" sz="1600" dirty="0"/>
          </a:p>
        </p:txBody>
      </p:sp>
      <p:sp>
        <p:nvSpPr>
          <p:cNvPr id="30" name="Key step 4 body"/>
          <p:cNvSpPr txBox="1"/>
          <p:nvPr/>
        </p:nvSpPr>
        <p:spPr>
          <a:xfrm>
            <a:off x="9418320" y="489204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event log (CSV / XES) feeds the hosted dashboard and value case.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Everything is live and open to inspect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41732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6916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54533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dashboard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9110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532888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80720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807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6609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Value case one-pager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30266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salesforce-process-intelligence.vercel.app/value-case.html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648456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92277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9227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7764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extract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41422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salesforce-process-intelligence.vercel.app/live.html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764024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503834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5038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8920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52578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3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Value case screenshot" descr="Value case one-pager on the hosted si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same extract on the production org and confirm approval waits and re-quote rates with RevOps.</a:t>
            </a:r>
            <a:endParaRPr lang="en-US" sz="1600" dirty="0"/>
          </a:p>
        </p:txBody>
      </p:sp>
      <p:sp>
        <p:nvSpPr>
          <p:cNvPr id="7" name="Next 2 card"/>
          <p:cNvSpPr/>
          <p:nvPr/>
        </p:nvSpPr>
        <p:spPr>
          <a:xfrm>
            <a:off x="434340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8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Act</a:t>
            </a:r>
            <a:endParaRPr lang="en-US" sz="2200" dirty="0"/>
          </a:p>
        </p:txBody>
      </p:sp>
      <p:sp>
        <p:nvSpPr>
          <p:cNvPr id="9" name="Next 2 body"/>
          <p:cNvSpPr txBox="1"/>
          <p:nvPr/>
        </p:nvSpPr>
        <p:spPr>
          <a:xfrm>
            <a:off x="461772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Pilot a delegated approval threshold for EMEA discounts up to 30% and make Qualification a required gate.</a:t>
            </a:r>
            <a:endParaRPr lang="en-US" sz="1600" dirty="0"/>
          </a:p>
        </p:txBody>
      </p:sp>
      <p:sp>
        <p:nvSpPr>
          <p:cNvPr id="10" name="Next 3 card"/>
          <p:cNvSpPr/>
          <p:nvPr/>
        </p:nvSpPr>
        <p:spPr>
          <a:xfrm>
            <a:off x="795528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1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Next 3 body"/>
          <p:cNvSpPr txBox="1"/>
          <p:nvPr/>
        </p:nvSpPr>
        <p:spPr>
          <a:xfrm>
            <a:off x="822960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Schedule the extract into Apromore, track the KPIs against target and report value realised quarterly.</a:t>
            </a:r>
            <a:endParaRPr lang="en-US" sz="1600" dirty="0"/>
          </a:p>
        </p:txBody>
      </p:sp>
      <p:sp>
        <p:nvSpPr>
          <p:cNvPr id="13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2026-10-14T18:46:00Z</dcterms:created>
  <dcterms:modified xsi:type="dcterms:W3CDTF">2026-10-14T18:46:00Z</dcterms:modified>
</cp:coreProperties>
</file>