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ch setup" id="{9a267680-d26b-ca61-99bb-a9964de8cc4d}">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the main deck for a technical audience: how the data gets out of Salesforce and where to see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trial org standing in for a client's CRM, seeded by seed.py so there's real OpportunityHistory to read. Right: the stage-history query and how each object maps to events; Opportunity Id is the case. Known limits: Task created → completed can include queueing time; open tasks have no completion time and show as zero duration; history can't be backdated in a trial org, so the 10-month dataset is simulated in the same shape. The export produces CSV and XES; an import into a process mining tool is the next step to verify. Production work would add incremental refresh, stable event IDs and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proves the extraction and event-log design end to end on a real org. The limits are about event semantics and data, not plumbing. Production work is incremental refresh at volume, stable identifiers, approval history from the approval objects, and reconciliation so Finance can trust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hosted. The overview carries the value items and business case; Data assets has the live run and every event log; the repo has the pipeline, the seeding script and the README with the setup gotchas from a new trial 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412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31920"/>
            <a:ext cx="7863840" cy="100584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Salesforce → event log → process mining → value case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786384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7315200" cy="91440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salesforce-process-intelligence.vercel.app" TargetMode="External"/><Relationship Id="rId2" Type="http://schemas.openxmlformats.org/officeDocument/2006/relationships/hyperlink" Target="https://salesforce-process-intelligence.vercel.app/dashboard.html" TargetMode="External"/><Relationship Id="rId3" Type="http://schemas.openxmlformats.org/officeDocument/2006/relationships/hyperlink" Target="https://salesforce-process-intelligence.vercel.app/#business-case" TargetMode="External"/><Relationship Id="rId4" Type="http://schemas.openxmlformats.org/officeDocument/2006/relationships/hyperlink" Target="https://salesforce-process-intelligence.vercel.app/#live-run" TargetMode="External"/><Relationship Id="rId5" Type="http://schemas.openxmlformats.org/officeDocument/2006/relationships/hyperlink" Target="https://github.com/ch-lukas/salesforce-process-intelligence" TargetMode="External"/><Relationship Id="rId6" Type="http://schemas.openxmlformats.org/officeDocument/2006/relationships/image" Target="../media/image-4-1.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large"/>
          <p:cNvSpPr/>
          <p:nvPr/>
        </p:nvSpPr>
        <p:spPr>
          <a:xfrm>
            <a:off x="8595360" y="3108960"/>
            <a:ext cx="6035040" cy="6035040"/>
          </a:xfrm>
          <a:prstGeom prst="ellipse">
            <a:avLst/>
          </a:prstGeom>
          <a:solidFill>
            <a:schemeClr val="accent1">
              <a:alpha val="30000"/>
            </a:schemeClr>
          </a:solidFill>
          <a:ln/>
        </p:spPr>
      </p:sp>
      <p:sp>
        <p:nvSpPr>
          <p:cNvPr id="3" name="Decor circle small"/>
          <p:cNvSpPr/>
          <p:nvPr/>
        </p:nvSpPr>
        <p:spPr>
          <a:xfrm>
            <a:off x="9692640" y="2377440"/>
            <a:ext cx="685800" cy="685800"/>
          </a:xfrm>
          <a:prstGeom prst="ellipse">
            <a:avLst/>
          </a:prstGeom>
          <a:solidFill>
            <a:schemeClr val="accent3"/>
          </a:solidFill>
          <a:ln/>
        </p:spPr>
      </p:sp>
      <p:sp>
        <p:nvSpPr>
          <p:cNvPr id="4" name="Text 0"/>
          <p:cNvSpPr/>
          <p:nvPr>
            <p:ph idx="100" type="title" hasCustomPrompt="1"/>
          </p:nvPr>
        </p:nvSpPr>
        <p:spPr>
          <a:xfrm>
            <a:off x="731520" y="2011680"/>
            <a:ext cx="8412480" cy="1737360"/>
          </a:xfrm>
          <a:prstGeom prst="rect">
            <a:avLst/>
          </a:prstGeom>
          <a:noFill/>
          <a:ln/>
        </p:spPr>
        <p:txBody>
          <a:bodyPr wrap="square" lIns="0" tIns="0" rIns="0" bIns="0" rtlCol="0" anchor="b"/>
          <a:lstStyle/>
          <a:p>
            <a:pPr algn="l" indent="0" marL="0">
              <a:buNone/>
            </a:pPr>
            <a:r>
              <a:rPr lang="en-US" sz="4400" b="1" dirty="0">
                <a:solidFill>
                  <a:schemeClr val="bg1"/>
                </a:solidFill>
              </a:rPr>
              <a:t>Tech setup</a:t>
            </a:r>
            <a:endParaRPr lang="en-US" sz="4400" dirty="0"/>
          </a:p>
        </p:txBody>
      </p:sp>
      <p:sp>
        <p:nvSpPr>
          <p:cNvPr id="5" name="Text 0"/>
          <p:cNvSpPr/>
          <p:nvPr>
            <p:ph idx="101" type="body" hasCustomPrompt="1"/>
          </p:nvPr>
        </p:nvSpPr>
        <p:spPr>
          <a:xfrm>
            <a:off x="731520" y="3931920"/>
            <a:ext cx="7863840" cy="1005840"/>
          </a:xfrm>
          <a:prstGeom prst="rect">
            <a:avLst/>
          </a:prstGeom>
          <a:noFill/>
          <a:ln/>
        </p:spPr>
        <p:txBody>
          <a:bodyPr wrap="square" lIns="0" tIns="0" rIns="0" bIns="0" rtlCol="0" anchor="t"/>
          <a:lstStyle/>
          <a:p>
            <a:pPr algn="l" indent="0" marL="0">
              <a:buNone/>
            </a:pPr>
            <a:r>
              <a:rPr lang="en-US" sz="2000" dirty="0">
                <a:solidFill>
                  <a:schemeClr val="accent3"/>
                </a:solidFill>
              </a:rPr>
              <a:t>The pipeline behind the demo: Salesforce data to an event log</a:t>
            </a:r>
            <a:endParaRPr lang="en-US" sz="2000" dirty="0"/>
          </a:p>
        </p:txBody>
      </p:sp>
      <p:sp>
        <p:nvSpPr>
          <p:cNvPr id="6" name="Byline"/>
          <p:cNvSpPr txBox="1"/>
          <p:nvPr/>
        </p:nvSpPr>
        <p:spPr>
          <a:xfrm>
            <a:off x="731520" y="5852160"/>
            <a:ext cx="5486400" cy="365760"/>
          </a:xfrm>
          <a:prstGeom prst="rect">
            <a:avLst/>
          </a:prstGeom>
          <a:noFill/>
          <a:ln/>
        </p:spPr>
        <p:txBody>
          <a:bodyPr wrap="square" lIns="0" tIns="0" rIns="0" bIns="0" rtlCol="0" anchor="t"/>
          <a:lstStyle/>
          <a:p>
            <a:pPr indent="0" marL="0">
              <a:buNone/>
            </a:pPr>
            <a:r>
              <a:rPr lang="en-US" sz="1400" dirty="0">
                <a:solidFill>
                  <a:schemeClr val="accent3"/>
                </a:solidFill>
              </a:rPr>
              <a:t>Luke Audie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From a Salesforce org to an event log</a:t>
            </a:r>
            <a:endParaRPr lang="en-US" sz="3000" dirty="0"/>
          </a:p>
        </p:txBody>
      </p:sp>
      <p:sp>
        <p:nvSpPr>
          <p:cNvPr id="3" name="Org screenshot frame"/>
          <p:cNvSpPr/>
          <p:nvPr/>
        </p:nvSpPr>
        <p:spPr>
          <a:xfrm>
            <a:off x="512064" y="1243584"/>
            <a:ext cx="5148072" cy="3910582"/>
          </a:xfrm>
          <a:prstGeom prst="rect">
            <a:avLst/>
          </a:prstGeom>
          <a:solidFill>
            <a:schemeClr val="bg1"/>
          </a:solidFill>
          <a:ln w="12700">
            <a:solidFill>
              <a:schemeClr val="accent3"/>
            </a:solidFill>
            <a:prstDash val="solid"/>
          </a:ln>
        </p:spPr>
      </p:sp>
      <p:pic>
        <p:nvPicPr>
          <p:cNvPr id="4" name="Org screenshot" descr="Salesforce trial org with seeded demo records">    </p:cNvPr>
          <p:cNvPicPr>
            <a:picLocks noChangeAspect="1"/>
          </p:cNvPicPr>
          <p:nvPr/>
        </p:nvPicPr>
        <p:blipFill>
          <a:blip r:embed="rId1"/>
          <a:stretch>
            <a:fillRect/>
          </a:stretch>
        </p:blipFill>
        <p:spPr>
          <a:xfrm>
            <a:off x="548640" y="1280160"/>
            <a:ext cx="5074920" cy="3837430"/>
          </a:xfrm>
          <a:prstGeom prst="rect">
            <a:avLst/>
          </a:prstGeom>
        </p:spPr>
      </p:pic>
      <p:sp>
        <p:nvSpPr>
          <p:cNvPr id="5" name="Org caption"/>
          <p:cNvSpPr txBox="1"/>
          <p:nvPr/>
        </p:nvSpPr>
        <p:spPr>
          <a:xfrm>
            <a:off x="548640" y="5669280"/>
            <a:ext cx="5074920" cy="685800"/>
          </a:xfrm>
          <a:prstGeom prst="rect">
            <a:avLst/>
          </a:prstGeom>
          <a:noFill/>
          <a:ln/>
        </p:spPr>
        <p:txBody>
          <a:bodyPr wrap="square" lIns="0" tIns="0" rIns="0" bIns="0" rtlCol="0" anchor="t"/>
          <a:lstStyle/>
          <a:p>
            <a:pPr indent="0" marL="0">
              <a:buNone/>
            </a:pPr>
            <a:r>
              <a:rPr lang="en-US" sz="1400" b="1" dirty="0">
                <a:solidFill>
                  <a:schemeClr val="tx2"/>
                </a:solidFill>
              </a:rPr>
              <a:t>Salesforce trial org: </a:t>
            </a:r>
            <a:pPr indent="0" marL="0">
              <a:buNone/>
            </a:pPr>
            <a:r>
              <a:rPr lang="en-US" sz="1400" dirty="0">
                <a:solidFill>
                  <a:schemeClr val="tx2"/>
                </a:solidFill>
              </a:rPr>
              <a:t>seed.py loaded 40 [Demo] accounts and opportunities to simulate a client's CRM.</a:t>
            </a:r>
            <a:endParaRPr lang="en-US" sz="1400" dirty="0"/>
          </a:p>
        </p:txBody>
      </p:sp>
      <p:sp>
        <p:nvSpPr>
          <p:cNvPr id="6" name="Code panel"/>
          <p:cNvSpPr/>
          <p:nvPr/>
        </p:nvSpPr>
        <p:spPr>
          <a:xfrm>
            <a:off x="5897880" y="1280160"/>
            <a:ext cx="5715000" cy="2057400"/>
          </a:xfrm>
          <a:prstGeom prst="roundRect">
            <a:avLst>
              <a:gd name="adj" fmla="val 5333"/>
            </a:avLst>
          </a:prstGeom>
          <a:solidFill>
            <a:schemeClr val="tx2"/>
          </a:solidFill>
          <a:ln/>
        </p:spPr>
      </p:sp>
      <p:sp>
        <p:nvSpPr>
          <p:cNvPr id="7" name="Code panel dot 1"/>
          <p:cNvSpPr/>
          <p:nvPr/>
        </p:nvSpPr>
        <p:spPr>
          <a:xfrm>
            <a:off x="6080760" y="1417320"/>
            <a:ext cx="109728" cy="109728"/>
          </a:xfrm>
          <a:prstGeom prst="ellipse">
            <a:avLst/>
          </a:prstGeom>
          <a:solidFill>
            <a:srgbClr val="FE9339"/>
          </a:solidFill>
          <a:ln/>
        </p:spPr>
      </p:sp>
      <p:sp>
        <p:nvSpPr>
          <p:cNvPr id="8" name="Code panel dot 2"/>
          <p:cNvSpPr/>
          <p:nvPr/>
        </p:nvSpPr>
        <p:spPr>
          <a:xfrm>
            <a:off x="6263640" y="1417320"/>
            <a:ext cx="109728" cy="109728"/>
          </a:xfrm>
          <a:prstGeom prst="ellipse">
            <a:avLst/>
          </a:prstGeom>
          <a:solidFill>
            <a:srgbClr val="F6C344"/>
          </a:solidFill>
          <a:ln/>
        </p:spPr>
      </p:sp>
      <p:sp>
        <p:nvSpPr>
          <p:cNvPr id="9" name="Code panel dot 3"/>
          <p:cNvSpPr/>
          <p:nvPr/>
        </p:nvSpPr>
        <p:spPr>
          <a:xfrm>
            <a:off x="6446520" y="1417320"/>
            <a:ext cx="109728" cy="109728"/>
          </a:xfrm>
          <a:prstGeom prst="ellipse">
            <a:avLst/>
          </a:prstGeom>
          <a:solidFill>
            <a:srgbClr val="2E844A"/>
          </a:solidFill>
          <a:ln/>
        </p:spPr>
      </p:sp>
      <p:sp>
        <p:nvSpPr>
          <p:cNvPr id="10" name="Code panel filename"/>
          <p:cNvSpPr txBox="1"/>
          <p:nvPr/>
        </p:nvSpPr>
        <p:spPr>
          <a:xfrm>
            <a:off x="6675120" y="1353312"/>
            <a:ext cx="3108960" cy="237744"/>
          </a:xfrm>
          <a:prstGeom prst="rect">
            <a:avLst/>
          </a:prstGeom>
          <a:noFill/>
          <a:ln/>
        </p:spPr>
        <p:txBody>
          <a:bodyPr wrap="square" lIns="0" tIns="0" rIns="0" bIns="0" rtlCol="0" anchor="t"/>
          <a:lstStyle/>
          <a:p>
            <a:pPr indent="0" marL="0">
              <a:buNone/>
            </a:pPr>
            <a:r>
              <a:rPr lang="en-US" sz="1100" dirty="0">
                <a:solidFill>
                  <a:schemeClr val="accent3"/>
                </a:solidFill>
              </a:rPr>
              <a:t>pipeline/extract.py · stage history</a:t>
            </a:r>
            <a:endParaRPr lang="en-US" sz="1100" dirty="0"/>
          </a:p>
        </p:txBody>
      </p:sp>
      <p:sp>
        <p:nvSpPr>
          <p:cNvPr id="11" name="SOQL code"/>
          <p:cNvSpPr txBox="1"/>
          <p:nvPr/>
        </p:nvSpPr>
        <p:spPr>
          <a:xfrm>
            <a:off x="6126480" y="1737360"/>
            <a:ext cx="5349240" cy="1463040"/>
          </a:xfrm>
          <a:prstGeom prst="rect">
            <a:avLst/>
          </a:prstGeom>
          <a:noFill/>
          <a:ln/>
        </p:spPr>
        <p:txBody>
          <a:bodyPr wrap="square" lIns="0" tIns="0" rIns="0" bIns="0" rtlCol="0" anchor="t"/>
          <a:lstStyle/>
          <a:p>
            <a:pPr indent="0" marL="0">
              <a:lnSpc>
                <a:spcPct val="110000"/>
              </a:lnSpc>
              <a:buNone/>
            </a:pPr>
            <a:r>
              <a:rPr lang="en-US" sz="1400" b="1" dirty="0">
                <a:solidFill>
                  <a:srgbClr val="0B9DE0"/>
                </a:solidFill>
                <a:latin typeface="Courier New" pitchFamily="34" charset="0"/>
                <a:ea typeface="Courier New" pitchFamily="34" charset="-122"/>
                <a:cs typeface="Courier New" pitchFamily="34" charset="-120"/>
              </a:rPr>
              <a:t>SELECT</a:t>
            </a:r>
            <a:pPr indent="0" marL="0">
              <a:lnSpc>
                <a:spcPct val="110000"/>
              </a:lnSpc>
              <a:buNone/>
            </a:pPr>
            <a:r>
              <a:rPr lang="en-US" sz="1400" dirty="0">
                <a:solidFill>
                  <a:srgbClr val="CFE9FE"/>
                </a:solidFill>
                <a:latin typeface="Courier New" pitchFamily="34" charset="0"/>
                <a:ea typeface="Courier New" pitchFamily="34" charset="-122"/>
                <a:cs typeface="Courier New" pitchFamily="34" charset="-120"/>
              </a:rPr>
              <a:t> OpportunityId, StageName, CreatedDate,</a:t>
            </a:r>
            <a:endParaRPr lang="en-US" sz="1400" dirty="0"/>
          </a:p>
          <a:p>
            <a:pPr indent="0" marL="0">
              <a:lnSpc>
                <a:spcPct val="110000"/>
              </a:lnSpc>
              <a:buNone/>
            </a:pPr>
            <a:r>
              <a:rPr lang="en-US" sz="1400" dirty="0">
                <a:solidFill>
                  <a:srgbClr val="CFE9FE"/>
                </a:solidFill>
                <a:latin typeface="Courier New" pitchFamily="34" charset="0"/>
                <a:ea typeface="Courier New" pitchFamily="34" charset="-122"/>
                <a:cs typeface="Courier New" pitchFamily="34" charset="-120"/>
              </a:rPr>
              <a:t>       CreatedById, CreatedBy.Name</a:t>
            </a:r>
            <a:endParaRPr lang="en-US" sz="1400" dirty="0"/>
          </a:p>
          <a:p>
            <a:pPr indent="0" marL="0">
              <a:lnSpc>
                <a:spcPct val="110000"/>
              </a:lnSpc>
              <a:buNone/>
            </a:pPr>
            <a:r>
              <a:rPr lang="en-US" sz="1400" b="1" dirty="0">
                <a:solidFill>
                  <a:srgbClr val="0B9DE0"/>
                </a:solidFill>
                <a:latin typeface="Courier New" pitchFamily="34" charset="0"/>
                <a:ea typeface="Courier New" pitchFamily="34" charset="-122"/>
                <a:cs typeface="Courier New" pitchFamily="34" charset="-120"/>
              </a:rPr>
              <a:t>FROM</a:t>
            </a:r>
            <a:pPr indent="0" marL="0">
              <a:lnSpc>
                <a:spcPct val="110000"/>
              </a:lnSpc>
              <a:buNone/>
            </a:pPr>
            <a:r>
              <a:rPr lang="en-US" sz="1400" dirty="0">
                <a:solidFill>
                  <a:srgbClr val="CFE9FE"/>
                </a:solidFill>
                <a:latin typeface="Courier New" pitchFamily="34" charset="0"/>
                <a:ea typeface="Courier New" pitchFamily="34" charset="-122"/>
                <a:cs typeface="Courier New" pitchFamily="34" charset="-120"/>
              </a:rPr>
              <a:t> OpportunityHistory</a:t>
            </a:r>
            <a:endParaRPr lang="en-US" sz="1400" dirty="0"/>
          </a:p>
          <a:p>
            <a:pPr indent="0" marL="0">
              <a:lnSpc>
                <a:spcPct val="110000"/>
              </a:lnSpc>
              <a:buNone/>
            </a:pPr>
            <a:r>
              <a:rPr lang="en-US" sz="1400" b="1" dirty="0">
                <a:solidFill>
                  <a:srgbClr val="0B9DE0"/>
                </a:solidFill>
                <a:latin typeface="Courier New" pitchFamily="34" charset="0"/>
                <a:ea typeface="Courier New" pitchFamily="34" charset="-122"/>
                <a:cs typeface="Courier New" pitchFamily="34" charset="-120"/>
              </a:rPr>
              <a:t>ORDER BY</a:t>
            </a:r>
            <a:pPr indent="0" marL="0">
              <a:lnSpc>
                <a:spcPct val="110000"/>
              </a:lnSpc>
              <a:buNone/>
            </a:pPr>
            <a:r>
              <a:rPr lang="en-US" sz="1400" dirty="0">
                <a:solidFill>
                  <a:srgbClr val="CFE9FE"/>
                </a:solidFill>
                <a:latin typeface="Courier New" pitchFamily="34" charset="0"/>
                <a:ea typeface="Courier New" pitchFamily="34" charset="-122"/>
                <a:cs typeface="Courier New" pitchFamily="34" charset="-120"/>
              </a:rPr>
              <a:t> OpportunityId, CreatedDate</a:t>
            </a:r>
            <a:endParaRPr lang="en-US" sz="1400" dirty="0"/>
          </a:p>
        </p:txBody>
      </p:sp>
      <p:graphicFrame>
        <p:nvGraphicFramePr>
          <p:cNvPr id="3" name="Object to event mapping"/>
          <p:cNvGraphicFramePr>
            <a:graphicFrameLocks noGrp="1"/>
          </p:cNvGraphicFramePr>
          <p:nvPr>
            <p:extLst>
              <p:ext uri="{D42A27DB-BD31-4B8C-83A1-F6EECF244321}">
                <p14:modId xmlns:p14="http://schemas.microsoft.com/office/powerpoint/2010/main" val="1579011935"/>
              </p:ext>
            </p:extLst>
          </p:nvPr>
        </p:nvGraphicFramePr>
        <p:xfrm>
          <a:off x="5897880" y="3520440"/>
          <a:ext cx="5715000" cy="914400"/>
        </p:xfrm>
        <a:graphic>
          <a:graphicData uri="http://schemas.openxmlformats.org/drawingml/2006/table">
            <a:tbl>
              <a:tblPr/>
              <a:tblGrid>
                <a:gridCol w="2514600"/>
                <a:gridCol w="3200400"/>
              </a:tblGrid>
              <a:tr h="384048">
                <a:tc>
                  <a:txBody>
                    <a:bodyPr/>
                    <a:lstStyle/>
                    <a:p>
                      <a:pPr indent="0" marL="0">
                        <a:buNone/>
                      </a:pPr>
                      <a:r>
                        <a:rPr lang="en-US" sz="1300" b="1" dirty="0">
                          <a:solidFill>
                            <a:schemeClr val="bg1"/>
                          </a:solidFill>
                        </a:rPr>
                        <a:t>Salesforce object</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Becomes in the event log</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Opportunity</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Case: Id, Amount, IsWon, region</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rPr>
                        <a:t>OpportunityHistory</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Stage events: StageName, CreatedDate</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Task (WhatId)</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Activities: Subject, created → completed</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rPr>
                        <a:t>Lead (ConvertedOpportunityId)</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Lead Created event</a:t>
                      </a:r>
                      <a:endParaRPr lang="en-US" sz="1300" dirty="0"/>
                    </a:p>
                  </a:txBody>
                  <a:tcPr marL="91440" marR="91440" marT="36576" marB="36576" anchor="ctr">
                    <a:lnL w="9525" cap="flat" cmpd="sng" algn="ctr">
                      <a:solidFill>
                        <a:srgbClr val="CFE9FE"/>
                      </a:solidFill>
                      <a:prstDash val="solid"/>
                      <a:round/>
                      <a:headEnd type="none" w="med" len="med"/>
                      <a:tailEnd type="none" w="med" len="med"/>
                    </a:lnL>
                    <a:lnR w="9525" cap="flat" cmpd="sng" algn="ctr">
                      <a:solidFill>
                        <a:srgbClr val="CFE9FE"/>
                      </a:solidFill>
                      <a:prstDash val="solid"/>
                      <a:round/>
                      <a:headEnd type="none" w="med" len="med"/>
                      <a:tailEnd type="none" w="med" len="med"/>
                    </a:lnR>
                    <a:lnT w="9525" cap="flat" cmpd="sng" algn="ctr">
                      <a:solidFill>
                        <a:srgbClr val="CFE9FE"/>
                      </a:solidFill>
                      <a:prstDash val="solid"/>
                      <a:round/>
                      <a:headEnd type="none" w="med" len="med"/>
                      <a:tailEnd type="none" w="med" len="med"/>
                    </a:lnT>
                    <a:lnB w="9525" cap="flat" cmpd="sng" algn="ctr">
                      <a:solidFill>
                        <a:srgbClr val="CFE9FE"/>
                      </a:solidFill>
                      <a:prstDash val="solid"/>
                      <a:round/>
                      <a:headEnd type="none" w="med" len="med"/>
                      <a:tailEnd type="none" w="med" len="med"/>
                    </a:lnB>
                    <a:solidFill>
                      <a:schemeClr val="bg1"/>
                    </a:solidFill>
                  </a:tcPr>
                </a:tc>
              </a:tr>
            </a:tbl>
          </a:graphicData>
        </a:graphic>
      </p:graphicFrame>
      <p:sp>
        <p:nvSpPr>
          <p:cNvPr id="13" name="Code caption"/>
          <p:cNvSpPr txBox="1"/>
          <p:nvPr/>
        </p:nvSpPr>
        <p:spPr>
          <a:xfrm>
            <a:off x="5897880" y="5669280"/>
            <a:ext cx="5715000" cy="685800"/>
          </a:xfrm>
          <a:prstGeom prst="rect">
            <a:avLst/>
          </a:prstGeom>
          <a:noFill/>
          <a:ln/>
        </p:spPr>
        <p:txBody>
          <a:bodyPr wrap="square" lIns="0" tIns="0" rIns="0" bIns="0" rtlCol="0" anchor="t"/>
          <a:lstStyle/>
          <a:p>
            <a:pPr indent="0" marL="0">
              <a:buNone/>
            </a:pPr>
            <a:r>
              <a:rPr lang="en-US" sz="1400" b="1" dirty="0">
                <a:solidFill>
                  <a:schemeClr val="tx2"/>
                </a:solidFill>
              </a:rPr>
              <a:t>extract.py: </a:t>
            </a:r>
            <a:pPr indent="0" marL="0">
              <a:buNone/>
            </a:pPr>
            <a:r>
              <a:rPr lang="en-US" sz="1400" dirty="0">
                <a:solidFill>
                  <a:schemeClr val="tx2"/>
                </a:solidFill>
              </a:rPr>
              <a:t>four SOQL queries over the REST API, signed by the Salesforce CLI session. Output: CSV and XES.</a:t>
            </a:r>
            <a:endParaRPr lang="en-US" sz="1400" dirty="0"/>
          </a:p>
        </p:txBody>
      </p:sp>
      <p:sp>
        <p:nvSpPr>
          <p:cNvPr id="14" name="Popup 1 box"/>
          <p:cNvSpPr/>
          <p:nvPr/>
        </p:nvSpPr>
        <p:spPr>
          <a:xfrm>
            <a:off x="2880360" y="1463040"/>
            <a:ext cx="2606040" cy="365760"/>
          </a:xfrm>
          <a:prstGeom prst="roundRect">
            <a:avLst>
              <a:gd name="adj" fmla="val 20000"/>
            </a:avLst>
          </a:prstGeom>
          <a:solidFill>
            <a:schemeClr val="bg1"/>
          </a:solidFill>
          <a:ln w="19050">
            <a:solidFill>
              <a:schemeClr val="accent1"/>
            </a:solidFill>
            <a:prstDash val="solid"/>
          </a:ln>
          <a:effectLst>
            <a:outerShdw sx="100000" sy="100000" kx="0" ky="0" algn="bl" rotWithShape="0" blurRad="50800" dist="25400" dir="5400000">
              <a:srgbClr val="000000">
                <a:alpha val="25000"/>
              </a:srgbClr>
            </a:outerShdw>
          </a:effectLst>
        </p:spPr>
      </p:sp>
      <p:sp>
        <p:nvSpPr>
          <p:cNvPr id="15" name="Popup 1 badge"/>
          <p:cNvSpPr/>
          <p:nvPr/>
        </p:nvSpPr>
        <p:spPr>
          <a:xfrm>
            <a:off x="2935224" y="1508760"/>
            <a:ext cx="274320" cy="274320"/>
          </a:xfrm>
          <a:prstGeom prst="ellipse">
            <a:avLst/>
          </a:prstGeom>
          <a:solidFill>
            <a:schemeClr val="accent4"/>
          </a:solidFill>
          <a:ln/>
        </p:spPr>
      </p:sp>
      <p:sp>
        <p:nvSpPr>
          <p:cNvPr id="16" name="Popup 1 number"/>
          <p:cNvSpPr txBox="1"/>
          <p:nvPr/>
        </p:nvSpPr>
        <p:spPr>
          <a:xfrm>
            <a:off x="2935224" y="15087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7" name="Popup 1 label"/>
          <p:cNvSpPr txBox="1"/>
          <p:nvPr/>
        </p:nvSpPr>
        <p:spPr>
          <a:xfrm>
            <a:off x="3282696" y="1463040"/>
            <a:ext cx="2148840" cy="365760"/>
          </a:xfrm>
          <a:prstGeom prst="rect">
            <a:avLst/>
          </a:prstGeom>
          <a:noFill/>
          <a:ln/>
        </p:spPr>
        <p:txBody>
          <a:bodyPr wrap="square" lIns="0" tIns="0" rIns="0" bIns="0" rtlCol="0" anchor="ctr"/>
          <a:lstStyle/>
          <a:p>
            <a:pPr indent="0" marL="0">
              <a:buNone/>
            </a:pPr>
            <a:r>
              <a:rPr lang="en-US" sz="1200" b="1" dirty="0">
                <a:solidFill>
                  <a:schemeClr val="tx2"/>
                </a:solidFill>
              </a:rPr>
              <a:t>Trial org = the client's CRM</a:t>
            </a:r>
            <a:endParaRPr lang="en-US" sz="1200" dirty="0"/>
          </a:p>
        </p:txBody>
      </p:sp>
      <p:sp>
        <p:nvSpPr>
          <p:cNvPr id="18" name="Popup 2 box"/>
          <p:cNvSpPr/>
          <p:nvPr/>
        </p:nvSpPr>
        <p:spPr>
          <a:xfrm>
            <a:off x="3017520" y="3520440"/>
            <a:ext cx="2468880" cy="365760"/>
          </a:xfrm>
          <a:prstGeom prst="roundRect">
            <a:avLst>
              <a:gd name="adj" fmla="val 20000"/>
            </a:avLst>
          </a:prstGeom>
          <a:solidFill>
            <a:schemeClr val="bg1"/>
          </a:solidFill>
          <a:ln w="19050">
            <a:solidFill>
              <a:schemeClr val="accent1"/>
            </a:solidFill>
            <a:prstDash val="solid"/>
          </a:ln>
          <a:effectLst>
            <a:outerShdw sx="100000" sy="100000" kx="0" ky="0" algn="bl" rotWithShape="0" blurRad="50800" dist="25400" dir="5400000">
              <a:srgbClr val="000000">
                <a:alpha val="25000"/>
              </a:srgbClr>
            </a:outerShdw>
          </a:effectLst>
        </p:spPr>
      </p:sp>
      <p:sp>
        <p:nvSpPr>
          <p:cNvPr id="19" name="Popup 2 badge"/>
          <p:cNvSpPr/>
          <p:nvPr/>
        </p:nvSpPr>
        <p:spPr>
          <a:xfrm>
            <a:off x="3072384" y="3566160"/>
            <a:ext cx="274320" cy="274320"/>
          </a:xfrm>
          <a:prstGeom prst="ellipse">
            <a:avLst/>
          </a:prstGeom>
          <a:solidFill>
            <a:schemeClr val="accent4"/>
          </a:solidFill>
          <a:ln/>
        </p:spPr>
      </p:sp>
      <p:sp>
        <p:nvSpPr>
          <p:cNvPr id="20" name="Popup 2 number"/>
          <p:cNvSpPr txBox="1"/>
          <p:nvPr/>
        </p:nvSpPr>
        <p:spPr>
          <a:xfrm>
            <a:off x="3072384" y="35661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1" name="Popup 2 label"/>
          <p:cNvSpPr txBox="1"/>
          <p:nvPr/>
        </p:nvSpPr>
        <p:spPr>
          <a:xfrm>
            <a:off x="3419856" y="3520440"/>
            <a:ext cx="2011680" cy="365760"/>
          </a:xfrm>
          <a:prstGeom prst="rect">
            <a:avLst/>
          </a:prstGeom>
          <a:noFill/>
          <a:ln/>
        </p:spPr>
        <p:txBody>
          <a:bodyPr wrap="square" lIns="0" tIns="0" rIns="0" bIns="0" rtlCol="0" anchor="ctr"/>
          <a:lstStyle/>
          <a:p>
            <a:pPr indent="0" marL="0">
              <a:buNone/>
            </a:pPr>
            <a:r>
              <a:rPr lang="en-US" sz="1200" b="1" dirty="0">
                <a:solidFill>
                  <a:schemeClr val="tx2"/>
                </a:solidFill>
              </a:rPr>
              <a:t>seed.py: 40 [Demo] records</a:t>
            </a:r>
            <a:endParaRPr lang="en-US" sz="1200" dirty="0"/>
          </a:p>
        </p:txBody>
      </p:sp>
      <p:sp>
        <p:nvSpPr>
          <p:cNvPr id="22" name="Popup 3 box"/>
          <p:cNvSpPr/>
          <p:nvPr/>
        </p:nvSpPr>
        <p:spPr>
          <a:xfrm>
            <a:off x="9098280" y="1307592"/>
            <a:ext cx="2423160" cy="365760"/>
          </a:xfrm>
          <a:prstGeom prst="roundRect">
            <a:avLst>
              <a:gd name="adj" fmla="val 20000"/>
            </a:avLst>
          </a:prstGeom>
          <a:solidFill>
            <a:schemeClr val="bg1"/>
          </a:solidFill>
          <a:ln w="19050">
            <a:solidFill>
              <a:schemeClr val="accent1"/>
            </a:solidFill>
            <a:prstDash val="solid"/>
          </a:ln>
          <a:effectLst>
            <a:outerShdw sx="100000" sy="100000" kx="0" ky="0" algn="bl" rotWithShape="0" blurRad="50800" dist="25400" dir="5400000">
              <a:srgbClr val="000000">
                <a:alpha val="25000"/>
              </a:srgbClr>
            </a:outerShdw>
          </a:effectLst>
        </p:spPr>
      </p:sp>
      <p:sp>
        <p:nvSpPr>
          <p:cNvPr id="23" name="Popup 3 badge"/>
          <p:cNvSpPr/>
          <p:nvPr/>
        </p:nvSpPr>
        <p:spPr>
          <a:xfrm>
            <a:off x="9153144" y="1353312"/>
            <a:ext cx="274320" cy="274320"/>
          </a:xfrm>
          <a:prstGeom prst="ellipse">
            <a:avLst/>
          </a:prstGeom>
          <a:solidFill>
            <a:schemeClr val="accent4"/>
          </a:solidFill>
          <a:ln/>
        </p:spPr>
      </p:sp>
      <p:sp>
        <p:nvSpPr>
          <p:cNvPr id="24" name="Popup 3 number"/>
          <p:cNvSpPr txBox="1"/>
          <p:nvPr/>
        </p:nvSpPr>
        <p:spPr>
          <a:xfrm>
            <a:off x="9153144" y="1353312"/>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5" name="Popup 3 label"/>
          <p:cNvSpPr txBox="1"/>
          <p:nvPr/>
        </p:nvSpPr>
        <p:spPr>
          <a:xfrm>
            <a:off x="9500616" y="1307592"/>
            <a:ext cx="1965960" cy="365760"/>
          </a:xfrm>
          <a:prstGeom prst="rect">
            <a:avLst/>
          </a:prstGeom>
          <a:noFill/>
          <a:ln/>
        </p:spPr>
        <p:txBody>
          <a:bodyPr wrap="square" lIns="0" tIns="0" rIns="0" bIns="0" rtlCol="0" anchor="ctr"/>
          <a:lstStyle/>
          <a:p>
            <a:pPr indent="0" marL="0">
              <a:buNone/>
            </a:pPr>
            <a:r>
              <a:rPr lang="en-US" sz="1200" b="1" dirty="0">
                <a:solidFill>
                  <a:schemeClr val="tx2"/>
                </a:solidFill>
              </a:rPr>
              <a:t>SOQL via the CLI session</a:t>
            </a:r>
            <a:endParaRPr lang="en-US" sz="1200" dirty="0"/>
          </a:p>
        </p:txBody>
      </p:sp>
      <p:sp>
        <p:nvSpPr>
          <p:cNvPr id="26" name="Popup 4 box"/>
          <p:cNvSpPr/>
          <p:nvPr/>
        </p:nvSpPr>
        <p:spPr>
          <a:xfrm>
            <a:off x="9372600" y="3136392"/>
            <a:ext cx="2148840" cy="365760"/>
          </a:xfrm>
          <a:prstGeom prst="roundRect">
            <a:avLst>
              <a:gd name="adj" fmla="val 20000"/>
            </a:avLst>
          </a:prstGeom>
          <a:solidFill>
            <a:schemeClr val="bg1"/>
          </a:solidFill>
          <a:ln w="19050">
            <a:solidFill>
              <a:schemeClr val="accent1"/>
            </a:solidFill>
            <a:prstDash val="solid"/>
          </a:ln>
          <a:effectLst>
            <a:outerShdw sx="100000" sy="100000" kx="0" ky="0" algn="bl" rotWithShape="0" blurRad="50800" dist="25400" dir="5400000">
              <a:srgbClr val="000000">
                <a:alpha val="25000"/>
              </a:srgbClr>
            </a:outerShdw>
          </a:effectLst>
        </p:spPr>
      </p:sp>
      <p:sp>
        <p:nvSpPr>
          <p:cNvPr id="27" name="Popup 4 badge"/>
          <p:cNvSpPr/>
          <p:nvPr/>
        </p:nvSpPr>
        <p:spPr>
          <a:xfrm>
            <a:off x="9427464" y="3182112"/>
            <a:ext cx="274320" cy="274320"/>
          </a:xfrm>
          <a:prstGeom prst="ellipse">
            <a:avLst/>
          </a:prstGeom>
          <a:solidFill>
            <a:schemeClr val="accent4"/>
          </a:solidFill>
          <a:ln/>
        </p:spPr>
      </p:sp>
      <p:sp>
        <p:nvSpPr>
          <p:cNvPr id="28" name="Popup 4 number"/>
          <p:cNvSpPr txBox="1"/>
          <p:nvPr/>
        </p:nvSpPr>
        <p:spPr>
          <a:xfrm>
            <a:off x="9427464" y="3182112"/>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9" name="Popup 4 label"/>
          <p:cNvSpPr txBox="1"/>
          <p:nvPr/>
        </p:nvSpPr>
        <p:spPr>
          <a:xfrm>
            <a:off x="9774936" y="3136392"/>
            <a:ext cx="1691640" cy="365760"/>
          </a:xfrm>
          <a:prstGeom prst="rect">
            <a:avLst/>
          </a:prstGeom>
          <a:noFill/>
          <a:ln/>
        </p:spPr>
        <p:txBody>
          <a:bodyPr wrap="square" lIns="0" tIns="0" rIns="0" bIns="0" rtlCol="0" anchor="ctr"/>
          <a:lstStyle/>
          <a:p>
            <a:pPr indent="0" marL="0">
              <a:buNone/>
            </a:pPr>
            <a:r>
              <a:rPr lang="en-US" sz="1200" b="1" dirty="0">
                <a:solidFill>
                  <a:schemeClr val="tx2"/>
                </a:solidFill>
              </a:rPr>
              <a:t>Objects → events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Prototype today, production next</a:t>
            </a:r>
            <a:endParaRPr lang="en-US" sz="3000" dirty="0"/>
          </a:p>
        </p:txBody>
      </p:sp>
      <p:sp>
        <p:nvSpPr>
          <p:cNvPr id="3" name="Lane 1 card"/>
          <p:cNvSpPr/>
          <p:nvPr/>
        </p:nvSpPr>
        <p:spPr>
          <a:xfrm>
            <a:off x="548640" y="1325880"/>
            <a:ext cx="3529584" cy="3520440"/>
          </a:xfrm>
          <a:prstGeom prst="roundRect">
            <a:avLst>
              <a:gd name="adj" fmla="val 3117"/>
            </a:avLst>
          </a:prstGeom>
          <a:solidFill>
            <a:schemeClr val="bg2"/>
          </a:solidFill>
          <a:ln/>
        </p:spPr>
      </p:sp>
      <p:sp>
        <p:nvSpPr>
          <p:cNvPr id="4" name="Lane 1 heading"/>
          <p:cNvSpPr txBox="1"/>
          <p:nvPr/>
        </p:nvSpPr>
        <p:spPr>
          <a:xfrm>
            <a:off x="777240" y="1508760"/>
            <a:ext cx="3072384" cy="411480"/>
          </a:xfrm>
          <a:prstGeom prst="rect">
            <a:avLst/>
          </a:prstGeom>
          <a:noFill/>
          <a:ln/>
        </p:spPr>
        <p:txBody>
          <a:bodyPr wrap="square" lIns="0" tIns="0" rIns="0" bIns="0" rtlCol="0" anchor="t"/>
          <a:lstStyle/>
          <a:p>
            <a:pPr indent="0" marL="0">
              <a:buNone/>
            </a:pPr>
            <a:r>
              <a:rPr lang="en-US" sz="1800" b="1" dirty="0">
                <a:solidFill>
                  <a:schemeClr val="tx2"/>
                </a:solidFill>
              </a:rPr>
              <a:t>What the prototype proves</a:t>
            </a:r>
            <a:endParaRPr lang="en-US" sz="1800" dirty="0"/>
          </a:p>
        </p:txBody>
      </p:sp>
      <p:sp>
        <p:nvSpPr>
          <p:cNvPr id="5" name="Lane 1 body"/>
          <p:cNvSpPr txBox="1"/>
          <p:nvPr/>
        </p:nvSpPr>
        <p:spPr>
          <a:xfrm>
            <a:off x="777240" y="2057400"/>
            <a:ext cx="3072384"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SOQL over REST, signed by the CLI session; no stored credentials</a:t>
            </a:r>
            <a:endParaRPr lang="en-US" sz="1400" dirty="0"/>
          </a:p>
          <a:p>
            <a:pPr marL="342900" indent="-342900">
              <a:spcAft>
                <a:spcPts val="1000"/>
              </a:spcAft>
              <a:buSzPct val="100000"/>
              <a:buChar char="•"/>
            </a:pPr>
            <a:r>
              <a:rPr lang="en-US" sz="1400" dirty="0">
                <a:solidFill>
                  <a:schemeClr val="tx2"/>
                </a:solidFill>
              </a:rPr>
              <a:t>Opportunity as the case; Tasks join on WhatId, Leads on ConvertedOpportunityId</a:t>
            </a:r>
            <a:endParaRPr lang="en-US" sz="1400" dirty="0"/>
          </a:p>
          <a:p>
            <a:pPr marL="342900" indent="-342900">
              <a:spcAft>
                <a:spcPts val="1000"/>
              </a:spcAft>
              <a:buSzPct val="100000"/>
              <a:buChar char="•"/>
            </a:pPr>
            <a:r>
              <a:rPr lang="en-US" sz="1400" dirty="0">
                <a:solidFill>
                  <a:schemeClr val="tx2"/>
                </a:solidFill>
              </a:rPr>
              <a:t>History rows collapse to real stage changes; paginated queries</a:t>
            </a:r>
            <a:endParaRPr lang="en-US" sz="1400" dirty="0"/>
          </a:p>
          <a:p>
            <a:pPr marL="342900" indent="-342900">
              <a:spcAft>
                <a:spcPts val="1000"/>
              </a:spcAft>
              <a:buSzPct val="100000"/>
              <a:buChar char="•"/>
            </a:pPr>
            <a:r>
              <a:rPr lang="en-US" sz="1400" dirty="0">
                <a:solidFill>
                  <a:schemeClr val="tx2"/>
                </a:solidFill>
              </a:rPr>
              <a:t>CSV and XES export with start and complete events</a:t>
            </a:r>
            <a:endParaRPr lang="en-US" sz="1400" dirty="0"/>
          </a:p>
        </p:txBody>
      </p:sp>
      <p:sp>
        <p:nvSpPr>
          <p:cNvPr id="6" name="Lane 2 card"/>
          <p:cNvSpPr/>
          <p:nvPr/>
        </p:nvSpPr>
        <p:spPr>
          <a:xfrm>
            <a:off x="4315968" y="1325880"/>
            <a:ext cx="3529584" cy="3520440"/>
          </a:xfrm>
          <a:prstGeom prst="roundRect">
            <a:avLst>
              <a:gd name="adj" fmla="val 3117"/>
            </a:avLst>
          </a:prstGeom>
          <a:solidFill>
            <a:srgbClr val="FFEEDD"/>
          </a:solidFill>
          <a:ln/>
        </p:spPr>
      </p:sp>
      <p:sp>
        <p:nvSpPr>
          <p:cNvPr id="7" name="Lane 2 heading"/>
          <p:cNvSpPr txBox="1"/>
          <p:nvPr/>
        </p:nvSpPr>
        <p:spPr>
          <a:xfrm>
            <a:off x="4544568" y="1508760"/>
            <a:ext cx="3072384" cy="411480"/>
          </a:xfrm>
          <a:prstGeom prst="rect">
            <a:avLst/>
          </a:prstGeom>
          <a:noFill/>
          <a:ln/>
        </p:spPr>
        <p:txBody>
          <a:bodyPr wrap="square" lIns="0" tIns="0" rIns="0" bIns="0" rtlCol="0" anchor="t"/>
          <a:lstStyle/>
          <a:p>
            <a:pPr indent="0" marL="0">
              <a:buNone/>
            </a:pPr>
            <a:r>
              <a:rPr lang="en-US" sz="1800" b="1" dirty="0">
                <a:solidFill>
                  <a:schemeClr val="tx2"/>
                </a:solidFill>
              </a:rPr>
              <a:t>Known limits</a:t>
            </a:r>
            <a:endParaRPr lang="en-US" sz="1800" dirty="0"/>
          </a:p>
        </p:txBody>
      </p:sp>
      <p:sp>
        <p:nvSpPr>
          <p:cNvPr id="8" name="Lane 2 body"/>
          <p:cNvSpPr txBox="1"/>
          <p:nvPr/>
        </p:nvSpPr>
        <p:spPr>
          <a:xfrm>
            <a:off x="4544568" y="2057400"/>
            <a:ext cx="3072384"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Task created → completed can include queueing time</a:t>
            </a:r>
            <a:endParaRPr lang="en-US" sz="1400" dirty="0"/>
          </a:p>
          <a:p>
            <a:pPr marL="342900" indent="-342900">
              <a:spcAft>
                <a:spcPts val="1000"/>
              </a:spcAft>
              <a:buSzPct val="100000"/>
              <a:buChar char="•"/>
            </a:pPr>
            <a:r>
              <a:rPr lang="en-US" sz="1400" dirty="0">
                <a:solidFill>
                  <a:schemeClr val="tx2"/>
                </a:solidFill>
              </a:rPr>
              <a:t>Open tasks have no completion time yet</a:t>
            </a:r>
            <a:endParaRPr lang="en-US" sz="1400" dirty="0"/>
          </a:p>
          <a:p>
            <a:pPr marL="342900" indent="-342900">
              <a:spcAft>
                <a:spcPts val="1000"/>
              </a:spcAft>
              <a:buSzPct val="100000"/>
              <a:buChar char="•"/>
            </a:pPr>
            <a:r>
              <a:rPr lang="en-US" sz="1400" dirty="0">
                <a:solidFill>
                  <a:schemeClr val="tx2"/>
                </a:solidFill>
              </a:rPr>
              <a:t>Trial orgs can't backdate history, so the analysis uses simulated data</a:t>
            </a:r>
            <a:endParaRPr lang="en-US" sz="1400" dirty="0"/>
          </a:p>
          <a:p>
            <a:pPr marL="342900" indent="-342900">
              <a:spcAft>
                <a:spcPts val="1000"/>
              </a:spcAft>
              <a:buSzPct val="100000"/>
              <a:buChar char="•"/>
            </a:pPr>
            <a:r>
              <a:rPr lang="en-US" sz="1400" dirty="0">
                <a:solidFill>
                  <a:schemeClr val="tx2"/>
                </a:solidFill>
              </a:rPr>
              <a:t>Import into a process mining tool still to verify</a:t>
            </a:r>
            <a:endParaRPr lang="en-US" sz="1400" dirty="0"/>
          </a:p>
        </p:txBody>
      </p:sp>
      <p:sp>
        <p:nvSpPr>
          <p:cNvPr id="9" name="Lane 3 card"/>
          <p:cNvSpPr/>
          <p:nvPr/>
        </p:nvSpPr>
        <p:spPr>
          <a:xfrm>
            <a:off x="8083296" y="1325880"/>
            <a:ext cx="3529584" cy="3520440"/>
          </a:xfrm>
          <a:prstGeom prst="roundRect">
            <a:avLst>
              <a:gd name="adj" fmla="val 3117"/>
            </a:avLst>
          </a:prstGeom>
          <a:solidFill>
            <a:schemeClr val="tx2"/>
          </a:solidFill>
          <a:ln/>
        </p:spPr>
      </p:sp>
      <p:sp>
        <p:nvSpPr>
          <p:cNvPr id="10" name="Lane 3 heading"/>
          <p:cNvSpPr txBox="1"/>
          <p:nvPr/>
        </p:nvSpPr>
        <p:spPr>
          <a:xfrm>
            <a:off x="8311896" y="1508760"/>
            <a:ext cx="3072384" cy="411480"/>
          </a:xfrm>
          <a:prstGeom prst="rect">
            <a:avLst/>
          </a:prstGeom>
          <a:noFill/>
          <a:ln/>
        </p:spPr>
        <p:txBody>
          <a:bodyPr wrap="square" lIns="0" tIns="0" rIns="0" bIns="0" rtlCol="0" anchor="t"/>
          <a:lstStyle/>
          <a:p>
            <a:pPr indent="0" marL="0">
              <a:buNone/>
            </a:pPr>
            <a:r>
              <a:rPr lang="en-US" sz="1800" b="1" dirty="0">
                <a:solidFill>
                  <a:schemeClr val="bg1"/>
                </a:solidFill>
              </a:rPr>
              <a:t>Production path</a:t>
            </a:r>
            <a:endParaRPr lang="en-US" sz="1800" dirty="0"/>
          </a:p>
        </p:txBody>
      </p:sp>
      <p:sp>
        <p:nvSpPr>
          <p:cNvPr id="11" name="Lane 3 body"/>
          <p:cNvSpPr txBox="1"/>
          <p:nvPr/>
        </p:nvSpPr>
        <p:spPr>
          <a:xfrm>
            <a:off x="8311896" y="2057400"/>
            <a:ext cx="3072384"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Bulk API 2.0 with incremental refresh on SystemModstamp</a:t>
            </a:r>
            <a:endParaRPr lang="en-US" sz="1400" dirty="0"/>
          </a:p>
          <a:p>
            <a:pPr marL="342900" indent="-342900">
              <a:spcAft>
                <a:spcPts val="1000"/>
              </a:spcAft>
              <a:buSzPct val="100000"/>
              <a:buChar char="•"/>
            </a:pPr>
            <a:r>
              <a:rPr lang="en-US" sz="1400" dirty="0">
                <a:solidFill>
                  <a:schemeClr val="bg1"/>
                </a:solidFill>
              </a:rPr>
              <a:t>Stable event IDs and deterministic ordering for timestamp ties</a:t>
            </a:r>
            <a:endParaRPr lang="en-US" sz="1400" dirty="0"/>
          </a:p>
          <a:p>
            <a:pPr marL="342900" indent="-342900">
              <a:spcAft>
                <a:spcPts val="1000"/>
              </a:spcAft>
              <a:buSzPct val="100000"/>
              <a:buChar char="•"/>
            </a:pPr>
            <a:r>
              <a:rPr lang="en-US" sz="1400" dirty="0">
                <a:solidFill>
                  <a:schemeClr val="bg1"/>
                </a:solidFill>
              </a:rPr>
              <a:t>Approval history from ProcessInstance and its steps</a:t>
            </a:r>
            <a:endParaRPr lang="en-US" sz="1400" dirty="0"/>
          </a:p>
          <a:p>
            <a:pPr marL="342900" indent="-342900">
              <a:spcAft>
                <a:spcPts val="1000"/>
              </a:spcAft>
              <a:buSzPct val="100000"/>
              <a:buChar char="•"/>
            </a:pPr>
            <a:r>
              <a:rPr lang="en-US" sz="1400" dirty="0">
                <a:solidFill>
                  <a:schemeClr val="bg1"/>
                </a:solidFill>
              </a:rPr>
              <a:t>Reconciliation and data-quality checks against source counts</a:t>
            </a:r>
            <a:endParaRPr lang="en-US" sz="1400" dirty="0"/>
          </a:p>
        </p:txBody>
      </p:sp>
      <p:sp>
        <p:nvSpPr>
          <p:cNvPr id="12" name="Production takeaway"/>
          <p:cNvSpPr txBox="1"/>
          <p:nvPr/>
        </p:nvSpPr>
        <p:spPr>
          <a:xfrm>
            <a:off x="548640" y="5120640"/>
            <a:ext cx="11064240" cy="457200"/>
          </a:xfrm>
          <a:prstGeom prst="rect">
            <a:avLst/>
          </a:prstGeom>
          <a:noFill/>
          <a:ln/>
        </p:spPr>
        <p:txBody>
          <a:bodyPr wrap="square" lIns="0" tIns="0" rIns="0" bIns="0" rtlCol="0" anchor="t"/>
          <a:lstStyle/>
          <a:p>
            <a:pPr indent="0" marL="0">
              <a:buNone/>
            </a:pPr>
            <a:r>
              <a:rPr lang="en-US" sz="1800" i="1" dirty="0">
                <a:solidFill>
                  <a:schemeClr val="accent6"/>
                </a:solidFill>
              </a:rPr>
              <a:t>The plumbing is proven. What's left is event semantics and data quality, not connectivity.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Hosted demo, live extraction proof and source code</a:t>
            </a:r>
            <a:endParaRPr lang="en-US" sz="3000" dirty="0"/>
          </a:p>
        </p:txBody>
      </p:sp>
      <p:sp>
        <p:nvSpPr>
          <p:cNvPr id="3" name="Proof 1"/>
          <p:cNvSpPr/>
          <p:nvPr/>
        </p:nvSpPr>
        <p:spPr>
          <a:xfrm>
            <a:off x="548640" y="1371600"/>
            <a:ext cx="6035040" cy="804672"/>
          </a:xfrm>
          <a:prstGeom prst="roundRect">
            <a:avLst>
              <a:gd name="adj" fmla="val 13636"/>
            </a:avLst>
          </a:prstGeom>
          <a:solidFill>
            <a:schemeClr val="bg2"/>
          </a:solidFill>
          <a:ln/>
        </p:spPr>
      </p:sp>
      <p:sp>
        <p:nvSpPr>
          <p:cNvPr id="4" name="Proof 1 marker"/>
          <p:cNvSpPr/>
          <p:nvPr/>
        </p:nvSpPr>
        <p:spPr>
          <a:xfrm>
            <a:off x="749808" y="1554480"/>
            <a:ext cx="411480" cy="411480"/>
          </a:xfrm>
          <a:prstGeom prst="ellipse">
            <a:avLst/>
          </a:prstGeom>
          <a:solidFill>
            <a:schemeClr val="accent1"/>
          </a:solidFill>
          <a:ln/>
        </p:spPr>
      </p:sp>
      <p:sp>
        <p:nvSpPr>
          <p:cNvPr id="5" name="Proof 1 glyph"/>
          <p:cNvSpPr txBox="1"/>
          <p:nvPr/>
        </p:nvSpPr>
        <p:spPr>
          <a:xfrm>
            <a:off x="749808"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Proof 1 label"/>
          <p:cNvSpPr txBox="1"/>
          <p:nvPr/>
        </p:nvSpPr>
        <p:spPr>
          <a:xfrm>
            <a:off x="1325880" y="1444752"/>
            <a:ext cx="5120640" cy="329184"/>
          </a:xfrm>
          <a:prstGeom prst="rect">
            <a:avLst/>
          </a:prstGeom>
          <a:noFill/>
          <a:ln/>
        </p:spPr>
        <p:txBody>
          <a:bodyPr wrap="square" lIns="0" tIns="0" rIns="0" bIns="0" rtlCol="0" anchor="t"/>
          <a:lstStyle/>
          <a:p>
            <a:pPr indent="0" marL="0">
              <a:buNone/>
            </a:pPr>
            <a:r>
              <a:rPr lang="en-US" sz="1600" b="1" dirty="0">
                <a:solidFill>
                  <a:schemeClr val="tx2"/>
                </a:solidFill>
              </a:rPr>
              <a:t>Overview: value items and business case</a:t>
            </a:r>
            <a:endParaRPr lang="en-US" sz="1600" dirty="0"/>
          </a:p>
        </p:txBody>
      </p:sp>
      <p:sp>
        <p:nvSpPr>
          <p:cNvPr id="7" name="Proof 1 link"/>
          <p:cNvSpPr txBox="1"/>
          <p:nvPr/>
        </p:nvSpPr>
        <p:spPr>
          <a:xfrm>
            <a:off x="1325880" y="1792224"/>
            <a:ext cx="5120640" cy="310896"/>
          </a:xfrm>
          <a:prstGeom prst="rect">
            <a:avLst/>
          </a:prstGeom>
          <a:noFill/>
          <a:ln/>
        </p:spPr>
        <p:txBody>
          <a:bodyPr wrap="square" lIns="0" tIns="0" rIns="0" bIns="0" rtlCol="0" anchor="t"/>
          <a:lstStyle/>
          <a:p>
            <a:pPr indent="0" marL="0">
              <a:buNone/>
            </a:pPr>
            <a:r>
              <a:rPr lang="en-US" sz="14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salesforce-process-intelligence.vercel.app</a:t>
            </a:r>
            <a:endParaRPr lang="en-US" sz="1400" dirty="0"/>
          </a:p>
        </p:txBody>
      </p:sp>
      <p:sp>
        <p:nvSpPr>
          <p:cNvPr id="8" name="Proof 2"/>
          <p:cNvSpPr/>
          <p:nvPr/>
        </p:nvSpPr>
        <p:spPr>
          <a:xfrm>
            <a:off x="548640" y="2286000"/>
            <a:ext cx="6035040" cy="804672"/>
          </a:xfrm>
          <a:prstGeom prst="roundRect">
            <a:avLst>
              <a:gd name="adj" fmla="val 13636"/>
            </a:avLst>
          </a:prstGeom>
          <a:solidFill>
            <a:schemeClr val="bg2"/>
          </a:solidFill>
          <a:ln/>
        </p:spPr>
      </p:sp>
      <p:sp>
        <p:nvSpPr>
          <p:cNvPr id="9" name="Proof 2 marker"/>
          <p:cNvSpPr/>
          <p:nvPr/>
        </p:nvSpPr>
        <p:spPr>
          <a:xfrm>
            <a:off x="749808" y="2468880"/>
            <a:ext cx="411480" cy="411480"/>
          </a:xfrm>
          <a:prstGeom prst="ellipse">
            <a:avLst/>
          </a:prstGeom>
          <a:solidFill>
            <a:schemeClr val="accent1"/>
          </a:solidFill>
          <a:ln/>
        </p:spPr>
      </p:sp>
      <p:sp>
        <p:nvSpPr>
          <p:cNvPr id="10" name="Proof 2 glyph"/>
          <p:cNvSpPr txBox="1"/>
          <p:nvPr/>
        </p:nvSpPr>
        <p:spPr>
          <a:xfrm>
            <a:off x="749808" y="2468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Proof 2 label"/>
          <p:cNvSpPr txBox="1"/>
          <p:nvPr/>
        </p:nvSpPr>
        <p:spPr>
          <a:xfrm>
            <a:off x="1325880" y="2359152"/>
            <a:ext cx="5120640" cy="329184"/>
          </a:xfrm>
          <a:prstGeom prst="rect">
            <a:avLst/>
          </a:prstGeom>
          <a:noFill/>
          <a:ln/>
        </p:spPr>
        <p:txBody>
          <a:bodyPr wrap="square" lIns="0" tIns="0" rIns="0" bIns="0" rtlCol="0" anchor="t"/>
          <a:lstStyle/>
          <a:p>
            <a:pPr indent="0" marL="0">
              <a:buNone/>
            </a:pPr>
            <a:r>
              <a:rPr lang="en-US" sz="1600" b="1" dirty="0">
                <a:solidFill>
                  <a:schemeClr val="tx2"/>
                </a:solidFill>
              </a:rPr>
              <a:t>Process analysis</a:t>
            </a:r>
            <a:endParaRPr lang="en-US" sz="1600" dirty="0"/>
          </a:p>
        </p:txBody>
      </p:sp>
      <p:sp>
        <p:nvSpPr>
          <p:cNvPr id="12" name="Proof 2 link"/>
          <p:cNvSpPr txBox="1"/>
          <p:nvPr/>
        </p:nvSpPr>
        <p:spPr>
          <a:xfrm>
            <a:off x="1325880" y="2706624"/>
            <a:ext cx="5120640" cy="310896"/>
          </a:xfrm>
          <a:prstGeom prst="rect">
            <a:avLst/>
          </a:prstGeom>
          <a:noFill/>
          <a:ln/>
        </p:spPr>
        <p:txBody>
          <a:bodyPr wrap="square" lIns="0" tIns="0" rIns="0" bIns="0" rtlCol="0" anchor="t"/>
          <a:lstStyle/>
          <a:p>
            <a:pPr indent="0" marL="0">
              <a:buNone/>
            </a:pPr>
            <a:r>
              <a:rPr lang="en-US" sz="1400" u="sng" dirty="0">
                <a:solidFill>
                  <a:schemeClr val="accent6"/>
                </a:solidFill>
                <a:hlinkClick r:id="rId2" invalidUrl="" action="" tgtFrame="" tooltip="" history="1" highlightClick="0" endSnd="0">
                  <a:extLst>
                    <a:ext uri="{A12FA001-AC4F-418D-AE19-62706E023703}">
                      <ahyp:hlinkClr xmlns:ahyp="http://schemas.microsoft.com/office/drawing/2018/hyperlinkcolor" val="tx"/>
                    </a:ext>
                  </a:extLst>
                </a:hlinkClick>
              </a:rPr>
              <a:t>salesforce-process-intelligence.vercel.app/dashboard.html</a:t>
            </a:r>
            <a:endParaRPr lang="en-US" sz="1400" dirty="0"/>
          </a:p>
        </p:txBody>
      </p:sp>
      <p:sp>
        <p:nvSpPr>
          <p:cNvPr id="13" name="Proof 3"/>
          <p:cNvSpPr/>
          <p:nvPr/>
        </p:nvSpPr>
        <p:spPr>
          <a:xfrm>
            <a:off x="548640" y="3200400"/>
            <a:ext cx="6035040" cy="804672"/>
          </a:xfrm>
          <a:prstGeom prst="roundRect">
            <a:avLst>
              <a:gd name="adj" fmla="val 13636"/>
            </a:avLst>
          </a:prstGeom>
          <a:solidFill>
            <a:schemeClr val="bg2"/>
          </a:solidFill>
          <a:ln/>
        </p:spPr>
      </p:sp>
      <p:sp>
        <p:nvSpPr>
          <p:cNvPr id="14" name="Proof 3 marker"/>
          <p:cNvSpPr/>
          <p:nvPr/>
        </p:nvSpPr>
        <p:spPr>
          <a:xfrm>
            <a:off x="749808" y="3383280"/>
            <a:ext cx="411480" cy="411480"/>
          </a:xfrm>
          <a:prstGeom prst="ellipse">
            <a:avLst/>
          </a:prstGeom>
          <a:solidFill>
            <a:schemeClr val="accent1"/>
          </a:solidFill>
          <a:ln/>
        </p:spPr>
      </p:sp>
      <p:sp>
        <p:nvSpPr>
          <p:cNvPr id="15" name="Proof 3 glyph"/>
          <p:cNvSpPr txBox="1"/>
          <p:nvPr/>
        </p:nvSpPr>
        <p:spPr>
          <a:xfrm>
            <a:off x="749808" y="33832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Proof 3 label"/>
          <p:cNvSpPr txBox="1"/>
          <p:nvPr/>
        </p:nvSpPr>
        <p:spPr>
          <a:xfrm>
            <a:off x="1325880" y="3273552"/>
            <a:ext cx="5120640" cy="329184"/>
          </a:xfrm>
          <a:prstGeom prst="rect">
            <a:avLst/>
          </a:prstGeom>
          <a:noFill/>
          <a:ln/>
        </p:spPr>
        <p:txBody>
          <a:bodyPr wrap="square" lIns="0" tIns="0" rIns="0" bIns="0" rtlCol="0" anchor="t"/>
          <a:lstStyle/>
          <a:p>
            <a:pPr indent="0" marL="0">
              <a:buNone/>
            </a:pPr>
            <a:r>
              <a:rPr lang="en-US" sz="1600" b="1" dirty="0">
                <a:solidFill>
                  <a:schemeClr val="tx2"/>
                </a:solidFill>
              </a:rPr>
              <a:t>Business case (re-quotes)</a:t>
            </a:r>
            <a:endParaRPr lang="en-US" sz="1600" dirty="0"/>
          </a:p>
        </p:txBody>
      </p:sp>
      <p:sp>
        <p:nvSpPr>
          <p:cNvPr id="17" name="Proof 3 link"/>
          <p:cNvSpPr txBox="1"/>
          <p:nvPr/>
        </p:nvSpPr>
        <p:spPr>
          <a:xfrm>
            <a:off x="1325880" y="3621024"/>
            <a:ext cx="5120640" cy="310896"/>
          </a:xfrm>
          <a:prstGeom prst="rect">
            <a:avLst/>
          </a:prstGeom>
          <a:noFill/>
          <a:ln/>
        </p:spPr>
        <p:txBody>
          <a:bodyPr wrap="square" lIns="0" tIns="0" rIns="0" bIns="0" rtlCol="0" anchor="t"/>
          <a:lstStyle/>
          <a:p>
            <a:pPr indent="0" marL="0">
              <a:buNone/>
            </a:pPr>
            <a:r>
              <a:rPr lang="en-US" sz="1400" u="sng" dirty="0">
                <a:solidFill>
                  <a:schemeClr val="accent6"/>
                </a:solidFill>
                <a:hlinkClick r:id="rId3" invalidUrl="" action="" tgtFrame="" tooltip="" history="1" highlightClick="0" endSnd="0">
                  <a:extLst>
                    <a:ext uri="{A12FA001-AC4F-418D-AE19-62706E023703}">
                      <ahyp:hlinkClr xmlns:ahyp="http://schemas.microsoft.com/office/drawing/2018/hyperlinkcolor" val="tx"/>
                    </a:ext>
                  </a:extLst>
                </a:hlinkClick>
              </a:rPr>
              <a:t>salesforce-process-intelligence.vercel.app/#business-case</a:t>
            </a:r>
            <a:endParaRPr lang="en-US" sz="1400" dirty="0"/>
          </a:p>
        </p:txBody>
      </p:sp>
      <p:sp>
        <p:nvSpPr>
          <p:cNvPr id="18" name="Proof 4"/>
          <p:cNvSpPr/>
          <p:nvPr/>
        </p:nvSpPr>
        <p:spPr>
          <a:xfrm>
            <a:off x="548640" y="4114800"/>
            <a:ext cx="6035040" cy="804672"/>
          </a:xfrm>
          <a:prstGeom prst="roundRect">
            <a:avLst>
              <a:gd name="adj" fmla="val 13636"/>
            </a:avLst>
          </a:prstGeom>
          <a:solidFill>
            <a:schemeClr val="bg2"/>
          </a:solidFill>
          <a:ln/>
        </p:spPr>
      </p:sp>
      <p:sp>
        <p:nvSpPr>
          <p:cNvPr id="19" name="Proof 4 marker"/>
          <p:cNvSpPr/>
          <p:nvPr/>
        </p:nvSpPr>
        <p:spPr>
          <a:xfrm>
            <a:off x="749808" y="4297680"/>
            <a:ext cx="411480" cy="411480"/>
          </a:xfrm>
          <a:prstGeom prst="ellipse">
            <a:avLst/>
          </a:prstGeom>
          <a:solidFill>
            <a:schemeClr val="accent1"/>
          </a:solidFill>
          <a:ln/>
        </p:spPr>
      </p:sp>
      <p:sp>
        <p:nvSpPr>
          <p:cNvPr id="20" name="Proof 4 glyph"/>
          <p:cNvSpPr txBox="1"/>
          <p:nvPr/>
        </p:nvSpPr>
        <p:spPr>
          <a:xfrm>
            <a:off x="749808" y="42976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Proof 4 label"/>
          <p:cNvSpPr txBox="1"/>
          <p:nvPr/>
        </p:nvSpPr>
        <p:spPr>
          <a:xfrm>
            <a:off x="1325880" y="4187952"/>
            <a:ext cx="5120640" cy="329184"/>
          </a:xfrm>
          <a:prstGeom prst="rect">
            <a:avLst/>
          </a:prstGeom>
          <a:noFill/>
          <a:ln/>
        </p:spPr>
        <p:txBody>
          <a:bodyPr wrap="square" lIns="0" tIns="0" rIns="0" bIns="0" rtlCol="0" anchor="t"/>
          <a:lstStyle/>
          <a:p>
            <a:pPr indent="0" marL="0">
              <a:buNone/>
            </a:pPr>
            <a:r>
              <a:rPr lang="en-US" sz="1600" b="1" dirty="0">
                <a:solidFill>
                  <a:schemeClr val="tx2"/>
                </a:solidFill>
              </a:rPr>
              <a:t>Data assets and downloads</a:t>
            </a:r>
            <a:endParaRPr lang="en-US" sz="1600" dirty="0"/>
          </a:p>
        </p:txBody>
      </p:sp>
      <p:sp>
        <p:nvSpPr>
          <p:cNvPr id="22" name="Proof 4 link"/>
          <p:cNvSpPr txBox="1"/>
          <p:nvPr/>
        </p:nvSpPr>
        <p:spPr>
          <a:xfrm>
            <a:off x="1325880" y="4535424"/>
            <a:ext cx="5120640" cy="310896"/>
          </a:xfrm>
          <a:prstGeom prst="rect">
            <a:avLst/>
          </a:prstGeom>
          <a:noFill/>
          <a:ln/>
        </p:spPr>
        <p:txBody>
          <a:bodyPr wrap="square" lIns="0" tIns="0" rIns="0" bIns="0" rtlCol="0" anchor="t"/>
          <a:lstStyle/>
          <a:p>
            <a:pPr indent="0" marL="0">
              <a:buNone/>
            </a:pPr>
            <a:r>
              <a:rPr lang="en-US" sz="1400" u="sng" dirty="0">
                <a:solidFill>
                  <a:schemeClr val="accent6"/>
                </a:solidFill>
                <a:hlinkClick r:id="rId4" invalidUrl="" action="" tgtFrame="" tooltip="" history="1" highlightClick="0" endSnd="0">
                  <a:extLst>
                    <a:ext uri="{A12FA001-AC4F-418D-AE19-62706E023703}">
                      <ahyp:hlinkClr xmlns:ahyp="http://schemas.microsoft.com/office/drawing/2018/hyperlinkcolor" val="tx"/>
                    </a:ext>
                  </a:extLst>
                </a:hlinkClick>
              </a:rPr>
              <a:t>salesforce-process-intelligence.vercel.app/#live-run</a:t>
            </a:r>
            <a:endParaRPr lang="en-US" sz="1400" dirty="0"/>
          </a:p>
        </p:txBody>
      </p:sp>
      <p:sp>
        <p:nvSpPr>
          <p:cNvPr id="23" name="Proof 5"/>
          <p:cNvSpPr/>
          <p:nvPr/>
        </p:nvSpPr>
        <p:spPr>
          <a:xfrm>
            <a:off x="548640" y="5029200"/>
            <a:ext cx="6035040" cy="804672"/>
          </a:xfrm>
          <a:prstGeom prst="roundRect">
            <a:avLst>
              <a:gd name="adj" fmla="val 13636"/>
            </a:avLst>
          </a:prstGeom>
          <a:solidFill>
            <a:schemeClr val="bg2"/>
          </a:solidFill>
          <a:ln/>
        </p:spPr>
      </p:sp>
      <p:sp>
        <p:nvSpPr>
          <p:cNvPr id="24" name="Proof 5 marker"/>
          <p:cNvSpPr/>
          <p:nvPr/>
        </p:nvSpPr>
        <p:spPr>
          <a:xfrm>
            <a:off x="749808" y="5212080"/>
            <a:ext cx="411480" cy="411480"/>
          </a:xfrm>
          <a:prstGeom prst="ellipse">
            <a:avLst/>
          </a:prstGeom>
          <a:solidFill>
            <a:schemeClr val="accent1"/>
          </a:solidFill>
          <a:ln/>
        </p:spPr>
      </p:sp>
      <p:sp>
        <p:nvSpPr>
          <p:cNvPr id="25" name="Proof 5 glyph"/>
          <p:cNvSpPr txBox="1"/>
          <p:nvPr/>
        </p:nvSpPr>
        <p:spPr>
          <a:xfrm>
            <a:off x="749808" y="5212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Proof 5 label"/>
          <p:cNvSpPr txBox="1"/>
          <p:nvPr/>
        </p:nvSpPr>
        <p:spPr>
          <a:xfrm>
            <a:off x="1325880" y="5102352"/>
            <a:ext cx="5120640" cy="329184"/>
          </a:xfrm>
          <a:prstGeom prst="rect">
            <a:avLst/>
          </a:prstGeom>
          <a:noFill/>
          <a:ln/>
        </p:spPr>
        <p:txBody>
          <a:bodyPr wrap="square" lIns="0" tIns="0" rIns="0" bIns="0" rtlCol="0" anchor="t"/>
          <a:lstStyle/>
          <a:p>
            <a:pPr indent="0" marL="0">
              <a:buNone/>
            </a:pPr>
            <a:r>
              <a:rPr lang="en-US" sz="1600" b="1" dirty="0">
                <a:solidFill>
                  <a:schemeClr val="tx2"/>
                </a:solidFill>
              </a:rPr>
              <a:t>Source code and event logs</a:t>
            </a:r>
            <a:endParaRPr lang="en-US" sz="1600" dirty="0"/>
          </a:p>
        </p:txBody>
      </p:sp>
      <p:sp>
        <p:nvSpPr>
          <p:cNvPr id="27" name="Proof 5 link"/>
          <p:cNvSpPr txBox="1"/>
          <p:nvPr/>
        </p:nvSpPr>
        <p:spPr>
          <a:xfrm>
            <a:off x="1325880" y="5449824"/>
            <a:ext cx="5120640" cy="310896"/>
          </a:xfrm>
          <a:prstGeom prst="rect">
            <a:avLst/>
          </a:prstGeom>
          <a:noFill/>
          <a:ln/>
        </p:spPr>
        <p:txBody>
          <a:bodyPr wrap="square" lIns="0" tIns="0" rIns="0" bIns="0" rtlCol="0" anchor="t"/>
          <a:lstStyle/>
          <a:p>
            <a:pPr indent="0" marL="0">
              <a:buNone/>
            </a:pPr>
            <a:r>
              <a:rPr lang="en-US" sz="1400" u="sng" dirty="0">
                <a:solidFill>
                  <a:schemeClr val="accent6"/>
                </a:solidFill>
                <a:hlinkClick r:id="rId5" invalidUrl="" action="" tgtFrame="" tooltip="" history="1" highlightClick="0" endSnd="0">
                  <a:extLst>
                    <a:ext uri="{A12FA001-AC4F-418D-AE19-62706E023703}">
                      <ahyp:hlinkClr xmlns:ahyp="http://schemas.microsoft.com/office/drawing/2018/hyperlinkcolor" val="tx"/>
                    </a:ext>
                  </a:extLst>
                </a:hlinkClick>
              </a:rPr>
              <a:t>github.com/ch-lukas/salesforce-process-intelligence</a:t>
            </a:r>
            <a:endParaRPr lang="en-US" sz="1400" dirty="0"/>
          </a:p>
        </p:txBody>
      </p:sp>
      <p:sp>
        <p:nvSpPr>
          <p:cNvPr id="28" name="Screenshot frame"/>
          <p:cNvSpPr/>
          <p:nvPr/>
        </p:nvSpPr>
        <p:spPr>
          <a:xfrm>
            <a:off x="6903720" y="1735360"/>
            <a:ext cx="4754880" cy="3734752"/>
          </a:xfrm>
          <a:prstGeom prst="rect">
            <a:avLst/>
          </a:prstGeom>
          <a:solidFill>
            <a:schemeClr val="bg1"/>
          </a:solidFill>
          <a:ln w="12700">
            <a:solidFill>
              <a:schemeClr val="accent3"/>
            </a:solidFill>
            <a:prstDash val="solid"/>
          </a:ln>
        </p:spPr>
      </p:sp>
      <p:pic>
        <p:nvPicPr>
          <p:cNvPr id="29" name="Overview screenshot" descr="Overview page of the hosted site">    </p:cNvPr>
          <p:cNvPicPr>
            <a:picLocks noChangeAspect="1"/>
          </p:cNvPicPr>
          <p:nvPr/>
        </p:nvPicPr>
        <p:blipFill>
          <a:blip r:embed="rId6"/>
          <a:stretch>
            <a:fillRect/>
          </a:stretch>
        </p:blipFill>
        <p:spPr>
          <a:xfrm>
            <a:off x="6949440" y="1781080"/>
            <a:ext cx="4663440" cy="364331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Salesforce Handbook">
  <a:themeElements>
    <a:clrScheme name="Salesforce Handbook">
      <a:dk1>
        <a:srgbClr val="181818"/>
      </a:dk1>
      <a:lt1>
        <a:srgbClr val="FFFFFF"/>
      </a:lt1>
      <a:dk2>
        <a:srgbClr val="032D60"/>
      </a:dk2>
      <a:lt2>
        <a:srgbClr val="EAF5FE"/>
      </a:lt2>
      <a:accent1>
        <a:srgbClr val="0B9DE0"/>
      </a:accent1>
      <a:accent2>
        <a:srgbClr val="4499D8"/>
      </a:accent2>
      <a:accent3>
        <a:srgbClr val="CFE9FE"/>
      </a:accent3>
      <a:accent4>
        <a:srgbClr val="FE9339"/>
      </a:accent4>
      <a:accent5>
        <a:srgbClr val="2E844A"/>
      </a:accent5>
      <a:accent6>
        <a:srgbClr val="0B5CAB"/>
      </a:accent6>
      <a:hlink>
        <a:srgbClr val="0B5CAB"/>
      </a:hlink>
      <a:folHlink>
        <a:srgbClr val="032D60"/>
      </a:folHlink>
    </a:clrScheme>
    <a:fontScheme name="Salesforce Handboo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setup: from a Salesforce org to Process Intelligence</dc:title>
  <dc:subject>PptxGenJS Presentation</dc:subject>
  <dc:creator>Luke Audie</dc:creator>
  <cp:lastModifiedBy>Luke Audie</cp:lastModifiedBy>
  <cp:revision>1</cp:revision>
  <dcterms:created xsi:type="dcterms:W3CDTF">2026-10-14T20:31:27Z</dcterms:created>
  <dcterms:modified xsi:type="dcterms:W3CDTF">2026-10-14T20:31:27Z</dcterms:modified>
</cp:coreProperties>
</file>