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ch setup" id="{a3890b9e-df38-acaf-47f4-752a83dfc439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main deck for a technical audience: how the data gets out of Salesforce and where to see it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trial org standing in for a client's CRM, seeded by seed.py so there's real OpportunityHistory to read. Right: the stage-history query and how each object maps to events; Opportunity Id is the case. Known limits: Task created → completed can include queueing time; open tasks have no completion time and show as zero duration; history can't be backdated in a trial org, so the 10-month dataset is simulated in the same shape. The export produces CSV and XES; an import into a process mining tool is the next step to verify. Production work would add incremental refresh, stable event IDs and reconciliation.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dashboard.html" TargetMode="External"/><Relationship Id="rId3" Type="http://schemas.openxmlformats.org/officeDocument/2006/relationships/hyperlink" Target="https://salesforce-process-intelligence.vercel.app/value-case.html" TargetMode="External"/><Relationship Id="rId4" Type="http://schemas.openxmlformats.org/officeDocument/2006/relationships/hyperlink" Target="https://salesforce-process-intelligence.vercel.app/live.html" TargetMode="External"/><Relationship Id="rId5" Type="http://schemas.openxmlformats.org/officeDocument/2006/relationships/hyperlink" Target="https://github.com/ch-lukas/salesforce-process-intelligence" TargetMode="External"/><Relationship Id="rId6" Type="http://schemas.openxmlformats.org/officeDocument/2006/relationships/image" Target="../media/image-3-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From a Salesforce org to Process Intelligence: the pipeline behind the demo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 setup: from a Salesforce org to an event log</a:t>
            </a:r>
            <a:endParaRPr lang="en-US" sz="3000" dirty="0"/>
          </a:p>
        </p:txBody>
      </p:sp>
      <p:sp>
        <p:nvSpPr>
          <p:cNvPr id="3" name="Org screenshot frame"/>
          <p:cNvSpPr/>
          <p:nvPr/>
        </p:nvSpPr>
        <p:spPr>
          <a:xfrm>
            <a:off x="512064" y="1243584"/>
            <a:ext cx="5148072" cy="391058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Org screenshot" descr="Salesforce trial org with seeded demo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074920" cy="3837430"/>
          </a:xfrm>
          <a:prstGeom prst="rect">
            <a:avLst/>
          </a:prstGeom>
        </p:spPr>
      </p:pic>
      <p:sp>
        <p:nvSpPr>
          <p:cNvPr id="5" name="Org caption"/>
          <p:cNvSpPr txBox="1"/>
          <p:nvPr/>
        </p:nvSpPr>
        <p:spPr>
          <a:xfrm>
            <a:off x="548640" y="5669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Salesforce trial org: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seed.py loaded 40 [Demo] accounts and opportunities to simulate a client's CRM.</a:t>
            </a:r>
            <a:endParaRPr lang="en-US" sz="1400" dirty="0"/>
          </a:p>
        </p:txBody>
      </p:sp>
      <p:sp>
        <p:nvSpPr>
          <p:cNvPr id="6" name="Code panel"/>
          <p:cNvSpPr/>
          <p:nvPr/>
        </p:nvSpPr>
        <p:spPr>
          <a:xfrm>
            <a:off x="5897880" y="1280160"/>
            <a:ext cx="571500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</p:sp>
      <p:sp>
        <p:nvSpPr>
          <p:cNvPr id="7" name="Code panel dot 1"/>
          <p:cNvSpPr/>
          <p:nvPr/>
        </p:nvSpPr>
        <p:spPr>
          <a:xfrm>
            <a:off x="6080760" y="1417320"/>
            <a:ext cx="109728" cy="109728"/>
          </a:xfrm>
          <a:prstGeom prst="ellipse">
            <a:avLst/>
          </a:prstGeom>
          <a:solidFill>
            <a:srgbClr val="FE9339"/>
          </a:solidFill>
          <a:ln/>
        </p:spPr>
      </p:sp>
      <p:sp>
        <p:nvSpPr>
          <p:cNvPr id="8" name="Code panel dot 2"/>
          <p:cNvSpPr/>
          <p:nvPr/>
        </p:nvSpPr>
        <p:spPr>
          <a:xfrm>
            <a:off x="6263640" y="1417320"/>
            <a:ext cx="109728" cy="109728"/>
          </a:xfrm>
          <a:prstGeom prst="ellipse">
            <a:avLst/>
          </a:prstGeom>
          <a:solidFill>
            <a:srgbClr val="F6C344"/>
          </a:solidFill>
          <a:ln/>
        </p:spPr>
      </p:sp>
      <p:sp>
        <p:nvSpPr>
          <p:cNvPr id="9" name="Code panel dot 3"/>
          <p:cNvSpPr/>
          <p:nvPr/>
        </p:nvSpPr>
        <p:spPr>
          <a:xfrm>
            <a:off x="6446520" y="1417320"/>
            <a:ext cx="109728" cy="109728"/>
          </a:xfrm>
          <a:prstGeom prst="ellipse">
            <a:avLst/>
          </a:prstGeom>
          <a:solidFill>
            <a:srgbClr val="2E844A"/>
          </a:solidFill>
          <a:ln/>
        </p:spPr>
      </p:sp>
      <p:sp>
        <p:nvSpPr>
          <p:cNvPr id="10" name="Code panel filename"/>
          <p:cNvSpPr txBox="1"/>
          <p:nvPr/>
        </p:nvSpPr>
        <p:spPr>
          <a:xfrm>
            <a:off x="6675120" y="1353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pipeline/extract.py · stage history</a:t>
            </a:r>
            <a:endParaRPr lang="en-US" sz="1100" dirty="0"/>
          </a:p>
        </p:txBody>
      </p:sp>
      <p:sp>
        <p:nvSpPr>
          <p:cNvPr id="11" name="SOQL code"/>
          <p:cNvSpPr txBox="1"/>
          <p:nvPr/>
        </p:nvSpPr>
        <p:spPr>
          <a:xfrm>
            <a:off x="6126480" y="17373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StageName, CreatedDate,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CreatedById, CreatedBy.Name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OpportunityHistory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CreatedDate</a:t>
            </a:r>
            <a:endParaRPr lang="en-US" sz="1400" dirty="0"/>
          </a:p>
        </p:txBody>
      </p:sp>
      <p:graphicFrame>
        <p:nvGraphicFramePr>
          <p:cNvPr id="3" name="Object to event mapp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3520440"/>
          <a:ext cx="57150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Salesforce object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Becomes in the event log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Case: Id, Amount, IsWon, region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OpportunityHistory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Stage events: StageName, CreatedDate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Task (WhatId)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Activities: Subject, created → completed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(ConvertedOpportunityId)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Created event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Code caption"/>
          <p:cNvSpPr txBox="1"/>
          <p:nvPr/>
        </p:nvSpPr>
        <p:spPr>
          <a:xfrm>
            <a:off x="5897880" y="566928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extract.py: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SOQL queries over the REST API, signed by the Salesforce CLI session. Output: CSV and XES.</a:t>
            </a:r>
            <a:endParaRPr lang="en-US" sz="1400" dirty="0"/>
          </a:p>
        </p:txBody>
      </p:sp>
      <p:sp>
        <p:nvSpPr>
          <p:cNvPr id="14" name="Popup 1 box"/>
          <p:cNvSpPr/>
          <p:nvPr/>
        </p:nvSpPr>
        <p:spPr>
          <a:xfrm>
            <a:off x="2880360" y="1463040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Popup 1 badge"/>
          <p:cNvSpPr/>
          <p:nvPr/>
        </p:nvSpPr>
        <p:spPr>
          <a:xfrm>
            <a:off x="2935224" y="1508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Popup 1 number"/>
          <p:cNvSpPr txBox="1"/>
          <p:nvPr/>
        </p:nvSpPr>
        <p:spPr>
          <a:xfrm>
            <a:off x="2935224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Popup 1 label"/>
          <p:cNvSpPr txBox="1"/>
          <p:nvPr/>
        </p:nvSpPr>
        <p:spPr>
          <a:xfrm>
            <a:off x="3282696" y="1463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Trial org = the client's CRM</a:t>
            </a:r>
            <a:endParaRPr lang="en-US" sz="1200" dirty="0"/>
          </a:p>
        </p:txBody>
      </p:sp>
      <p:sp>
        <p:nvSpPr>
          <p:cNvPr id="18" name="Popup 2 box"/>
          <p:cNvSpPr/>
          <p:nvPr/>
        </p:nvSpPr>
        <p:spPr>
          <a:xfrm>
            <a:off x="3017520" y="3520440"/>
            <a:ext cx="246888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Popup 2 badge"/>
          <p:cNvSpPr/>
          <p:nvPr/>
        </p:nvSpPr>
        <p:spPr>
          <a:xfrm>
            <a:off x="3072384" y="35661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Popup 2 number"/>
          <p:cNvSpPr txBox="1"/>
          <p:nvPr/>
        </p:nvSpPr>
        <p:spPr>
          <a:xfrm>
            <a:off x="30723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Popup 2 label"/>
          <p:cNvSpPr txBox="1"/>
          <p:nvPr/>
        </p:nvSpPr>
        <p:spPr>
          <a:xfrm>
            <a:off x="3419856" y="3520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seed.py: 40 [Demo] records</a:t>
            </a:r>
            <a:endParaRPr lang="en-US" sz="1200" dirty="0"/>
          </a:p>
        </p:txBody>
      </p:sp>
      <p:sp>
        <p:nvSpPr>
          <p:cNvPr id="22" name="Popup 3 box"/>
          <p:cNvSpPr/>
          <p:nvPr/>
        </p:nvSpPr>
        <p:spPr>
          <a:xfrm>
            <a:off x="9098280" y="1307592"/>
            <a:ext cx="242316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3" name="Popup 3 badge"/>
          <p:cNvSpPr/>
          <p:nvPr/>
        </p:nvSpPr>
        <p:spPr>
          <a:xfrm>
            <a:off x="9153144" y="13533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Popup 3 number"/>
          <p:cNvSpPr txBox="1"/>
          <p:nvPr/>
        </p:nvSpPr>
        <p:spPr>
          <a:xfrm>
            <a:off x="9153144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Popup 3 label"/>
          <p:cNvSpPr txBox="1"/>
          <p:nvPr/>
        </p:nvSpPr>
        <p:spPr>
          <a:xfrm>
            <a:off x="9500616" y="1307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SOQL via the CLI session</a:t>
            </a:r>
            <a:endParaRPr lang="en-US" sz="1200" dirty="0"/>
          </a:p>
        </p:txBody>
      </p:sp>
      <p:sp>
        <p:nvSpPr>
          <p:cNvPr id="26" name="Popup 4 box"/>
          <p:cNvSpPr/>
          <p:nvPr/>
        </p:nvSpPr>
        <p:spPr>
          <a:xfrm>
            <a:off x="9372600" y="3136392"/>
            <a:ext cx="21488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7" name="Popup 4 badge"/>
          <p:cNvSpPr/>
          <p:nvPr/>
        </p:nvSpPr>
        <p:spPr>
          <a:xfrm>
            <a:off x="9427464" y="31821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Popup 4 number"/>
          <p:cNvSpPr txBox="1"/>
          <p:nvPr/>
        </p:nvSpPr>
        <p:spPr>
          <a:xfrm>
            <a:off x="9427464" y="3182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Popup 4 label"/>
          <p:cNvSpPr txBox="1"/>
          <p:nvPr/>
        </p:nvSpPr>
        <p:spPr>
          <a:xfrm>
            <a:off x="9774936" y="31363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Objects → events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Hosted demo, live extraction proof and source code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3716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554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4447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Landing page and value items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792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2860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468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3591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27066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salesforce-process-intelligence.vercel.app/dashboard.html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2004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383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2735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36210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1148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4297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45354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23" name="Proof 5"/>
          <p:cNvSpPr/>
          <p:nvPr/>
        </p:nvSpPr>
        <p:spPr>
          <a:xfrm>
            <a:off x="548640" y="50292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4" name="Proof 5 marker"/>
          <p:cNvSpPr/>
          <p:nvPr/>
        </p:nvSpPr>
        <p:spPr>
          <a:xfrm>
            <a:off x="749808" y="52120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roof 5 glyph"/>
          <p:cNvSpPr txBox="1"/>
          <p:nvPr/>
        </p:nvSpPr>
        <p:spPr>
          <a:xfrm>
            <a:off x="749808" y="5212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Proof 5 label"/>
          <p:cNvSpPr txBox="1"/>
          <p:nvPr/>
        </p:nvSpPr>
        <p:spPr>
          <a:xfrm>
            <a:off x="1325880" y="51023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7" name="Proof 5 link"/>
          <p:cNvSpPr txBox="1"/>
          <p:nvPr/>
        </p:nvSpPr>
        <p:spPr>
          <a:xfrm>
            <a:off x="1325880" y="5449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8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Value case screenshot" descr="Value case one-pager on the hosted si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setup: from a Salesforce org to Process Intelligence</dc:title>
  <dc:subject>PptxGenJS Presentation</dc:subject>
  <dc:creator>Luke Audie</dc:creator>
  <cp:lastModifiedBy>Luke Audie</cp:lastModifiedBy>
  <cp:revision>1</cp:revision>
  <dcterms:created xsi:type="dcterms:W3CDTF">2026-10-14T19:53:13Z</dcterms:created>
  <dcterms:modified xsi:type="dcterms:W3CDTF">2026-10-14T19:53:13Z</dcterms:modified>
</cp:coreProperties>
</file>