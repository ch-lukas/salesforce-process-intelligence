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ch setup" id="{4b915ca9-76f3-5f82-9b71-1e5dd0ed252a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main deck for a technical audience: how the data gets out of Salesforce and where to see it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trial org standing in for a client's CRM, seeded by seed.py so there's real OpportunityHistory to read. Right: the stage-history query and how each object maps to events; Opportunity Id is the case. Known limits: Task created → completed can include queueing time; open tasks have no completion time and show as zero duration; history can't be backdated in a trial org, so the 10-month dataset is simulated in the same shape. The export produces CSV and XES; an import into a process mining tool is the next step to verify. Production work would add incremental refresh, stable event IDs and reconciliation.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this is hosted. The repo has the pipeline, the seeding script and the README with the setup gotchas I hit on a new trial org.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Salesforce → event log → process mining → value case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salesforce-process-intelligence.vercel.app" TargetMode="External"/><Relationship Id="rId2" Type="http://schemas.openxmlformats.org/officeDocument/2006/relationships/hyperlink" Target="https://salesforce-process-intelligence.vercel.app/dashboard.html" TargetMode="External"/><Relationship Id="rId3" Type="http://schemas.openxmlformats.org/officeDocument/2006/relationships/hyperlink" Target="https://salesforce-process-intelligence.vercel.app/#business-case" TargetMode="External"/><Relationship Id="rId4" Type="http://schemas.openxmlformats.org/officeDocument/2006/relationships/hyperlink" Target="https://salesforce-process-intelligence.vercel.app/#live-run" TargetMode="External"/><Relationship Id="rId5" Type="http://schemas.openxmlformats.org/officeDocument/2006/relationships/hyperlink" Target="https://github.com/ch-lukas/salesforce-process-intelligence" TargetMode="External"/><Relationship Id="rId6" Type="http://schemas.openxmlformats.org/officeDocument/2006/relationships/image" Target="../media/image-3-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large"/>
          <p:cNvSpPr/>
          <p:nvPr/>
        </p:nvSpPr>
        <p:spPr>
          <a:xfrm>
            <a:off x="8595360" y="3108960"/>
            <a:ext cx="6035040" cy="6035040"/>
          </a:xfrm>
          <a:prstGeom prst="ellipse">
            <a:avLst/>
          </a:prstGeom>
          <a:solidFill>
            <a:schemeClr val="accent1">
              <a:alpha val="30000"/>
            </a:schemeClr>
          </a:solidFill>
          <a:ln/>
        </p:spPr>
      </p:sp>
      <p:sp>
        <p:nvSpPr>
          <p:cNvPr id="3" name="Decor circle small"/>
          <p:cNvSpPr/>
          <p:nvPr/>
        </p:nvSpPr>
        <p:spPr>
          <a:xfrm>
            <a:off x="969264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Tech setup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9319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From a Salesforce org to Process Intelligence: the pipeline behind the demo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Luke Audie  · 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 setup: from a Salesforce org to an event log</a:t>
            </a:r>
            <a:endParaRPr lang="en-US" sz="3000" dirty="0"/>
          </a:p>
        </p:txBody>
      </p:sp>
      <p:sp>
        <p:nvSpPr>
          <p:cNvPr id="3" name="Org screenshot frame"/>
          <p:cNvSpPr/>
          <p:nvPr/>
        </p:nvSpPr>
        <p:spPr>
          <a:xfrm>
            <a:off x="512064" y="1243584"/>
            <a:ext cx="5148072" cy="391058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Org screenshot" descr="Salesforce trial org with seeded demo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074920" cy="3837430"/>
          </a:xfrm>
          <a:prstGeom prst="rect">
            <a:avLst/>
          </a:prstGeom>
        </p:spPr>
      </p:pic>
      <p:sp>
        <p:nvSpPr>
          <p:cNvPr id="5" name="Org caption"/>
          <p:cNvSpPr txBox="1"/>
          <p:nvPr/>
        </p:nvSpPr>
        <p:spPr>
          <a:xfrm>
            <a:off x="548640" y="5669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Salesforce trial org: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seed.py loaded 40 [Demo] accounts and opportunities to simulate a client's CRM.</a:t>
            </a:r>
            <a:endParaRPr lang="en-US" sz="1400" dirty="0"/>
          </a:p>
        </p:txBody>
      </p:sp>
      <p:sp>
        <p:nvSpPr>
          <p:cNvPr id="6" name="Code panel"/>
          <p:cNvSpPr/>
          <p:nvPr/>
        </p:nvSpPr>
        <p:spPr>
          <a:xfrm>
            <a:off x="5897880" y="1280160"/>
            <a:ext cx="5715000" cy="20574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sp>
        <p:nvSpPr>
          <p:cNvPr id="7" name="Code panel dot 1"/>
          <p:cNvSpPr/>
          <p:nvPr/>
        </p:nvSpPr>
        <p:spPr>
          <a:xfrm>
            <a:off x="6080760" y="1417320"/>
            <a:ext cx="109728" cy="109728"/>
          </a:xfrm>
          <a:prstGeom prst="ellipse">
            <a:avLst/>
          </a:prstGeom>
          <a:solidFill>
            <a:srgbClr val="FE9339"/>
          </a:solidFill>
          <a:ln/>
        </p:spPr>
      </p:sp>
      <p:sp>
        <p:nvSpPr>
          <p:cNvPr id="8" name="Code panel dot 2"/>
          <p:cNvSpPr/>
          <p:nvPr/>
        </p:nvSpPr>
        <p:spPr>
          <a:xfrm>
            <a:off x="6263640" y="1417320"/>
            <a:ext cx="109728" cy="109728"/>
          </a:xfrm>
          <a:prstGeom prst="ellipse">
            <a:avLst/>
          </a:prstGeom>
          <a:solidFill>
            <a:srgbClr val="F6C344"/>
          </a:solidFill>
          <a:ln/>
        </p:spPr>
      </p:sp>
      <p:sp>
        <p:nvSpPr>
          <p:cNvPr id="9" name="Code panel dot 3"/>
          <p:cNvSpPr/>
          <p:nvPr/>
        </p:nvSpPr>
        <p:spPr>
          <a:xfrm>
            <a:off x="6446520" y="1417320"/>
            <a:ext cx="109728" cy="109728"/>
          </a:xfrm>
          <a:prstGeom prst="ellipse">
            <a:avLst/>
          </a:prstGeom>
          <a:solidFill>
            <a:srgbClr val="2E844A"/>
          </a:solidFill>
          <a:ln/>
        </p:spPr>
      </p:sp>
      <p:sp>
        <p:nvSpPr>
          <p:cNvPr id="10" name="Code panel filename"/>
          <p:cNvSpPr txBox="1"/>
          <p:nvPr/>
        </p:nvSpPr>
        <p:spPr>
          <a:xfrm>
            <a:off x="6675120" y="1353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pipeline/extract.py · stage history</a:t>
            </a:r>
            <a:endParaRPr lang="en-US" sz="1100" dirty="0"/>
          </a:p>
        </p:txBody>
      </p:sp>
      <p:sp>
        <p:nvSpPr>
          <p:cNvPr id="11" name="SOQL code"/>
          <p:cNvSpPr txBox="1"/>
          <p:nvPr/>
        </p:nvSpPr>
        <p:spPr>
          <a:xfrm>
            <a:off x="6126480" y="17373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StageName, CreatedDate,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CreatedById, CreatedBy.Name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OpportunityHistory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9D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FE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OpportunityId, CreatedDate</a:t>
            </a:r>
            <a:endParaRPr lang="en-US" sz="1400" dirty="0"/>
          </a:p>
        </p:txBody>
      </p:sp>
      <p:graphicFrame>
        <p:nvGraphicFramePr>
          <p:cNvPr id="3" name="Object to event mapp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3520440"/>
          <a:ext cx="5715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Salesforce object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Becomes in the event log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Case: Id, Amount, IsWon, region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OpportunityHistory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Stage events: StageName, CreatedDate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Task (WhatId)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Activities: Subject, created → completed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(ConvertedOpportunityId)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Lead Created event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9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3" name="Code caption"/>
          <p:cNvSpPr txBox="1"/>
          <p:nvPr/>
        </p:nvSpPr>
        <p:spPr>
          <a:xfrm>
            <a:off x="5897880" y="5669280"/>
            <a:ext cx="5715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extract.py: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four SOQL queries over the REST API, signed by the Salesforce CLI session. Output: CSV and XES.</a:t>
            </a:r>
            <a:endParaRPr lang="en-US" sz="1400" dirty="0"/>
          </a:p>
        </p:txBody>
      </p:sp>
      <p:sp>
        <p:nvSpPr>
          <p:cNvPr id="14" name="Popup 1 box"/>
          <p:cNvSpPr/>
          <p:nvPr/>
        </p:nvSpPr>
        <p:spPr>
          <a:xfrm>
            <a:off x="2880360" y="1463040"/>
            <a:ext cx="26060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Popup 1 badge"/>
          <p:cNvSpPr/>
          <p:nvPr/>
        </p:nvSpPr>
        <p:spPr>
          <a:xfrm>
            <a:off x="2935224" y="15087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Popup 1 number"/>
          <p:cNvSpPr txBox="1"/>
          <p:nvPr/>
        </p:nvSpPr>
        <p:spPr>
          <a:xfrm>
            <a:off x="2935224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Popup 1 label"/>
          <p:cNvSpPr txBox="1"/>
          <p:nvPr/>
        </p:nvSpPr>
        <p:spPr>
          <a:xfrm>
            <a:off x="3282696" y="1463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Trial org = the client's CRM</a:t>
            </a:r>
            <a:endParaRPr lang="en-US" sz="1200" dirty="0"/>
          </a:p>
        </p:txBody>
      </p:sp>
      <p:sp>
        <p:nvSpPr>
          <p:cNvPr id="18" name="Popup 2 box"/>
          <p:cNvSpPr/>
          <p:nvPr/>
        </p:nvSpPr>
        <p:spPr>
          <a:xfrm>
            <a:off x="3017520" y="3520440"/>
            <a:ext cx="246888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Popup 2 badge"/>
          <p:cNvSpPr/>
          <p:nvPr/>
        </p:nvSpPr>
        <p:spPr>
          <a:xfrm>
            <a:off x="3072384" y="356616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Popup 2 number"/>
          <p:cNvSpPr txBox="1"/>
          <p:nvPr/>
        </p:nvSpPr>
        <p:spPr>
          <a:xfrm>
            <a:off x="30723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Popup 2 label"/>
          <p:cNvSpPr txBox="1"/>
          <p:nvPr/>
        </p:nvSpPr>
        <p:spPr>
          <a:xfrm>
            <a:off x="3419856" y="3520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seed.py: 40 [Demo] records</a:t>
            </a:r>
            <a:endParaRPr lang="en-US" sz="1200" dirty="0"/>
          </a:p>
        </p:txBody>
      </p:sp>
      <p:sp>
        <p:nvSpPr>
          <p:cNvPr id="22" name="Popup 3 box"/>
          <p:cNvSpPr/>
          <p:nvPr/>
        </p:nvSpPr>
        <p:spPr>
          <a:xfrm>
            <a:off x="9098280" y="1307592"/>
            <a:ext cx="242316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3" name="Popup 3 badge"/>
          <p:cNvSpPr/>
          <p:nvPr/>
        </p:nvSpPr>
        <p:spPr>
          <a:xfrm>
            <a:off x="9153144" y="13533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Popup 3 number"/>
          <p:cNvSpPr txBox="1"/>
          <p:nvPr/>
        </p:nvSpPr>
        <p:spPr>
          <a:xfrm>
            <a:off x="915314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Popup 3 label"/>
          <p:cNvSpPr txBox="1"/>
          <p:nvPr/>
        </p:nvSpPr>
        <p:spPr>
          <a:xfrm>
            <a:off x="9500616" y="130759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SOQL via the CLI session</a:t>
            </a:r>
            <a:endParaRPr lang="en-US" sz="1200" dirty="0"/>
          </a:p>
        </p:txBody>
      </p:sp>
      <p:sp>
        <p:nvSpPr>
          <p:cNvPr id="26" name="Popup 4 box"/>
          <p:cNvSpPr/>
          <p:nvPr/>
        </p:nvSpPr>
        <p:spPr>
          <a:xfrm>
            <a:off x="9372600" y="3136392"/>
            <a:ext cx="2148840" cy="36576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7" name="Popup 4 badge"/>
          <p:cNvSpPr/>
          <p:nvPr/>
        </p:nvSpPr>
        <p:spPr>
          <a:xfrm>
            <a:off x="9427464" y="3182112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Popup 4 number"/>
          <p:cNvSpPr txBox="1"/>
          <p:nvPr/>
        </p:nvSpPr>
        <p:spPr>
          <a:xfrm>
            <a:off x="9427464" y="3182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Popup 4 label"/>
          <p:cNvSpPr txBox="1"/>
          <p:nvPr/>
        </p:nvSpPr>
        <p:spPr>
          <a:xfrm>
            <a:off x="9774936" y="313639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Objects → events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Hosted demo, live extraction proof and source code</a:t>
            </a:r>
            <a:endParaRPr lang="en-US" sz="3000" dirty="0"/>
          </a:p>
        </p:txBody>
      </p:sp>
      <p:sp>
        <p:nvSpPr>
          <p:cNvPr id="3" name="Proof 1"/>
          <p:cNvSpPr/>
          <p:nvPr/>
        </p:nvSpPr>
        <p:spPr>
          <a:xfrm>
            <a:off x="548640" y="13716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Proof 1 marker"/>
          <p:cNvSpPr/>
          <p:nvPr/>
        </p:nvSpPr>
        <p:spPr>
          <a:xfrm>
            <a:off x="749808" y="1554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Proof 1 glyph"/>
          <p:cNvSpPr txBox="1"/>
          <p:nvPr/>
        </p:nvSpPr>
        <p:spPr>
          <a:xfrm>
            <a:off x="749808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6" name="Proof 1 label"/>
          <p:cNvSpPr txBox="1"/>
          <p:nvPr/>
        </p:nvSpPr>
        <p:spPr>
          <a:xfrm>
            <a:off x="1325880" y="14447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Overview: value items and business case</a:t>
            </a:r>
            <a:endParaRPr lang="en-US" sz="1600" dirty="0"/>
          </a:p>
        </p:txBody>
      </p:sp>
      <p:sp>
        <p:nvSpPr>
          <p:cNvPr id="7" name="Proof 1 link"/>
          <p:cNvSpPr txBox="1"/>
          <p:nvPr/>
        </p:nvSpPr>
        <p:spPr>
          <a:xfrm>
            <a:off x="1325880" y="17922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</a:t>
            </a:r>
            <a:endParaRPr lang="en-US" sz="1400" dirty="0"/>
          </a:p>
        </p:txBody>
      </p:sp>
      <p:sp>
        <p:nvSpPr>
          <p:cNvPr id="8" name="Proof 2"/>
          <p:cNvSpPr/>
          <p:nvPr/>
        </p:nvSpPr>
        <p:spPr>
          <a:xfrm>
            <a:off x="548640" y="22860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9" name="Proof 2 marker"/>
          <p:cNvSpPr/>
          <p:nvPr/>
        </p:nvSpPr>
        <p:spPr>
          <a:xfrm>
            <a:off x="749808" y="24688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roof 2 glyph"/>
          <p:cNvSpPr txBox="1"/>
          <p:nvPr/>
        </p:nvSpPr>
        <p:spPr>
          <a:xfrm>
            <a:off x="749808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Proof 2 label"/>
          <p:cNvSpPr txBox="1"/>
          <p:nvPr/>
        </p:nvSpPr>
        <p:spPr>
          <a:xfrm>
            <a:off x="1325880" y="23591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Process analysis</a:t>
            </a:r>
            <a:endParaRPr lang="en-US" sz="1600" dirty="0"/>
          </a:p>
        </p:txBody>
      </p:sp>
      <p:sp>
        <p:nvSpPr>
          <p:cNvPr id="12" name="Proof 2 link"/>
          <p:cNvSpPr txBox="1"/>
          <p:nvPr/>
        </p:nvSpPr>
        <p:spPr>
          <a:xfrm>
            <a:off x="1325880" y="27066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salesforce-process-intelligence.vercel.app/dashboard.html</a:t>
            </a:r>
            <a:endParaRPr lang="en-US" sz="1400" dirty="0"/>
          </a:p>
        </p:txBody>
      </p:sp>
      <p:sp>
        <p:nvSpPr>
          <p:cNvPr id="13" name="Proof 3"/>
          <p:cNvSpPr/>
          <p:nvPr/>
        </p:nvSpPr>
        <p:spPr>
          <a:xfrm>
            <a:off x="548640" y="32004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4" name="Proof 3 marker"/>
          <p:cNvSpPr/>
          <p:nvPr/>
        </p:nvSpPr>
        <p:spPr>
          <a:xfrm>
            <a:off x="749808" y="33832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roof 3 glyph"/>
          <p:cNvSpPr txBox="1"/>
          <p:nvPr/>
        </p:nvSpPr>
        <p:spPr>
          <a:xfrm>
            <a:off x="749808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Proof 3 label"/>
          <p:cNvSpPr txBox="1"/>
          <p:nvPr/>
        </p:nvSpPr>
        <p:spPr>
          <a:xfrm>
            <a:off x="1325880" y="32735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Business case (re-quotes)</a:t>
            </a:r>
            <a:endParaRPr lang="en-US" sz="1600" dirty="0"/>
          </a:p>
        </p:txBody>
      </p:sp>
      <p:sp>
        <p:nvSpPr>
          <p:cNvPr id="17" name="Proof 3 link"/>
          <p:cNvSpPr txBox="1"/>
          <p:nvPr/>
        </p:nvSpPr>
        <p:spPr>
          <a:xfrm>
            <a:off x="1325880" y="36210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salesforce-process-intelligence.vercel.app/#business-case</a:t>
            </a:r>
            <a:endParaRPr lang="en-US" sz="1400" dirty="0"/>
          </a:p>
        </p:txBody>
      </p:sp>
      <p:sp>
        <p:nvSpPr>
          <p:cNvPr id="18" name="Proof 4"/>
          <p:cNvSpPr/>
          <p:nvPr/>
        </p:nvSpPr>
        <p:spPr>
          <a:xfrm>
            <a:off x="548640" y="41148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9" name="Proof 4 marker"/>
          <p:cNvSpPr/>
          <p:nvPr/>
        </p:nvSpPr>
        <p:spPr>
          <a:xfrm>
            <a:off x="749808" y="4297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roof 4 glyph"/>
          <p:cNvSpPr txBox="1"/>
          <p:nvPr/>
        </p:nvSpPr>
        <p:spPr>
          <a:xfrm>
            <a:off x="749808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Proof 4 label"/>
          <p:cNvSpPr txBox="1"/>
          <p:nvPr/>
        </p:nvSpPr>
        <p:spPr>
          <a:xfrm>
            <a:off x="1325880" y="41879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Live Salesforce run and downloads</a:t>
            </a:r>
            <a:endParaRPr lang="en-US" sz="1600" dirty="0"/>
          </a:p>
        </p:txBody>
      </p:sp>
      <p:sp>
        <p:nvSpPr>
          <p:cNvPr id="22" name="Proof 4 link"/>
          <p:cNvSpPr txBox="1"/>
          <p:nvPr/>
        </p:nvSpPr>
        <p:spPr>
          <a:xfrm>
            <a:off x="1325880" y="45354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salesforce-process-intelligence.vercel.app/#live-run</a:t>
            </a:r>
            <a:endParaRPr lang="en-US" sz="1400" dirty="0"/>
          </a:p>
        </p:txBody>
      </p:sp>
      <p:sp>
        <p:nvSpPr>
          <p:cNvPr id="23" name="Proof 5"/>
          <p:cNvSpPr/>
          <p:nvPr/>
        </p:nvSpPr>
        <p:spPr>
          <a:xfrm>
            <a:off x="548640" y="5029200"/>
            <a:ext cx="60350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4" name="Proof 5 marker"/>
          <p:cNvSpPr/>
          <p:nvPr/>
        </p:nvSpPr>
        <p:spPr>
          <a:xfrm>
            <a:off x="749808" y="52120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roof 5 glyph"/>
          <p:cNvSpPr txBox="1"/>
          <p:nvPr/>
        </p:nvSpPr>
        <p:spPr>
          <a:xfrm>
            <a:off x="749808" y="5212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Proof 5 label"/>
          <p:cNvSpPr txBox="1"/>
          <p:nvPr/>
        </p:nvSpPr>
        <p:spPr>
          <a:xfrm>
            <a:off x="1325880" y="510235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Source code and event logs</a:t>
            </a:r>
            <a:endParaRPr lang="en-US" sz="1600" dirty="0"/>
          </a:p>
        </p:txBody>
      </p:sp>
      <p:sp>
        <p:nvSpPr>
          <p:cNvPr id="27" name="Proof 5 link"/>
          <p:cNvSpPr txBox="1"/>
          <p:nvPr/>
        </p:nvSpPr>
        <p:spPr>
          <a:xfrm>
            <a:off x="1325880" y="544982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6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github.com/ch-lukas/salesforce-process-intelligence</a:t>
            </a:r>
            <a:endParaRPr lang="en-US" sz="1400" dirty="0"/>
          </a:p>
        </p:txBody>
      </p:sp>
      <p:sp>
        <p:nvSpPr>
          <p:cNvPr id="28" name="Screenshot frame"/>
          <p:cNvSpPr/>
          <p:nvPr/>
        </p:nvSpPr>
        <p:spPr>
          <a:xfrm>
            <a:off x="6903720" y="1371600"/>
            <a:ext cx="4802925" cy="4434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9" name="Value case screenshot" descr="Value case one-pager on the hosted si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1417320"/>
            <a:ext cx="4711485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lesforce Handbook">
  <a:themeElements>
    <a:clrScheme name="Salesforce Handbook">
      <a:dk1>
        <a:srgbClr val="181818"/>
      </a:dk1>
      <a:lt1>
        <a:srgbClr val="FFFFFF"/>
      </a:lt1>
      <a:dk2>
        <a:srgbClr val="032D60"/>
      </a:dk2>
      <a:lt2>
        <a:srgbClr val="EAF5FE"/>
      </a:lt2>
      <a:accent1>
        <a:srgbClr val="0B9DE0"/>
      </a:accent1>
      <a:accent2>
        <a:srgbClr val="4499D8"/>
      </a:accent2>
      <a:accent3>
        <a:srgbClr val="CFE9FE"/>
      </a:accent3>
      <a:accent4>
        <a:srgbClr val="FE9339"/>
      </a:accent4>
      <a:accent5>
        <a:srgbClr val="2E844A"/>
      </a:accent5>
      <a:accent6>
        <a:srgbClr val="0B5CAB"/>
      </a:accent6>
      <a:hlink>
        <a:srgbClr val="0B5CAB"/>
      </a:hlink>
      <a:folHlink>
        <a:srgbClr val="032D60"/>
      </a:folHlink>
    </a:clrScheme>
    <a:fontScheme name="Salesforce Handboo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setup: from a Salesforce org to Process Intelligence</dc:title>
  <dc:subject>PptxGenJS Presentation</dc:subject>
  <dc:creator>Luke Audie</dc:creator>
  <cp:lastModifiedBy>Luke Audie</cp:lastModifiedBy>
  <cp:revision>1</cp:revision>
  <dcterms:created xsi:type="dcterms:W3CDTF">2026-10-14T20:00:30Z</dcterms:created>
  <dcterms:modified xsi:type="dcterms:W3CDTF">2026-10-14T20:00:30Z</dcterms:modified>
</cp:coreProperties>
</file>